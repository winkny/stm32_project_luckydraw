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6" r:id="rId11"/>
    <p:sldId id="268" r:id="rId12"/>
    <p:sldId id="264" r:id="rId13"/>
    <p:sldId id="267" r:id="rId14"/>
    <p:sldId id="269" r:id="rId15"/>
    <p:sldId id="271" r:id="rId16"/>
    <p:sldId id="270" r:id="rId17"/>
    <p:sldId id="272" r:id="rId18"/>
    <p:sldId id="273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86" autoAdjust="0"/>
  </p:normalViewPr>
  <p:slideViewPr>
    <p:cSldViewPr snapToGrid="0">
      <p:cViewPr varScale="1">
        <p:scale>
          <a:sx n="80" d="100"/>
          <a:sy n="80" d="100"/>
        </p:scale>
        <p:origin x="15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D10F3-1DA6-46BC-B91B-9E864D3AD653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E4750-CFE9-4949-932F-4CE109630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50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E4750-CFE9-4949-932F-4CE10963015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834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4213"/>
            <a:ext cx="4570413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703C07-FDDA-44F0-92EA-E0EB8664958E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717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4213"/>
            <a:ext cx="4570413" cy="3429000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 smtClean="0">
                <a:latin typeface="Arial" charset="0"/>
              </a:rPr>
              <a:t>它包括输入输出寄存器、ESD静电保护二极管，和输入输出控制电路与驱动器。请注意图中左边红色圆圈圈起的地方，这是保护二极管的上拉电位，对于具有模拟输入的管脚，这里上拉到内部的3.3V电位，所以具有模拟输入的管脚不是5V容忍管脚；而其它的5V容忍管脚，这个保护二极管上拉到一个内部的5V电位，从而保证外部电路的5V信号不会受此保护二极管的影响。</a:t>
            </a:r>
          </a:p>
          <a:p>
            <a:endParaRPr lang="zh-CN" altLang="en-US" smtClean="0">
              <a:latin typeface="Arial" charset="0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/>
            <a:fld id="{E8B0B5EF-D9E0-4FC0-9CAE-677AA9DE2006}" type="slidenum">
              <a:rPr lang="zh-CN" altLang="en-US" smtClean="0"/>
              <a:pPr eaLnBrk="0" hangingPunct="0"/>
              <a:t>7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88284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4213"/>
            <a:ext cx="4570413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703C07-FDDA-44F0-92EA-E0EB8664958E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5178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4213"/>
            <a:ext cx="4570413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703C07-FDDA-44F0-92EA-E0EB8664958E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55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925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451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134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2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584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127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054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94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077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9434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484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60D25-DAFE-43AB-B6A9-7B7CC89ED89D}" type="datetimeFigureOut">
              <a:rPr lang="zh-CN" altLang="en-US" smtClean="0"/>
              <a:t>2022/9/20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77625-7015-4E98-A1F0-89C656A37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88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1015" y="1122363"/>
            <a:ext cx="8686800" cy="2387600"/>
          </a:xfrm>
        </p:spPr>
        <p:txBody>
          <a:bodyPr/>
          <a:lstStyle/>
          <a:p>
            <a:r>
              <a:rPr lang="zh-CN" altLang="en-US" dirty="0"/>
              <a:t>按键输入与蜂鸣器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 smtClean="0"/>
              <a:t>王  萌</a:t>
            </a:r>
            <a:endParaRPr lang="en-US" altLang="zh-CN" dirty="0" smtClean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31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"/>
    </mc:Choice>
    <mc:Fallback xmlns="">
      <p:transition spd="slow" advTm="89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2"/>
          <p:cNvSpPr>
            <a:spLocks noChangeArrowheads="1"/>
          </p:cNvSpPr>
          <p:nvPr/>
        </p:nvSpPr>
        <p:spPr bwMode="auto">
          <a:xfrm>
            <a:off x="2322513" y="3154363"/>
            <a:ext cx="5584825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200" b="1">
                <a:solidFill>
                  <a:schemeClr val="bg1"/>
                </a:solidFill>
                <a:latin typeface="Verdana" pitchFamily="34" charset="0"/>
                <a:ea typeface="Gulim" pitchFamily="34" charset="-127"/>
              </a:rPr>
              <a:t>二传输网络介绍</a:t>
            </a:r>
          </a:p>
        </p:txBody>
      </p:sp>
      <p:sp>
        <p:nvSpPr>
          <p:cNvPr id="5125" name="内容占位符 2"/>
          <p:cNvSpPr>
            <a:spLocks/>
          </p:cNvSpPr>
          <p:nvPr/>
        </p:nvSpPr>
        <p:spPr bwMode="auto">
          <a:xfrm>
            <a:off x="554038" y="1487483"/>
            <a:ext cx="8032750" cy="430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zh-CN" sz="2400" dirty="0" smtClean="0"/>
              <a:t>GPIO</a:t>
            </a:r>
            <a:r>
              <a:rPr lang="zh-CN" altLang="en-US" sz="2400" dirty="0"/>
              <a:t>输入库函数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zh-CN" sz="2400" dirty="0" smtClean="0"/>
              <a:t>GPIO</a:t>
            </a:r>
            <a:r>
              <a:rPr lang="zh-CN" altLang="en-US" sz="2400" dirty="0"/>
              <a:t>输入控制方式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/>
              <a:t>蜂鸣器</a:t>
            </a:r>
            <a:r>
              <a:rPr lang="zh-CN" altLang="en-US" sz="2400" dirty="0"/>
              <a:t>工作原理及硬件电路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/>
              <a:t>按键</a:t>
            </a:r>
            <a:r>
              <a:rPr lang="zh-CN" altLang="en-US" sz="2400" dirty="0"/>
              <a:t>输入控制蜂鸣器</a:t>
            </a:r>
            <a:r>
              <a:rPr lang="zh-CN" altLang="en-US" sz="2400" dirty="0" smtClean="0"/>
              <a:t>发声项目</a:t>
            </a:r>
            <a:endParaRPr lang="zh-CN" altLang="en-US" sz="2400" dirty="0"/>
          </a:p>
          <a:p>
            <a:pPr>
              <a:lnSpc>
                <a:spcPct val="200000"/>
              </a:lnSpc>
            </a:pP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603477" y="541547"/>
            <a:ext cx="2967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33CC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本章</a:t>
            </a:r>
            <a:r>
              <a:rPr lang="zh-CN" alt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33CC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概要</a:t>
            </a:r>
            <a:endParaRPr lang="zh-CN" alt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33CC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314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606" y="506327"/>
            <a:ext cx="5669005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  <a:latin typeface="Arial" charset="0"/>
              </a:rPr>
              <a:t> </a:t>
            </a:r>
            <a:r>
              <a:rPr lang="en-US" altLang="zh-CN" sz="36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  <a:latin typeface="Arial" charset="0"/>
              </a:rPr>
              <a:t>GPIO</a:t>
            </a:r>
            <a:r>
              <a:rPr lang="zh-CN" altLang="en-US" sz="3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  <a:latin typeface="Arial" charset="0"/>
              </a:rPr>
              <a:t>输入库函数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223802" y="1130429"/>
            <a:ext cx="74687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</a:t>
            </a:r>
            <a:r>
              <a:rPr lang="en-US" altLang="zh-CN" sz="3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GPIO_ReadInputDataBit</a:t>
            </a:r>
            <a:endParaRPr lang="zh-CN" alt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653143" y="1828796"/>
          <a:ext cx="7837714" cy="395950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6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GPIO_ReadInputDataBit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函数原形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U8GPIO_ReadInputDataBit(</a:t>
                      </a:r>
                      <a:r>
                        <a:rPr lang="en-US" sz="1800" kern="100" dirty="0" err="1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GPIO_TypeDef</a:t>
                      </a:r>
                      <a:r>
                        <a:rPr lang="en-US" sz="1800" kern="100" dirty="0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*GPIOx,u16 </a:t>
                      </a:r>
                      <a:r>
                        <a:rPr lang="en-US" sz="1800" kern="100" dirty="0" err="1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功能描述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读取指定端口管脚的输入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输入参数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GPIOx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可以是 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 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或者 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，来选择 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 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外设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6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输入参数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：待读取的端口位参阅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Section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查阅更多该参数允许取值范围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输出参数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输入端口管脚值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先决条件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被调用函数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73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9288" y="491813"/>
            <a:ext cx="74687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</a:t>
            </a:r>
            <a:r>
              <a:rPr lang="en-US" altLang="zh-CN" sz="3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GPIO_ReadInputData</a:t>
            </a:r>
            <a:endParaRPr lang="zh-CN" alt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580570" y="1291771"/>
          <a:ext cx="7736115" cy="364308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93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46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GPIO_ReadInputData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9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函数原形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u16 GPIO_ReadInputData(GPIO_TypeDef*  GPIOx)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功能描述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读取指定的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端口输入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4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GPIOx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可以是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或者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，来选择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外设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0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输出参数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5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输入数据端口值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先决条件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被调用函数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37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9288" y="491813"/>
            <a:ext cx="74687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</a:t>
            </a:r>
            <a:r>
              <a:rPr lang="en-US" altLang="zh-CN" sz="3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GPIO_ReadOutputDataBit</a:t>
            </a:r>
            <a:endParaRPr lang="zh-CN" alt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397970" y="1233715"/>
          <a:ext cx="8005798" cy="391885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3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GPIO_ReadOutputDataBit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函数原形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u8 </a:t>
                      </a:r>
                      <a:r>
                        <a:rPr lang="en-US" sz="1800" kern="100" dirty="0" err="1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GPIO_ReadOutputDataBit</a:t>
                      </a:r>
                      <a:r>
                        <a:rPr lang="en-US" sz="1800" kern="100" dirty="0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lang="en-US" sz="1800" kern="100" dirty="0" err="1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GPIO_TypeDef</a:t>
                      </a:r>
                      <a:r>
                        <a:rPr lang="en-US" sz="1800" kern="100" dirty="0" smtClean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*GPIOx,u16 </a:t>
                      </a:r>
                      <a:r>
                        <a:rPr lang="en-US" sz="1800" kern="100" dirty="0" err="1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功能描述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读取指定端口管脚的输出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输入参数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GPIOx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可以是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或者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，来选择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</a:t>
                      </a: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外设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输入参数</a:t>
                      </a:r>
                      <a:r>
                        <a:rPr lang="en-US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：待读取的端口位参阅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Section</a:t>
                      </a: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r>
                        <a:rPr lang="en-US" sz="1800" kern="100" dirty="0" err="1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GPIO_Pin</a:t>
                      </a: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查阅更多该参数允许取值范围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输出参数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输出端口管脚值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先决条件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被调用函数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46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9288" y="491813"/>
            <a:ext cx="74687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</a:t>
            </a:r>
            <a:r>
              <a:rPr lang="en-US" altLang="zh-CN" sz="30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GPIO_ReadOutputData</a:t>
            </a:r>
            <a:endParaRPr lang="zh-CN" alt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464457" y="1233715"/>
          <a:ext cx="8026400" cy="399143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33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函数名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GPIO_ReadOutputData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函数原形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u16 GPIO_ReadOutputData(GPIO_Type Def* GPIOx)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功能描述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读取指定的</a:t>
                      </a:r>
                      <a:r>
                        <a:rPr lang="en-US" sz="1800" kern="100">
                          <a:effectLst/>
                        </a:rPr>
                        <a:t>GPIO</a:t>
                      </a:r>
                      <a:r>
                        <a:rPr lang="zh-CN" sz="1800" kern="100">
                          <a:effectLst/>
                        </a:rPr>
                        <a:t>端口输出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输入参数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GPIOx</a:t>
                      </a:r>
                      <a:r>
                        <a:rPr lang="zh-CN" sz="1800" kern="100">
                          <a:effectLst/>
                        </a:rPr>
                        <a:t>：</a:t>
                      </a:r>
                      <a:r>
                        <a:rPr lang="en-US" sz="1800" kern="100">
                          <a:effectLst/>
                        </a:rPr>
                        <a:t>x</a:t>
                      </a:r>
                      <a:r>
                        <a:rPr lang="zh-CN" sz="1800" kern="100">
                          <a:effectLst/>
                        </a:rPr>
                        <a:t>可以是</a:t>
                      </a:r>
                      <a:r>
                        <a:rPr lang="en-US" sz="1800" kern="100">
                          <a:effectLst/>
                        </a:rPr>
                        <a:t>A</a:t>
                      </a:r>
                      <a:r>
                        <a:rPr lang="zh-CN" sz="1800" kern="100">
                          <a:effectLst/>
                        </a:rPr>
                        <a:t>，</a:t>
                      </a:r>
                      <a:r>
                        <a:rPr lang="en-US" sz="1800" kern="100">
                          <a:effectLst/>
                        </a:rPr>
                        <a:t>B</a:t>
                      </a:r>
                      <a:r>
                        <a:rPr lang="zh-CN" sz="1800" kern="100">
                          <a:effectLst/>
                        </a:rPr>
                        <a:t>，</a:t>
                      </a:r>
                      <a:r>
                        <a:rPr lang="en-US" sz="1800" kern="100">
                          <a:effectLst/>
                        </a:rPr>
                        <a:t>C</a:t>
                      </a:r>
                      <a:r>
                        <a:rPr lang="zh-CN" sz="1800" kern="100">
                          <a:effectLst/>
                        </a:rPr>
                        <a:t>，</a:t>
                      </a:r>
                      <a:r>
                        <a:rPr lang="en-US" sz="1800" kern="100">
                          <a:effectLst/>
                        </a:rPr>
                        <a:t>D</a:t>
                      </a:r>
                      <a:r>
                        <a:rPr lang="zh-CN" sz="1800" kern="100">
                          <a:effectLst/>
                        </a:rPr>
                        <a:t>或者</a:t>
                      </a:r>
                      <a:r>
                        <a:rPr lang="en-US" sz="1800" kern="100">
                          <a:effectLst/>
                        </a:rPr>
                        <a:t>E</a:t>
                      </a:r>
                      <a:r>
                        <a:rPr lang="zh-CN" sz="1800" kern="100">
                          <a:effectLst/>
                        </a:rPr>
                        <a:t>，来选择</a:t>
                      </a:r>
                      <a:r>
                        <a:rPr lang="en-US" sz="1800" kern="100">
                          <a:effectLst/>
                        </a:rPr>
                        <a:t>GPIO</a:t>
                      </a:r>
                      <a:r>
                        <a:rPr lang="zh-CN" sz="1800" kern="100">
                          <a:effectLst/>
                        </a:rPr>
                        <a:t>外设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输出参数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无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返回值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GPIO</a:t>
                      </a:r>
                      <a:r>
                        <a:rPr lang="zh-CN" sz="1800" kern="100" dirty="0">
                          <a:effectLst/>
                        </a:rPr>
                        <a:t>输出数据端口值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先决条件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无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9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被调用函数</a:t>
                      </a:r>
                      <a:endParaRPr lang="zh-CN" sz="1800" kern="10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无</a:t>
                      </a:r>
                      <a:endParaRPr lang="zh-CN" sz="1800" kern="100" dirty="0"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3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CN" smtClean="0">
                <a:ea typeface="黑体" pitchFamily="49" charset="-122"/>
              </a:rPr>
              <a:t>	</a:t>
            </a:r>
            <a:endParaRPr lang="zh-CN" altLang="en-US" smtClean="0">
              <a:ea typeface="黑体" pitchFamily="49" charset="-122"/>
            </a:endParaRPr>
          </a:p>
        </p:txBody>
      </p:sp>
      <p:pic>
        <p:nvPicPr>
          <p:cNvPr id="8195" name="Picture 3"/>
          <p:cNvPicPr>
            <a:picLocks noRot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392238"/>
            <a:ext cx="85407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51232" y="564383"/>
            <a:ext cx="5669005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</a:rPr>
              <a:t>GPIO</a:t>
            </a:r>
            <a:r>
              <a:rPr lang="zh-CN" altLang="en-US" sz="3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</a:rPr>
              <a:t>内部结构</a:t>
            </a:r>
          </a:p>
        </p:txBody>
      </p:sp>
    </p:spTree>
    <p:extLst>
      <p:ext uri="{BB962C8B-B14F-4D97-AF65-F5344CB8AC3E}">
        <p14:creationId xmlns:p14="http://schemas.microsoft.com/office/powerpoint/2010/main" val="271333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2664" y="4937356"/>
            <a:ext cx="3299735" cy="92333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dirty="0">
                <a:latin typeface="宋体" pitchFamily="2" charset="-122"/>
                <a:ea typeface="宋体" pitchFamily="2" charset="-122"/>
              </a:rPr>
              <a:t>按键电路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，开发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板共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设置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个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按键，用于向系统输入简单控制信息。</a:t>
            </a:r>
          </a:p>
        </p:txBody>
      </p:sp>
      <p:sp>
        <p:nvSpPr>
          <p:cNvPr id="5" name="矩形 4"/>
          <p:cNvSpPr/>
          <p:nvPr/>
        </p:nvSpPr>
        <p:spPr>
          <a:xfrm>
            <a:off x="4689480" y="4956436"/>
            <a:ext cx="3801377" cy="92333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457200"/>
            <a:r>
              <a:rPr lang="zh-CN" altLang="en-US" dirty="0">
                <a:latin typeface="宋体" pitchFamily="2" charset="-122"/>
                <a:ea typeface="宋体" pitchFamily="2" charset="-122"/>
              </a:rPr>
              <a:t>蜂鸣器控制电路，蜂鸣器是单片机系统常用的声音输出器件，常用于报警信号输出。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6" y="1681895"/>
            <a:ext cx="4248150" cy="2924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7" y="1549735"/>
            <a:ext cx="3871742" cy="31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4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：外部中断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52400" y="1938338"/>
            <a:ext cx="8839200" cy="4214812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想要实现的功能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按下</a:t>
            </a:r>
            <a:r>
              <a:rPr lang="en-US" altLang="zh-CN" sz="2800" dirty="0" err="1" smtClean="0"/>
              <a:t>KEY0</a:t>
            </a:r>
            <a:r>
              <a:rPr lang="zh-CN" altLang="en-US" sz="2800" dirty="0" smtClean="0"/>
              <a:t>，同时切换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个</a:t>
            </a:r>
            <a:r>
              <a:rPr lang="en-US" altLang="zh-CN" sz="2800" dirty="0" smtClean="0"/>
              <a:t>LED</a:t>
            </a:r>
            <a:r>
              <a:rPr lang="zh-CN" altLang="en-US" sz="2800" dirty="0" smtClean="0"/>
              <a:t>灯的状态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按下</a:t>
            </a:r>
            <a:r>
              <a:rPr lang="en-US" altLang="zh-CN" sz="2800" dirty="0" err="1" smtClean="0"/>
              <a:t>KEY1</a:t>
            </a:r>
            <a:r>
              <a:rPr lang="zh-CN" altLang="en-US" sz="2800" dirty="0" smtClean="0"/>
              <a:t>，只切换一个</a:t>
            </a:r>
            <a:r>
              <a:rPr lang="en-US" altLang="zh-CN" sz="2800" dirty="0" smtClean="0"/>
              <a:t>LED</a:t>
            </a:r>
            <a:r>
              <a:rPr lang="zh-CN" altLang="en-US" sz="2800" dirty="0" smtClean="0"/>
              <a:t>灯的状态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按下</a:t>
            </a:r>
            <a:r>
              <a:rPr lang="en-US" altLang="zh-CN" sz="2800" dirty="0" err="1" smtClean="0"/>
              <a:t>KEY_UP</a:t>
            </a:r>
            <a:r>
              <a:rPr lang="zh-CN" altLang="en-US" sz="2800" dirty="0" smtClean="0"/>
              <a:t>，切换蜂鸣器状态</a:t>
            </a:r>
          </a:p>
        </p:txBody>
      </p:sp>
    </p:spTree>
    <p:extLst>
      <p:ext uri="{BB962C8B-B14F-4D97-AF65-F5344CB8AC3E}">
        <p14:creationId xmlns:p14="http://schemas.microsoft.com/office/powerpoint/2010/main" val="111724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：外部中断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52400" y="1938338"/>
            <a:ext cx="8839200" cy="536286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按</a:t>
            </a:r>
            <a:r>
              <a:rPr lang="en-US" altLang="zh-CN" sz="3200" dirty="0" err="1" smtClean="0"/>
              <a:t>KEY0</a:t>
            </a:r>
            <a:r>
              <a:rPr lang="zh-CN" altLang="en-US" sz="3200" dirty="0" smtClean="0"/>
              <a:t>时，</a:t>
            </a:r>
            <a:r>
              <a:rPr lang="en-US" altLang="zh-CN" sz="3200" dirty="0" err="1" smtClean="0"/>
              <a:t>PE4</a:t>
            </a:r>
            <a:r>
              <a:rPr lang="zh-CN" altLang="en-US" sz="3200" dirty="0" smtClean="0"/>
              <a:t>上的电压变化情况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70666"/>
            <a:ext cx="2552700" cy="1757127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238250" y="2847975"/>
            <a:ext cx="6667500" cy="762000"/>
            <a:chOff x="1333500" y="2838450"/>
            <a:chExt cx="6667500" cy="762000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086225" y="3600450"/>
              <a:ext cx="838200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flipV="1">
              <a:off x="4086225" y="2847975"/>
              <a:ext cx="0" cy="752475"/>
            </a:xfrm>
            <a:prstGeom prst="line">
              <a:avLst/>
            </a:prstGeom>
            <a:ln w="57150">
              <a:head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333500" y="2838450"/>
              <a:ext cx="2752725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4914900" y="2847975"/>
              <a:ext cx="0" cy="752475"/>
            </a:xfrm>
            <a:prstGeom prst="line">
              <a:avLst/>
            </a:prstGeom>
            <a:ln w="57150"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924425" y="2857500"/>
              <a:ext cx="3076575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>
            <a:off x="550441" y="2586365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1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50440" y="3348365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0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238250" y="3609975"/>
            <a:ext cx="6800850" cy="0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1238250" y="2476500"/>
            <a:ext cx="0" cy="1133475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590865" y="36007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按下</a:t>
            </a:r>
            <a:endParaRPr lang="zh-CN" altLang="en-US" sz="2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4429065" y="24072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抬起</a:t>
            </a:r>
            <a:endParaRPr lang="zh-CN" altLang="en-US" sz="2400" dirty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190500" y="4071640"/>
            <a:ext cx="8839200" cy="53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/>
              <a:t>按</a:t>
            </a:r>
            <a:r>
              <a:rPr lang="en-US" altLang="zh-CN" sz="3200" dirty="0" err="1" smtClean="0"/>
              <a:t>KEY_UP</a:t>
            </a:r>
            <a:r>
              <a:rPr lang="zh-CN" altLang="en-US" sz="3200" dirty="0" smtClean="0"/>
              <a:t>时，</a:t>
            </a:r>
            <a:r>
              <a:rPr lang="en-US" altLang="zh-CN" sz="3200" dirty="0" err="1" smtClean="0"/>
              <a:t>PA0</a:t>
            </a:r>
            <a:r>
              <a:rPr lang="zh-CN" altLang="en-US" sz="3200" dirty="0" smtClean="0"/>
              <a:t>上的电压变化情况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</p:txBody>
      </p:sp>
      <p:cxnSp>
        <p:nvCxnSpPr>
          <p:cNvPr id="27" name="直接连接符 26"/>
          <p:cNvCxnSpPr/>
          <p:nvPr/>
        </p:nvCxnSpPr>
        <p:spPr>
          <a:xfrm>
            <a:off x="3971984" y="5016687"/>
            <a:ext cx="83820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810184" y="5002399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238250" y="5712309"/>
            <a:ext cx="275272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3990975" y="4980378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810184" y="5701290"/>
            <a:ext cx="30765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50441" y="4718471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1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sp>
        <p:nvSpPr>
          <p:cNvPr id="33" name="文本框 32"/>
          <p:cNvSpPr txBox="1"/>
          <p:nvPr/>
        </p:nvSpPr>
        <p:spPr>
          <a:xfrm>
            <a:off x="550440" y="5480471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0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238250" y="5754874"/>
            <a:ext cx="6800850" cy="0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1238250" y="4608606"/>
            <a:ext cx="0" cy="1133475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571873" y="454073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按下</a:t>
            </a:r>
            <a:endParaRPr lang="zh-CN" altLang="en-US" sz="2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429065" y="579042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抬起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220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204" y="419243"/>
            <a:ext cx="8470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  <a:latin typeface="Arial" charset="0"/>
              </a:rPr>
              <a:t>EXTI</a:t>
            </a:r>
            <a:r>
              <a:rPr lang="zh-CN" altLang="en-US" sz="3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66FF33"/>
                </a:solidFill>
                <a:latin typeface="Arial" charset="0"/>
              </a:rPr>
              <a:t>项目实例</a:t>
            </a:r>
          </a:p>
        </p:txBody>
      </p:sp>
      <p:sp>
        <p:nvSpPr>
          <p:cNvPr id="4" name="矩形 3"/>
          <p:cNvSpPr/>
          <p:nvPr/>
        </p:nvSpPr>
        <p:spPr>
          <a:xfrm>
            <a:off x="310889" y="995628"/>
            <a:ext cx="74687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项目分析</a:t>
            </a:r>
            <a:endParaRPr lang="zh-CN" alt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5314" y="1349830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建立中断向量表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9" name="直接箭头连接符 8"/>
          <p:cNvCxnSpPr>
            <a:stCxn id="7" idx="2"/>
          </p:cNvCxnSpPr>
          <p:nvPr/>
        </p:nvCxnSpPr>
        <p:spPr bwMode="auto">
          <a:xfrm>
            <a:off x="4589992" y="1719162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0" name="TextBox 9"/>
          <p:cNvSpPr txBox="1"/>
          <p:nvPr/>
        </p:nvSpPr>
        <p:spPr>
          <a:xfrm>
            <a:off x="3259828" y="2119086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分配栈空间并初始化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4582738" y="2495664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2" name="TextBox 11"/>
          <p:cNvSpPr txBox="1"/>
          <p:nvPr/>
        </p:nvSpPr>
        <p:spPr>
          <a:xfrm>
            <a:off x="3281602" y="2895588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初始化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4589998" y="3272166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4" name="TextBox 13"/>
          <p:cNvSpPr txBox="1"/>
          <p:nvPr/>
        </p:nvSpPr>
        <p:spPr>
          <a:xfrm>
            <a:off x="3259834" y="3657563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中断线管脚映射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>
            <a:off x="4582738" y="4026895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8" name="TextBox 17"/>
          <p:cNvSpPr txBox="1"/>
          <p:nvPr/>
        </p:nvSpPr>
        <p:spPr>
          <a:xfrm>
            <a:off x="3281602" y="4434039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中断初始化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4573378" y="4803371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20" name="TextBox 19"/>
          <p:cNvSpPr txBox="1"/>
          <p:nvPr/>
        </p:nvSpPr>
        <p:spPr>
          <a:xfrm>
            <a:off x="3272242" y="5214651"/>
            <a:ext cx="26893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NVIC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初始化，中断使能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74342" y="5968607"/>
            <a:ext cx="268935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编写对应的中断服务程序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>
            <a:off x="4582738" y="5583197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25" name="左大括号 24"/>
          <p:cNvSpPr/>
          <p:nvPr/>
        </p:nvSpPr>
        <p:spPr bwMode="auto">
          <a:xfrm>
            <a:off x="2780860" y="1445791"/>
            <a:ext cx="402187" cy="961179"/>
          </a:xfrm>
          <a:prstGeom prst="leftBrace">
            <a:avLst>
              <a:gd name="adj1" fmla="val 8333"/>
              <a:gd name="adj2" fmla="val 4471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左大括号 25"/>
          <p:cNvSpPr/>
          <p:nvPr/>
        </p:nvSpPr>
        <p:spPr bwMode="auto">
          <a:xfrm>
            <a:off x="2732166" y="3119780"/>
            <a:ext cx="450881" cy="2279537"/>
          </a:xfrm>
          <a:prstGeom prst="leftBrace">
            <a:avLst>
              <a:gd name="adj1" fmla="val 8333"/>
              <a:gd name="adj2" fmla="val 4471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356" y="1547389"/>
            <a:ext cx="268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启动代码文件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startup_stm32f10x_yy.s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355" y="3838544"/>
            <a:ext cx="268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用户应用主程序文件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main.c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354" y="5982638"/>
            <a:ext cx="268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中断服务程序文件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Stm32f10x_it.c</a:t>
            </a:r>
          </a:p>
        </p:txBody>
      </p:sp>
      <p:cxnSp>
        <p:nvCxnSpPr>
          <p:cNvPr id="31" name="直接箭头连接符 30"/>
          <p:cNvCxnSpPr/>
          <p:nvPr/>
        </p:nvCxnSpPr>
        <p:spPr bwMode="auto">
          <a:xfrm flipH="1">
            <a:off x="2364162" y="6277259"/>
            <a:ext cx="8811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3" name="竖卷形 2"/>
          <p:cNvSpPr/>
          <p:nvPr/>
        </p:nvSpPr>
        <p:spPr bwMode="auto">
          <a:xfrm>
            <a:off x="6104942" y="1911867"/>
            <a:ext cx="1015997" cy="3672116"/>
          </a:xfrm>
          <a:prstGeom prst="verticalScroll">
            <a:avLst/>
          </a:prstGeom>
          <a:gradFill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外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部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中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断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建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立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过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程</a:t>
            </a:r>
          </a:p>
        </p:txBody>
      </p:sp>
      <p:sp>
        <p:nvSpPr>
          <p:cNvPr id="24" name="TextBox 11"/>
          <p:cNvSpPr txBox="1"/>
          <p:nvPr/>
        </p:nvSpPr>
        <p:spPr>
          <a:xfrm>
            <a:off x="7556053" y="2890950"/>
            <a:ext cx="1255856" cy="3786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引脚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0" name="TextBox 11"/>
          <p:cNvSpPr txBox="1"/>
          <p:nvPr/>
        </p:nvSpPr>
        <p:spPr>
          <a:xfrm>
            <a:off x="7556053" y="4383015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管线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2" name="TextBox 11"/>
          <p:cNvSpPr txBox="1"/>
          <p:nvPr/>
        </p:nvSpPr>
        <p:spPr>
          <a:xfrm>
            <a:off x="7541856" y="5214651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NVIC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通道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7541856" y="5954093"/>
            <a:ext cx="125585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中断服务函数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34" name="直接箭头连接符 33"/>
          <p:cNvCxnSpPr>
            <a:stCxn id="24" idx="2"/>
            <a:endCxn id="30" idx="0"/>
          </p:cNvCxnSpPr>
          <p:nvPr/>
        </p:nvCxnSpPr>
        <p:spPr bwMode="auto">
          <a:xfrm>
            <a:off x="8183981" y="3269558"/>
            <a:ext cx="0" cy="11134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35" name="直接箭头连接符 34"/>
          <p:cNvCxnSpPr>
            <a:endCxn id="32" idx="0"/>
          </p:cNvCxnSpPr>
          <p:nvPr/>
        </p:nvCxnSpPr>
        <p:spPr bwMode="auto">
          <a:xfrm>
            <a:off x="8169784" y="4752347"/>
            <a:ext cx="0" cy="462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36" name="直接箭头连接符 35"/>
          <p:cNvCxnSpPr/>
          <p:nvPr/>
        </p:nvCxnSpPr>
        <p:spPr bwMode="auto">
          <a:xfrm>
            <a:off x="8183981" y="5568683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997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：外部中断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0" y="1719263"/>
            <a:ext cx="9144000" cy="4411662"/>
          </a:xfrm>
        </p:spPr>
        <p:txBody>
          <a:bodyPr/>
          <a:lstStyle/>
          <a:p>
            <a:endParaRPr lang="en-US" altLang="zh-CN" sz="2400" dirty="0" smtClean="0"/>
          </a:p>
          <a:p>
            <a:r>
              <a:rPr lang="en-US" altLang="zh-CN" sz="2400" dirty="0" err="1" smtClean="0"/>
              <a:t>GPIO_EXTILineConfig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GPIO_PortSourceGPIOA,GPIO_PinSource0</a:t>
            </a:r>
            <a:r>
              <a:rPr lang="en-US" altLang="zh-CN" sz="2400" dirty="0" smtClean="0"/>
              <a:t>);</a:t>
            </a:r>
            <a:endParaRPr lang="en-US" altLang="zh-CN" sz="2400" dirty="0"/>
          </a:p>
          <a:p>
            <a:r>
              <a:rPr lang="en-US" altLang="zh-CN" sz="2400" dirty="0" err="1" smtClean="0"/>
              <a:t>EXTI_InitStructure.EXTI_Line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EXTI_Line0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 err="1" smtClean="0"/>
              <a:t>EXTI_InitStructure.EXTI_Mode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err="1"/>
              <a:t>EXTI_Mode_Interrupt</a:t>
            </a:r>
            <a:r>
              <a:rPr lang="en-US" altLang="zh-CN" sz="2400" dirty="0"/>
              <a:t>;	</a:t>
            </a:r>
          </a:p>
          <a:p>
            <a:r>
              <a:rPr lang="en-US" altLang="zh-CN" sz="2400" dirty="0" err="1" smtClean="0"/>
              <a:t>EXTI_InitStructure.EXTI_Trigger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dirty="0" err="1"/>
              <a:t>EXTI_Trigger_Rising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 err="1" smtClean="0"/>
              <a:t>EXTI_Init</a:t>
            </a:r>
            <a:r>
              <a:rPr lang="en-US" altLang="zh-CN" sz="2400" dirty="0"/>
              <a:t>(&amp;</a:t>
            </a:r>
            <a:r>
              <a:rPr lang="en-US" altLang="zh-CN" sz="2400" dirty="0" err="1"/>
              <a:t>EXTI_InitStructure</a:t>
            </a:r>
            <a:r>
              <a:rPr lang="en-US" altLang="zh-CN" sz="2400" dirty="0"/>
              <a:t>);</a:t>
            </a:r>
            <a:endParaRPr lang="zh-CN" altLang="en-US" sz="2400" dirty="0" smtClean="0"/>
          </a:p>
        </p:txBody>
      </p:sp>
      <p:sp>
        <p:nvSpPr>
          <p:cNvPr id="4" name="TextBox 11"/>
          <p:cNvSpPr txBox="1"/>
          <p:nvPr/>
        </p:nvSpPr>
        <p:spPr>
          <a:xfrm>
            <a:off x="7556053" y="2890950"/>
            <a:ext cx="1255856" cy="3786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引脚</a:t>
            </a:r>
            <a:endParaRPr lang="zh-CN" altLang="en-US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556053" y="4383015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管线</a:t>
            </a:r>
            <a:endParaRPr lang="zh-CN" altLang="en-US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7541856" y="5214651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NVIC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通道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7541856" y="5954093"/>
            <a:ext cx="125585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中断服务函数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8" name="直接箭头连接符 7"/>
          <p:cNvCxnSpPr>
            <a:stCxn id="4" idx="2"/>
            <a:endCxn id="5" idx="0"/>
          </p:cNvCxnSpPr>
          <p:nvPr/>
        </p:nvCxnSpPr>
        <p:spPr bwMode="auto">
          <a:xfrm>
            <a:off x="8183981" y="3269558"/>
            <a:ext cx="0" cy="11134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9" name="直接箭头连接符 8"/>
          <p:cNvCxnSpPr>
            <a:endCxn id="6" idx="0"/>
          </p:cNvCxnSpPr>
          <p:nvPr/>
        </p:nvCxnSpPr>
        <p:spPr bwMode="auto">
          <a:xfrm>
            <a:off x="8169784" y="4752347"/>
            <a:ext cx="0" cy="462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0" name="直接箭头连接符 9"/>
          <p:cNvCxnSpPr/>
          <p:nvPr/>
        </p:nvCxnSpPr>
        <p:spPr bwMode="auto">
          <a:xfrm>
            <a:off x="8183981" y="5568683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71540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：外部中断</a:t>
            </a:r>
            <a:endParaRPr lang="zh-CN" altLang="en-US" dirty="0" smtClean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0" y="1719263"/>
            <a:ext cx="9144000" cy="4411662"/>
          </a:xfrm>
        </p:spPr>
        <p:txBody>
          <a:bodyPr/>
          <a:lstStyle/>
          <a:p>
            <a:pPr eaLnBrk="1" hangingPunct="1"/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0000CC"/>
                </a:solidFill>
              </a:rPr>
              <a:t>/* Configure one bit for preemption priority */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NVIC_PriorityGroupConfig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NVIC_PriorityGroup_2</a:t>
            </a:r>
            <a:r>
              <a:rPr lang="en-US" altLang="zh-CN" sz="2400" dirty="0" smtClean="0"/>
              <a:t>);</a:t>
            </a:r>
          </a:p>
          <a:p>
            <a:r>
              <a:rPr lang="en-US" altLang="zh-CN" sz="2400" dirty="0" smtClean="0"/>
              <a:t>  </a:t>
            </a:r>
            <a:r>
              <a:rPr lang="en-US" altLang="zh-CN" sz="2400" dirty="0" smtClean="0">
                <a:solidFill>
                  <a:srgbClr val="0000CC"/>
                </a:solidFill>
              </a:rPr>
              <a:t>/* Enable the </a:t>
            </a:r>
            <a:r>
              <a:rPr lang="en-US" altLang="zh-CN" sz="2400" dirty="0" err="1">
                <a:solidFill>
                  <a:srgbClr val="0000CC"/>
                </a:solidFill>
              </a:rPr>
              <a:t>EXTI3_IRQn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en-US" altLang="zh-CN" sz="2400" dirty="0" smtClean="0">
                <a:solidFill>
                  <a:srgbClr val="0000CC"/>
                </a:solidFill>
              </a:rPr>
              <a:t>Interrupt */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NVIC_InitStructure.NVIC_IRQChannel</a:t>
            </a:r>
            <a:r>
              <a:rPr lang="en-US" altLang="zh-CN" sz="2400" dirty="0" smtClean="0"/>
              <a:t> = </a:t>
            </a:r>
            <a:r>
              <a:rPr lang="en-US" altLang="zh-CN" sz="2400" dirty="0" err="1" smtClean="0"/>
              <a:t>EXTI0_IRQn</a:t>
            </a:r>
            <a:r>
              <a:rPr lang="en-US" altLang="zh-CN" sz="2400" dirty="0" smtClean="0"/>
              <a:t>;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NVIC_InitStructure.NVIC_IRQChannelPreemptionPriority</a:t>
            </a:r>
            <a:r>
              <a:rPr lang="en-US" altLang="zh-CN" sz="2400" dirty="0" smtClean="0"/>
              <a:t> = 2;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NVIC_InitStructure.NVIC_IRQChannelSubPriority</a:t>
            </a:r>
            <a:r>
              <a:rPr lang="en-US" altLang="zh-CN" sz="2400" dirty="0" smtClean="0"/>
              <a:t> = 3;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NVIC_InitStructure.NVIC_IRQChannelCmd</a:t>
            </a:r>
            <a:r>
              <a:rPr lang="en-US" altLang="zh-CN" sz="2400" dirty="0" smtClean="0"/>
              <a:t> = ENABLE;</a:t>
            </a:r>
          </a:p>
          <a:p>
            <a:pPr eaLnBrk="1" hangingPunct="1"/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NVIC_Init</a:t>
            </a:r>
            <a:r>
              <a:rPr lang="en-US" altLang="zh-CN" sz="2400" dirty="0" smtClean="0"/>
              <a:t>(&amp;</a:t>
            </a:r>
            <a:r>
              <a:rPr lang="en-US" altLang="zh-CN" sz="2400" dirty="0" err="1" smtClean="0"/>
              <a:t>NVIC_InitStructure</a:t>
            </a:r>
            <a:r>
              <a:rPr lang="en-US" altLang="zh-CN" sz="2400" dirty="0" smtClean="0"/>
              <a:t>);</a:t>
            </a:r>
            <a:endParaRPr lang="zh-CN" altLang="en-US" sz="2400" dirty="0" smtClean="0"/>
          </a:p>
        </p:txBody>
      </p:sp>
      <p:sp>
        <p:nvSpPr>
          <p:cNvPr id="4" name="TextBox 11"/>
          <p:cNvSpPr txBox="1"/>
          <p:nvPr/>
        </p:nvSpPr>
        <p:spPr>
          <a:xfrm>
            <a:off x="7556053" y="2890950"/>
            <a:ext cx="1255856" cy="3786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引脚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11"/>
          <p:cNvSpPr txBox="1"/>
          <p:nvPr/>
        </p:nvSpPr>
        <p:spPr>
          <a:xfrm>
            <a:off x="7556053" y="4383015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管线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7541856" y="5214651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NVIC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通道</a:t>
            </a:r>
            <a:endParaRPr lang="zh-CN" altLang="en-US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7541856" y="5954093"/>
            <a:ext cx="125585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中断服务函数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8" name="直接箭头连接符 7"/>
          <p:cNvCxnSpPr>
            <a:stCxn id="4" idx="2"/>
            <a:endCxn id="5" idx="0"/>
          </p:cNvCxnSpPr>
          <p:nvPr/>
        </p:nvCxnSpPr>
        <p:spPr bwMode="auto">
          <a:xfrm>
            <a:off x="8183981" y="3269558"/>
            <a:ext cx="0" cy="11134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9" name="直接箭头连接符 8"/>
          <p:cNvCxnSpPr>
            <a:endCxn id="6" idx="0"/>
          </p:cNvCxnSpPr>
          <p:nvPr/>
        </p:nvCxnSpPr>
        <p:spPr bwMode="auto">
          <a:xfrm>
            <a:off x="8169784" y="4752347"/>
            <a:ext cx="0" cy="462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0" name="直接箭头连接符 9"/>
          <p:cNvCxnSpPr/>
          <p:nvPr/>
        </p:nvCxnSpPr>
        <p:spPr bwMode="auto">
          <a:xfrm>
            <a:off x="8183981" y="5568683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5103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6819900" cy="4774799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tabLst>
                <a:tab pos="446088" algn="l"/>
              </a:tabLst>
              <a:defRPr/>
            </a:pPr>
            <a:r>
              <a:rPr lang="en-US" altLang="zh-CN" sz="2000" dirty="0" smtClean="0"/>
              <a:t>void </a:t>
            </a:r>
            <a:r>
              <a:rPr lang="en-US" altLang="zh-CN" sz="2000" dirty="0" err="1" smtClean="0"/>
              <a:t>EXTI0_IRQHandler</a:t>
            </a:r>
            <a:r>
              <a:rPr lang="en-US" altLang="zh-CN" sz="2000" dirty="0" smtClean="0"/>
              <a:t>(void</a:t>
            </a:r>
            <a:r>
              <a:rPr lang="en-US" altLang="zh-CN" sz="2000" dirty="0"/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  <a:tabLst>
                <a:tab pos="446088" algn="l"/>
              </a:tabLst>
              <a:defRPr/>
            </a:pPr>
            <a:r>
              <a:rPr lang="en-US" altLang="zh-CN" sz="2000" dirty="0" smtClean="0"/>
              <a:t>{</a:t>
            </a:r>
          </a:p>
          <a:p>
            <a:pPr marL="0" indent="0" eaLnBrk="1" hangingPunct="1">
              <a:buFont typeface="Wingdings" panose="05000000000000000000" pitchFamily="2" charset="2"/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// </a:t>
            </a:r>
            <a:r>
              <a:rPr lang="zh-CN" altLang="en-US" sz="2000" dirty="0" smtClean="0"/>
              <a:t>切换蜂鸣器状态</a:t>
            </a:r>
            <a:endParaRPr lang="en-US" altLang="zh-CN" sz="2000" dirty="0" smtClean="0"/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u8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currPB8</a:t>
            </a:r>
            <a:r>
              <a:rPr lang="en-US" altLang="zh-CN" sz="2000" dirty="0"/>
              <a:t>;</a:t>
            </a:r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delay_ms</a:t>
            </a:r>
            <a:r>
              <a:rPr lang="en-US" altLang="zh-CN" sz="2000" dirty="0"/>
              <a:t>(10);//</a:t>
            </a:r>
            <a:r>
              <a:rPr lang="zh-CN" altLang="en-US" sz="2000" dirty="0"/>
              <a:t>消抖</a:t>
            </a:r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zh-CN" altLang="en-US" sz="2000" dirty="0"/>
              <a:t>    </a:t>
            </a:r>
            <a:r>
              <a:rPr lang="en-US" altLang="zh-CN" sz="2000" dirty="0" err="1"/>
              <a:t>currPB8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GPIO_ReadInputDataBit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GPIOB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GPIO_Pin_8</a:t>
            </a:r>
            <a:r>
              <a:rPr lang="en-US" altLang="zh-CN" sz="2000" dirty="0"/>
              <a:t>);</a:t>
            </a:r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   if(</a:t>
            </a:r>
            <a:r>
              <a:rPr lang="en-US" altLang="zh-CN" sz="2000" dirty="0" err="1"/>
              <a:t>GPIO_ReadInputDataBit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GPIOA,GPIO_Pin_0</a:t>
            </a:r>
            <a:r>
              <a:rPr lang="en-US" altLang="zh-CN" sz="2000" dirty="0"/>
              <a:t>)==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  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  </a:t>
            </a:r>
            <a:endParaRPr lang="en-US" altLang="zh-CN" sz="2000" dirty="0" smtClean="0"/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{</a:t>
            </a:r>
            <a:endParaRPr lang="en-US" altLang="zh-CN" sz="2000" dirty="0"/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GPIO_WriteBit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GPIOB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GPIO_Pin_8</a:t>
            </a:r>
            <a:r>
              <a:rPr lang="en-US" altLang="zh-CN" sz="2000" dirty="0"/>
              <a:t>, !</a:t>
            </a:r>
            <a:r>
              <a:rPr lang="en-US" altLang="zh-CN" sz="2000" dirty="0" err="1"/>
              <a:t>currPB8</a:t>
            </a:r>
            <a:r>
              <a:rPr lang="en-US" altLang="zh-CN" sz="2000" dirty="0"/>
              <a:t>);</a:t>
            </a:r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   }</a:t>
            </a:r>
            <a:endParaRPr lang="en-US" altLang="zh-CN" sz="2000" dirty="0" smtClean="0"/>
          </a:p>
          <a:p>
            <a:pPr marL="0" indent="0">
              <a:buNone/>
              <a:tabLst>
                <a:tab pos="446088" algn="l"/>
              </a:tabLst>
              <a:defRPr/>
            </a:pPr>
            <a:r>
              <a:rPr lang="en-US" altLang="zh-CN" sz="2000" dirty="0"/>
              <a:t>    </a:t>
            </a:r>
            <a:r>
              <a:rPr lang="en-US" altLang="zh-CN" sz="2000" b="1" dirty="0" err="1" smtClean="0"/>
              <a:t>EXTI_ClearITPendingBit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EXTI_Line0</a:t>
            </a:r>
            <a:r>
              <a:rPr lang="en-US" altLang="zh-CN" sz="2000" b="1" dirty="0" smtClean="0"/>
              <a:t>);</a:t>
            </a:r>
            <a:endParaRPr lang="en-US" altLang="zh-CN" sz="2000" b="1" dirty="0"/>
          </a:p>
          <a:p>
            <a:pPr marL="0" indent="0" eaLnBrk="1" hangingPunct="1">
              <a:buFont typeface="Wingdings" panose="05000000000000000000" pitchFamily="2" charset="2"/>
              <a:buNone/>
              <a:tabLst>
                <a:tab pos="446088" algn="l"/>
              </a:tabLst>
              <a:defRPr/>
            </a:pPr>
            <a:r>
              <a:rPr lang="en-US" altLang="zh-CN" sz="2000" dirty="0" smtClean="0"/>
              <a:t>}</a:t>
            </a:r>
            <a:endParaRPr lang="zh-CN" altLang="en-US" sz="1800" dirty="0" smtClean="0">
              <a:latin typeface="Times-Roman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556053" y="2890950"/>
            <a:ext cx="1255856" cy="3786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引脚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6053" y="4383015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EXTI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管线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541856" y="5214651"/>
            <a:ext cx="12558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NVIC</a:t>
            </a:r>
            <a:r>
              <a:rPr lang="zh-CN" altLang="en-US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通道</a:t>
            </a:r>
            <a:endParaRPr lang="zh-CN" altLang="en-US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7541856" y="5954093"/>
            <a:ext cx="125585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中断服务函数</a:t>
            </a:r>
            <a:endParaRPr lang="zh-CN" altLang="en-US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cxnSp>
        <p:nvCxnSpPr>
          <p:cNvPr id="15" name="直接箭头连接符 14"/>
          <p:cNvCxnSpPr>
            <a:stCxn id="11" idx="2"/>
            <a:endCxn id="12" idx="0"/>
          </p:cNvCxnSpPr>
          <p:nvPr/>
        </p:nvCxnSpPr>
        <p:spPr bwMode="auto">
          <a:xfrm>
            <a:off x="8183981" y="3269558"/>
            <a:ext cx="0" cy="11134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6" name="直接箭头连接符 15"/>
          <p:cNvCxnSpPr>
            <a:endCxn id="13" idx="0"/>
          </p:cNvCxnSpPr>
          <p:nvPr/>
        </p:nvCxnSpPr>
        <p:spPr bwMode="auto">
          <a:xfrm>
            <a:off x="8169784" y="4752347"/>
            <a:ext cx="0" cy="462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cxnSp>
        <p:nvCxnSpPr>
          <p:cNvPr id="17" name="直接箭头连接符 16"/>
          <p:cNvCxnSpPr/>
          <p:nvPr/>
        </p:nvCxnSpPr>
        <p:spPr bwMode="auto">
          <a:xfrm>
            <a:off x="8183981" y="5568683"/>
            <a:ext cx="0" cy="38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</p:cxn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：外部中断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584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：多功能按键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52400" y="1938338"/>
            <a:ext cx="8839200" cy="4214812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想要实现的功能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zh-CN" altLang="en-US" sz="2800" dirty="0" smtClean="0"/>
              <a:t>能够识别按键的单击，双击和长按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2317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dirty="0"/>
              <a:t>多功能按键</a:t>
            </a:r>
            <a:endParaRPr lang="zh-CN" altLang="en-US" dirty="0" smtClean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304800" y="1814215"/>
            <a:ext cx="8839200" cy="53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/>
              <a:t>触发不同功能时，</a:t>
            </a:r>
            <a:r>
              <a:rPr lang="en-US" altLang="zh-CN" sz="3200" dirty="0" err="1" smtClean="0"/>
              <a:t>GPIO</a:t>
            </a:r>
            <a:r>
              <a:rPr lang="zh-CN" altLang="en-US" sz="3200" dirty="0" smtClean="0"/>
              <a:t>引脚上的电压变化情况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</p:txBody>
      </p:sp>
      <p:cxnSp>
        <p:nvCxnSpPr>
          <p:cNvPr id="27" name="直接连接符 26"/>
          <p:cNvCxnSpPr/>
          <p:nvPr/>
        </p:nvCxnSpPr>
        <p:spPr>
          <a:xfrm>
            <a:off x="1924109" y="2759262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2257425" y="2744974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352550" y="3454884"/>
            <a:ext cx="6000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943100" y="2722953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295775" y="3443865"/>
            <a:ext cx="156210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64741" y="246104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1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64740" y="322304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0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352550" y="3497449"/>
            <a:ext cx="6800850" cy="0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1352550" y="2351181"/>
            <a:ext cx="0" cy="1133475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690657" y="34974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单击</a:t>
            </a:r>
            <a:endParaRPr lang="zh-CN" altLang="en-US" sz="2400" dirty="0"/>
          </a:p>
        </p:txBody>
      </p:sp>
      <p:cxnSp>
        <p:nvCxnSpPr>
          <p:cNvPr id="50" name="直接连接符 49"/>
          <p:cNvCxnSpPr/>
          <p:nvPr/>
        </p:nvCxnSpPr>
        <p:spPr>
          <a:xfrm>
            <a:off x="3429059" y="2759262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3762375" y="2744974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3448050" y="2722953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3962459" y="2773550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4295775" y="2759262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3981450" y="2737241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3762375" y="3475428"/>
            <a:ext cx="2190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2257425" y="3461140"/>
            <a:ext cx="1190625" cy="1428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495556" y="35260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双击</a:t>
            </a:r>
            <a:endParaRPr lang="zh-CN" altLang="en-US" sz="2400" dirty="0"/>
          </a:p>
        </p:txBody>
      </p:sp>
      <p:cxnSp>
        <p:nvCxnSpPr>
          <p:cNvPr id="60" name="直接连接符 59"/>
          <p:cNvCxnSpPr/>
          <p:nvPr/>
        </p:nvCxnSpPr>
        <p:spPr>
          <a:xfrm flipV="1">
            <a:off x="5857875" y="2691390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5857875" y="2736027"/>
            <a:ext cx="234315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5838825" y="353979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长按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510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dirty="0"/>
              <a:t>多功能按键</a:t>
            </a:r>
            <a:endParaRPr lang="zh-CN" altLang="en-US" dirty="0" smtClean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304800" y="1814215"/>
            <a:ext cx="8839200" cy="53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/>
              <a:t>触发不同功能时，</a:t>
            </a:r>
            <a:r>
              <a:rPr lang="en-US" altLang="zh-CN" sz="3200" dirty="0" err="1" smtClean="0"/>
              <a:t>GPIO</a:t>
            </a:r>
            <a:r>
              <a:rPr lang="zh-CN" altLang="en-US" sz="3200" dirty="0" smtClean="0"/>
              <a:t>引脚上的电压变化情况</a:t>
            </a:r>
            <a:endParaRPr lang="en-US" altLang="zh-CN" sz="3200" dirty="0" smtClean="0"/>
          </a:p>
          <a:p>
            <a:pPr lvl="1"/>
            <a:endParaRPr lang="en-US" altLang="zh-CN" sz="2800" dirty="0" smtClean="0"/>
          </a:p>
        </p:txBody>
      </p:sp>
      <p:cxnSp>
        <p:nvCxnSpPr>
          <p:cNvPr id="27" name="直接连接符 26"/>
          <p:cNvCxnSpPr/>
          <p:nvPr/>
        </p:nvCxnSpPr>
        <p:spPr>
          <a:xfrm>
            <a:off x="1924109" y="2759262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2257425" y="2744974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352550" y="3454884"/>
            <a:ext cx="6000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943100" y="2722953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295775" y="3443865"/>
            <a:ext cx="156210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64741" y="246104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1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64740" y="322304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0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352550" y="3497449"/>
            <a:ext cx="6800850" cy="0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1352550" y="2351181"/>
            <a:ext cx="0" cy="1133475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690657" y="34974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单击</a:t>
            </a:r>
            <a:endParaRPr lang="zh-CN" altLang="en-US" sz="2400" dirty="0"/>
          </a:p>
        </p:txBody>
      </p:sp>
      <p:cxnSp>
        <p:nvCxnSpPr>
          <p:cNvPr id="50" name="直接连接符 49"/>
          <p:cNvCxnSpPr/>
          <p:nvPr/>
        </p:nvCxnSpPr>
        <p:spPr>
          <a:xfrm>
            <a:off x="3429059" y="2759262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3762375" y="2744974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3448050" y="2722953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3962459" y="2773550"/>
            <a:ext cx="333316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4295775" y="2759262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3981450" y="2737241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3762375" y="3475428"/>
            <a:ext cx="2190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2257425" y="3461140"/>
            <a:ext cx="1190625" cy="14288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495556" y="35260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双击</a:t>
            </a:r>
            <a:endParaRPr lang="zh-CN" altLang="en-US" sz="2400" dirty="0"/>
          </a:p>
        </p:txBody>
      </p:sp>
      <p:cxnSp>
        <p:nvCxnSpPr>
          <p:cNvPr id="60" name="直接连接符 59"/>
          <p:cNvCxnSpPr/>
          <p:nvPr/>
        </p:nvCxnSpPr>
        <p:spPr>
          <a:xfrm flipV="1">
            <a:off x="5857875" y="2691390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5857875" y="2736027"/>
            <a:ext cx="234315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5838825" y="353979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长按</a:t>
            </a:r>
            <a:endParaRPr lang="zh-CN" altLang="en-US" sz="2400" dirty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304800" y="3964319"/>
            <a:ext cx="8610600" cy="2731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/>
            <a:r>
              <a:rPr lang="zh-CN" altLang="en-US" sz="3200" dirty="0" smtClean="0"/>
              <a:t>两个关键时间决定了功能</a:t>
            </a:r>
            <a:endParaRPr lang="en-US" altLang="zh-CN" sz="3200" dirty="0" smtClean="0"/>
          </a:p>
          <a:p>
            <a:pPr marL="457200" lvl="2" indent="0"/>
            <a:r>
              <a:rPr lang="zh-CN" altLang="en-US" sz="2800" dirty="0" smtClean="0"/>
              <a:t>按键被按下的时间长度</a:t>
            </a:r>
            <a:endParaRPr lang="en-US" altLang="zh-CN" sz="2800" dirty="0" smtClean="0"/>
          </a:p>
          <a:p>
            <a:pPr marL="914400" lvl="3" indent="0"/>
            <a:r>
              <a:rPr lang="zh-CN" altLang="en-US" sz="2400" dirty="0" smtClean="0"/>
              <a:t>通过上升沿和下降沿之间的间隔获得</a:t>
            </a:r>
            <a:endParaRPr lang="en-US" altLang="zh-CN" sz="2400" dirty="0" smtClean="0"/>
          </a:p>
          <a:p>
            <a:pPr marL="457200" lvl="2" indent="0"/>
            <a:r>
              <a:rPr lang="zh-CN" altLang="en-US" sz="2600" dirty="0" smtClean="0"/>
              <a:t>两次按键之间的时间间隔</a:t>
            </a:r>
            <a:endParaRPr lang="en-US" altLang="zh-CN" sz="2600" dirty="0" smtClean="0"/>
          </a:p>
          <a:p>
            <a:pPr marL="914400" lvl="3" indent="0"/>
            <a:r>
              <a:rPr lang="zh-CN" altLang="en-US" sz="2400" dirty="0" smtClean="0"/>
              <a:t>通过下降沿和下降沿之间的间隔获得</a:t>
            </a:r>
            <a:endParaRPr lang="en-US" altLang="zh-CN" sz="2400" dirty="0" smtClean="0"/>
          </a:p>
          <a:p>
            <a:pPr marL="0" lvl="1" indent="0"/>
            <a:r>
              <a:rPr lang="zh-CN" altLang="en-US" sz="3000" dirty="0" smtClean="0"/>
              <a:t>关键问题：如何测定两个时间间隔？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:p14="http://schemas.microsoft.com/office/powerpoint/2010/main" val="219589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dirty="0"/>
              <a:t>多功能按键</a:t>
            </a:r>
            <a:endParaRPr lang="zh-CN" altLang="en-US" dirty="0" smtClean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628650" y="1687403"/>
            <a:ext cx="8039100" cy="4589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/>
            <a:r>
              <a:rPr lang="zh-CN" altLang="en-US" sz="3200" dirty="0" smtClean="0"/>
              <a:t>关键问题：如何测定两个时间间隔？</a:t>
            </a:r>
            <a:endParaRPr lang="en-US" altLang="zh-CN" sz="3200" dirty="0" smtClean="0"/>
          </a:p>
          <a:p>
            <a:pPr marL="457200" lvl="2" indent="0"/>
            <a:r>
              <a:rPr lang="zh-CN" altLang="en-US" sz="2800" dirty="0" smtClean="0"/>
              <a:t>先设定为</a:t>
            </a:r>
            <a:r>
              <a:rPr lang="zh-CN" altLang="en-US" sz="2800" dirty="0" smtClean="0"/>
              <a:t>上升沿</a:t>
            </a:r>
            <a:r>
              <a:rPr lang="zh-CN" altLang="en-US" sz="2800" dirty="0" smtClean="0"/>
              <a:t>触发中断</a:t>
            </a:r>
            <a:endParaRPr lang="en-US" altLang="zh-CN" sz="2800" dirty="0" smtClean="0"/>
          </a:p>
          <a:p>
            <a:pPr marL="457200" lvl="2" indent="0"/>
            <a:r>
              <a:rPr lang="zh-CN" altLang="en-US" sz="2800" dirty="0" smtClean="0"/>
              <a:t>中断服务函数中，记录按键被按下的时刻</a:t>
            </a:r>
            <a:r>
              <a:rPr lang="en-US" altLang="zh-CN" sz="2800" dirty="0" err="1" smtClean="0"/>
              <a:t>t0</a:t>
            </a:r>
            <a:r>
              <a:rPr lang="zh-CN" altLang="en-US" sz="2800" dirty="0" smtClean="0"/>
              <a:t>，并将中断触发类型重新设定为下降沿触发</a:t>
            </a:r>
            <a:endParaRPr lang="en-US" altLang="zh-CN" sz="2800" dirty="0" smtClean="0"/>
          </a:p>
          <a:p>
            <a:pPr marL="457200" lvl="2" indent="0"/>
            <a:r>
              <a:rPr lang="zh-CN" altLang="en-US" sz="2800" dirty="0" smtClean="0"/>
              <a:t>再次触发中断时，计算距离</a:t>
            </a:r>
            <a:r>
              <a:rPr lang="en-US" altLang="zh-CN" sz="2800" dirty="0" err="1" smtClean="0"/>
              <a:t>t0</a:t>
            </a:r>
            <a:r>
              <a:rPr lang="zh-CN" altLang="en-US" sz="2800" dirty="0" smtClean="0"/>
              <a:t>时刻的时间间隔</a:t>
            </a:r>
            <a:r>
              <a:rPr lang="en-US" altLang="zh-CN" sz="2800" dirty="0" err="1" smtClean="0"/>
              <a:t>dt</a:t>
            </a:r>
            <a:r>
              <a:rPr lang="zh-CN" altLang="en-US" sz="2800" dirty="0" smtClean="0"/>
              <a:t>，并将中断触发类型</a:t>
            </a:r>
            <a:r>
              <a:rPr lang="zh-CN" altLang="en-US" sz="2800" dirty="0"/>
              <a:t>重新设定</a:t>
            </a:r>
            <a:r>
              <a:rPr lang="zh-CN" altLang="en-US" sz="2800" dirty="0" smtClean="0"/>
              <a:t>为上升沿触发</a:t>
            </a:r>
            <a:endParaRPr lang="en-US" altLang="zh-CN" sz="2800" dirty="0" smtClean="0"/>
          </a:p>
          <a:p>
            <a:pPr marL="457200" lvl="2" indent="0"/>
            <a:r>
              <a:rPr lang="en-US" altLang="zh-CN" sz="2800" dirty="0" err="1" smtClean="0"/>
              <a:t>dt</a:t>
            </a:r>
            <a:r>
              <a:rPr lang="zh-CN" altLang="en-US" sz="2800" dirty="0" smtClean="0"/>
              <a:t>即是按钮按下到抬起的时间间隔</a:t>
            </a:r>
            <a:endParaRPr lang="en-US" altLang="zh-CN" sz="2800" dirty="0" smtClean="0"/>
          </a:p>
        </p:txBody>
      </p:sp>
      <p:cxnSp>
        <p:nvCxnSpPr>
          <p:cNvPr id="36" name="直接连接符 35"/>
          <p:cNvCxnSpPr/>
          <p:nvPr/>
        </p:nvCxnSpPr>
        <p:spPr>
          <a:xfrm>
            <a:off x="4181534" y="5331012"/>
            <a:ext cx="838200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5019734" y="5316724"/>
            <a:ext cx="0" cy="752475"/>
          </a:xfrm>
          <a:prstGeom prst="line">
            <a:avLst/>
          </a:prstGeom>
          <a:ln w="57150">
            <a:head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447800" y="6026634"/>
            <a:ext cx="275272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4200525" y="5294703"/>
            <a:ext cx="0" cy="752475"/>
          </a:xfrm>
          <a:prstGeom prst="line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019734" y="6015615"/>
            <a:ext cx="3076575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59991" y="503279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1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59990" y="5794796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‘</a:t>
            </a:r>
            <a:r>
              <a:rPr lang="en-US" altLang="zh-CN" sz="2800" b="1" dirty="0" smtClean="0"/>
              <a:t>0</a:t>
            </a:r>
            <a:r>
              <a:rPr lang="en-US" altLang="zh-CN" sz="2800" dirty="0" smtClean="0"/>
              <a:t>’</a:t>
            </a:r>
            <a:endParaRPr lang="zh-CN" altLang="en-US" sz="2800" dirty="0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1447800" y="6069199"/>
            <a:ext cx="6800850" cy="0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1447800" y="4922931"/>
            <a:ext cx="0" cy="1133475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438460" y="5438299"/>
            <a:ext cx="167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按下时刻</a:t>
            </a:r>
            <a:r>
              <a:rPr lang="en-US" altLang="zh-CN" sz="2400" dirty="0" err="1" smtClean="0"/>
              <a:t>t0</a:t>
            </a:r>
            <a:endParaRPr lang="zh-CN" altLang="en-US" sz="2400" dirty="0"/>
          </a:p>
        </p:txBody>
      </p:sp>
      <p:sp>
        <p:nvSpPr>
          <p:cNvPr id="47" name="文本框 46"/>
          <p:cNvSpPr txBox="1"/>
          <p:nvPr/>
        </p:nvSpPr>
        <p:spPr>
          <a:xfrm>
            <a:off x="5160600" y="5398608"/>
            <a:ext cx="167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抬起时刻</a:t>
            </a:r>
            <a:r>
              <a:rPr lang="en-US" altLang="zh-CN" sz="2400" dirty="0" err="1" smtClean="0"/>
              <a:t>t1</a:t>
            </a:r>
            <a:endParaRPr lang="zh-CN" altLang="en-US" sz="2400" dirty="0"/>
          </a:p>
        </p:txBody>
      </p:sp>
      <p:sp>
        <p:nvSpPr>
          <p:cNvPr id="48" name="文本框 47"/>
          <p:cNvSpPr txBox="1"/>
          <p:nvPr/>
        </p:nvSpPr>
        <p:spPr>
          <a:xfrm>
            <a:off x="3202655" y="6162674"/>
            <a:ext cx="2795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被按下的时间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t1-t0</a:t>
            </a:r>
            <a:endParaRPr lang="zh-CN" altLang="en-US" sz="2400" dirty="0"/>
          </a:p>
        </p:txBody>
      </p:sp>
      <p:sp>
        <p:nvSpPr>
          <p:cNvPr id="2" name="爆炸形 1 1"/>
          <p:cNvSpPr/>
          <p:nvPr/>
        </p:nvSpPr>
        <p:spPr>
          <a:xfrm>
            <a:off x="6967806" y="221261"/>
            <a:ext cx="1919019" cy="1613291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 smtClean="0"/>
              <a:t>SysTick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定时器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379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11885</TotalTime>
  <Words>954</Words>
  <Application>Microsoft Office PowerPoint</Application>
  <PresentationFormat>全屏显示(4:3)</PresentationFormat>
  <Paragraphs>217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Gulim</vt:lpstr>
      <vt:lpstr>Times-Roman</vt:lpstr>
      <vt:lpstr>等线</vt:lpstr>
      <vt:lpstr>等线 Light</vt:lpstr>
      <vt:lpstr>黑体</vt:lpstr>
      <vt:lpstr>宋体</vt:lpstr>
      <vt:lpstr>Arial</vt:lpstr>
      <vt:lpstr>Calibri</vt:lpstr>
      <vt:lpstr>Calibri Light</vt:lpstr>
      <vt:lpstr>Times New Roman</vt:lpstr>
      <vt:lpstr>Verdana</vt:lpstr>
      <vt:lpstr>Wingdings</vt:lpstr>
      <vt:lpstr>Wingdings 2</vt:lpstr>
      <vt:lpstr>Office 主题​​</vt:lpstr>
      <vt:lpstr>按键输入与蜂鸣器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示例1：外部中断</vt:lpstr>
      <vt:lpstr>示例1：外部中断</vt:lpstr>
      <vt:lpstr>PowerPoint 演示文稿</vt:lpstr>
      <vt:lpstr>示例1：外部中断</vt:lpstr>
      <vt:lpstr>示例1：外部中断</vt:lpstr>
      <vt:lpstr>示例1：外部中断</vt:lpstr>
      <vt:lpstr>示例2：多功能按键</vt:lpstr>
      <vt:lpstr>示例2：多功能按键</vt:lpstr>
      <vt:lpstr>示例2：多功能按键</vt:lpstr>
      <vt:lpstr>示例2：多功能按键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堆排序</dc:title>
  <dc:creator>IcyVein</dc:creator>
  <cp:lastModifiedBy>IcyVein</cp:lastModifiedBy>
  <cp:revision>391</cp:revision>
  <dcterms:created xsi:type="dcterms:W3CDTF">2020-11-01T09:33:45Z</dcterms:created>
  <dcterms:modified xsi:type="dcterms:W3CDTF">2022-09-20T07:31:56Z</dcterms:modified>
</cp:coreProperties>
</file>