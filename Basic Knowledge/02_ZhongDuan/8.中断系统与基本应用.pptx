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306" r:id="rId7"/>
    <p:sldId id="307" r:id="rId8"/>
    <p:sldId id="308" r:id="rId9"/>
    <p:sldId id="259" r:id="rId10"/>
    <p:sldId id="260" r:id="rId11"/>
    <p:sldId id="261" r:id="rId12"/>
    <p:sldId id="262" r:id="rId13"/>
    <p:sldId id="263" r:id="rId14"/>
    <p:sldId id="264" r:id="rId15"/>
    <p:sldId id="265" r:id="rId16"/>
    <p:sldId id="266" r:id="rId17"/>
    <p:sldId id="267" r:id="rId18"/>
    <p:sldId id="292" r:id="rId19"/>
    <p:sldId id="268" r:id="rId20"/>
    <p:sldId id="269" r:id="rId21"/>
    <p:sldId id="301" r:id="rId22"/>
    <p:sldId id="300" r:id="rId23"/>
    <p:sldId id="302" r:id="rId24"/>
    <p:sldId id="303" r:id="rId25"/>
    <p:sldId id="304" r:id="rId26"/>
    <p:sldId id="293" r:id="rId27"/>
    <p:sldId id="294" r:id="rId28"/>
    <p:sldId id="295" r:id="rId29"/>
    <p:sldId id="296" r:id="rId30"/>
    <p:sldId id="299" r:id="rId31"/>
    <p:sldId id="344" r:id="rId32"/>
    <p:sldId id="270" r:id="rId33"/>
    <p:sldId id="271" r:id="rId34"/>
    <p:sldId id="272" r:id="rId35"/>
    <p:sldId id="273" r:id="rId36"/>
    <p:sldId id="274" r:id="rId37"/>
    <p:sldId id="275" r:id="rId38"/>
    <p:sldId id="279" r:id="rId39"/>
    <p:sldId id="280" r:id="rId40"/>
    <p:sldId id="281" r:id="rId41"/>
    <p:sldId id="283" r:id="rId42"/>
    <p:sldId id="289" r:id="rId43"/>
    <p:sldId id="290" r:id="rId44"/>
    <p:sldId id="288" r:id="rId45"/>
  </p:sldIdLst>
  <p:sldSz cx="9144000" cy="6858000" type="screen4x3"/>
  <p:notesSz cx="6858000" cy="9144000"/>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741" autoAdjust="0"/>
  </p:normalViewPr>
  <p:slideViewPr>
    <p:cSldViewPr snapToGrid="0">
      <p:cViewPr varScale="1">
        <p:scale>
          <a:sx n="65" d="100"/>
          <a:sy n="65" d="100"/>
        </p:scale>
        <p:origin x="1954" y="53"/>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134" y="67"/>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gs" Target="tags/tag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E7AA750-199E-41C9-9A0B-EFC9BB7290A9}" type="doc">
      <dgm:prSet loTypeId="urn:microsoft.com/office/officeart/2005/8/layout/process2" loCatId="process" qsTypeId="urn:microsoft.com/office/officeart/2005/8/quickstyle/simple1" qsCatId="simple" csTypeId="urn:microsoft.com/office/officeart/2005/8/colors/accent1_2" csCatId="accent1" phldr="1"/>
      <dgm:spPr/>
    </dgm:pt>
    <dgm:pt modelId="{C44AB041-C640-41CE-9E0A-34358A1ABCF7}">
      <dgm:prSet phldrT="[文本]" custT="1"/>
      <dgm:spPr/>
      <dgm:t>
        <a:bodyPr/>
        <a:lstStyle/>
        <a:p>
          <a:pPr algn="ctr"/>
          <a:r>
            <a:rPr lang="zh-CN" altLang="en-US" sz="1600" dirty="0" smtClean="0"/>
            <a:t>主循环</a:t>
          </a:r>
          <a:endParaRPr lang="zh-CN" altLang="en-US" sz="1600" dirty="0"/>
        </a:p>
      </dgm:t>
    </dgm:pt>
    <dgm:pt modelId="{E13E1BAE-E59A-4B44-B202-C9BC71481746}" cxnId="{B533ECE2-6663-4B72-8D06-7F35916C12CF}" type="parTrans">
      <dgm:prSet/>
      <dgm:spPr/>
      <dgm:t>
        <a:bodyPr/>
        <a:lstStyle/>
        <a:p>
          <a:pPr algn="ctr"/>
          <a:endParaRPr lang="zh-CN" altLang="en-US" sz="2000"/>
        </a:p>
      </dgm:t>
    </dgm:pt>
    <dgm:pt modelId="{AC34D787-DA75-43B2-9D09-6D5CA9DDE9B2}" cxnId="{B533ECE2-6663-4B72-8D06-7F35916C12CF}" type="sibTrans">
      <dgm:prSet custT="1"/>
      <dgm:spPr/>
      <dgm:t>
        <a:bodyPr/>
        <a:lstStyle/>
        <a:p>
          <a:pPr algn="ctr"/>
          <a:endParaRPr lang="zh-CN" altLang="en-US" sz="1200"/>
        </a:p>
      </dgm:t>
    </dgm:pt>
    <dgm:pt modelId="{6B7C0A1E-2418-4851-B3EB-06691DB2F803}">
      <dgm:prSet phldrT="[文本]" custT="1"/>
      <dgm:spPr/>
      <dgm:t>
        <a:bodyPr/>
        <a:lstStyle/>
        <a:p>
          <a:pPr algn="ctr"/>
          <a:r>
            <a:rPr lang="zh-CN" altLang="en-US" sz="1600" dirty="0" smtClean="0"/>
            <a:t>恢复现场</a:t>
          </a:r>
          <a:endParaRPr lang="zh-CN" altLang="en-US" sz="1600" dirty="0"/>
        </a:p>
      </dgm:t>
    </dgm:pt>
    <dgm:pt modelId="{B23CDA36-5D74-463C-99DD-01BD17DA1E19}" cxnId="{8BEEB451-ADE0-49AF-9B35-1F2ED192B11D}" type="parTrans">
      <dgm:prSet/>
      <dgm:spPr/>
      <dgm:t>
        <a:bodyPr/>
        <a:lstStyle/>
        <a:p>
          <a:pPr algn="ctr"/>
          <a:endParaRPr lang="zh-CN" altLang="en-US" sz="2000"/>
        </a:p>
      </dgm:t>
    </dgm:pt>
    <dgm:pt modelId="{ADDE1044-E457-4214-8C11-7E7E8BA2D441}" cxnId="{8BEEB451-ADE0-49AF-9B35-1F2ED192B11D}" type="sibTrans">
      <dgm:prSet custT="1"/>
      <dgm:spPr/>
      <dgm:t>
        <a:bodyPr/>
        <a:lstStyle/>
        <a:p>
          <a:pPr algn="ctr"/>
          <a:endParaRPr lang="zh-CN" altLang="en-US" sz="1200"/>
        </a:p>
      </dgm:t>
    </dgm:pt>
    <dgm:pt modelId="{4F958379-3A1F-48DE-A8E6-92ACBB1CF0B0}">
      <dgm:prSet phldrT="[文本]" custT="1"/>
      <dgm:spPr/>
      <dgm:t>
        <a:bodyPr/>
        <a:lstStyle/>
        <a:p>
          <a:pPr algn="ctr"/>
          <a:r>
            <a:rPr lang="zh-CN" altLang="en-US" sz="1600" dirty="0" smtClean="0"/>
            <a:t>主循环</a:t>
          </a:r>
          <a:endParaRPr lang="zh-CN" altLang="en-US" sz="1600" dirty="0"/>
        </a:p>
      </dgm:t>
    </dgm:pt>
    <dgm:pt modelId="{99B28860-F5F8-48C1-895C-EF8AD5F174C9}" cxnId="{FF25D615-5BF1-4002-B78D-BDD8EFE151D8}" type="parTrans">
      <dgm:prSet/>
      <dgm:spPr/>
      <dgm:t>
        <a:bodyPr/>
        <a:lstStyle/>
        <a:p>
          <a:pPr algn="ctr"/>
          <a:endParaRPr lang="zh-CN" altLang="en-US" sz="2000"/>
        </a:p>
      </dgm:t>
    </dgm:pt>
    <dgm:pt modelId="{8716C61C-E430-4F27-81E2-F31DEAB564EE}" cxnId="{FF25D615-5BF1-4002-B78D-BDD8EFE151D8}" type="sibTrans">
      <dgm:prSet/>
      <dgm:spPr/>
      <dgm:t>
        <a:bodyPr/>
        <a:lstStyle/>
        <a:p>
          <a:pPr algn="ctr"/>
          <a:endParaRPr lang="zh-CN" altLang="en-US" sz="2000"/>
        </a:p>
      </dgm:t>
    </dgm:pt>
    <dgm:pt modelId="{7F7D1BF1-C8E2-4916-AEB1-DBB947083353}">
      <dgm:prSet phldrT="[文本]" custT="1"/>
      <dgm:spPr/>
      <dgm:t>
        <a:bodyPr/>
        <a:lstStyle/>
        <a:p>
          <a:pPr algn="ctr"/>
          <a:r>
            <a:rPr lang="zh-CN" altLang="en-US" sz="1600" dirty="0" smtClean="0"/>
            <a:t>触发</a:t>
          </a:r>
          <a:r>
            <a:rPr lang="en-US" altLang="zh-CN" sz="1600" dirty="0" err="1" smtClean="0"/>
            <a:t>SysTick</a:t>
          </a:r>
          <a:r>
            <a:rPr lang="zh-CN" altLang="en-US" sz="1600" dirty="0" smtClean="0"/>
            <a:t>中断</a:t>
          </a:r>
          <a:endParaRPr lang="zh-CN" altLang="en-US" sz="1600" dirty="0"/>
        </a:p>
      </dgm:t>
    </dgm:pt>
    <dgm:pt modelId="{4D1F2C3A-1DDC-4008-9781-789AFCDC66E5}" cxnId="{C7860E2A-7D68-45D4-9641-34CB55DDB5CA}" type="parTrans">
      <dgm:prSet/>
      <dgm:spPr/>
      <dgm:t>
        <a:bodyPr/>
        <a:lstStyle/>
        <a:p>
          <a:pPr algn="ctr"/>
          <a:endParaRPr lang="zh-CN" altLang="en-US" sz="2000"/>
        </a:p>
      </dgm:t>
    </dgm:pt>
    <dgm:pt modelId="{D0F471DC-C7E8-4974-A2B4-CCD8DDDD874B}" cxnId="{C7860E2A-7D68-45D4-9641-34CB55DDB5CA}" type="sibTrans">
      <dgm:prSet custT="1"/>
      <dgm:spPr/>
      <dgm:t>
        <a:bodyPr/>
        <a:lstStyle/>
        <a:p>
          <a:pPr algn="ctr"/>
          <a:endParaRPr lang="zh-CN" altLang="en-US" sz="1200"/>
        </a:p>
      </dgm:t>
    </dgm:pt>
    <dgm:pt modelId="{2F26F143-E7F4-4ABE-954F-52D6F6385FEB}">
      <dgm:prSet phldrT="[文本]" custT="1"/>
      <dgm:spPr/>
      <dgm:t>
        <a:bodyPr/>
        <a:lstStyle/>
        <a:p>
          <a:pPr algn="ctr"/>
          <a:r>
            <a:rPr lang="en-US" altLang="zh-CN" sz="1200" dirty="0" err="1" smtClean="0"/>
            <a:t>systemTimeInMs</a:t>
          </a:r>
          <a:r>
            <a:rPr lang="en-US" altLang="zh-CN" sz="1200" dirty="0" smtClean="0"/>
            <a:t>++</a:t>
          </a:r>
          <a:endParaRPr lang="zh-CN" altLang="en-US" sz="1200" dirty="0"/>
        </a:p>
      </dgm:t>
    </dgm:pt>
    <dgm:pt modelId="{94B6C7C3-9BE9-49EA-A2A4-B85C4781899E}" cxnId="{A3065FDE-13FF-48CE-9103-129D65F71970}" type="parTrans">
      <dgm:prSet/>
      <dgm:spPr/>
      <dgm:t>
        <a:bodyPr/>
        <a:lstStyle/>
        <a:p>
          <a:pPr algn="ctr"/>
          <a:endParaRPr lang="zh-CN" altLang="en-US" sz="2000"/>
        </a:p>
      </dgm:t>
    </dgm:pt>
    <dgm:pt modelId="{6DDC558D-4F16-4F7F-8028-35C36A003BFE}" cxnId="{A3065FDE-13FF-48CE-9103-129D65F71970}" type="sibTrans">
      <dgm:prSet/>
      <dgm:spPr/>
      <dgm:t>
        <a:bodyPr/>
        <a:lstStyle/>
        <a:p>
          <a:pPr algn="ctr"/>
          <a:endParaRPr lang="zh-CN" altLang="en-US" sz="2000"/>
        </a:p>
      </dgm:t>
    </dgm:pt>
    <dgm:pt modelId="{34758D7E-FB89-44BD-9184-FCCA5FFAA9B5}">
      <dgm:prSet phldrT="[文本]" custT="1"/>
      <dgm:spPr/>
      <dgm:t>
        <a:bodyPr/>
        <a:lstStyle/>
        <a:p>
          <a:pPr algn="ctr"/>
          <a:r>
            <a:rPr lang="zh-CN" altLang="en-US" sz="1600" dirty="0" smtClean="0"/>
            <a:t>保护现场</a:t>
          </a:r>
          <a:endParaRPr lang="zh-CN" altLang="en-US" sz="1600" dirty="0"/>
        </a:p>
      </dgm:t>
    </dgm:pt>
    <dgm:pt modelId="{E72A63A3-4CE9-4DCC-AB0A-375BE37730CE}" cxnId="{745255DC-AA60-44AE-BB38-8730DD28A6D8}" type="parTrans">
      <dgm:prSet/>
      <dgm:spPr/>
      <dgm:t>
        <a:bodyPr/>
        <a:lstStyle/>
        <a:p>
          <a:pPr algn="ctr"/>
          <a:endParaRPr lang="zh-CN" altLang="en-US" sz="2000"/>
        </a:p>
      </dgm:t>
    </dgm:pt>
    <dgm:pt modelId="{132ECA56-61AB-47CB-9B9B-4D335C25AC15}" cxnId="{745255DC-AA60-44AE-BB38-8730DD28A6D8}" type="sibTrans">
      <dgm:prSet custT="1"/>
      <dgm:spPr/>
      <dgm:t>
        <a:bodyPr/>
        <a:lstStyle/>
        <a:p>
          <a:pPr algn="ctr"/>
          <a:endParaRPr lang="zh-CN" altLang="en-US" sz="1200"/>
        </a:p>
      </dgm:t>
    </dgm:pt>
    <dgm:pt modelId="{B167A30C-8B34-4176-BB9F-B1E652EC54AF}">
      <dgm:prSet phldrT="[文本]" custT="1"/>
      <dgm:spPr/>
      <dgm:t>
        <a:bodyPr/>
        <a:lstStyle/>
        <a:p>
          <a:pPr algn="ctr"/>
          <a:r>
            <a:rPr lang="zh-CN" altLang="en-US" sz="1600" dirty="0" smtClean="0"/>
            <a:t>跳转到中断服务函数</a:t>
          </a:r>
          <a:endParaRPr lang="zh-CN" altLang="en-US" sz="1600" dirty="0"/>
        </a:p>
      </dgm:t>
    </dgm:pt>
    <dgm:pt modelId="{AFCEC0BD-0F30-4F72-9DB0-D4919849D2BD}" cxnId="{7E834AF3-CA37-4CCB-8B5E-4D9E0233CE4A}" type="parTrans">
      <dgm:prSet/>
      <dgm:spPr/>
      <dgm:t>
        <a:bodyPr/>
        <a:lstStyle/>
        <a:p>
          <a:pPr algn="ctr"/>
          <a:endParaRPr lang="zh-CN" altLang="en-US" sz="2000"/>
        </a:p>
      </dgm:t>
    </dgm:pt>
    <dgm:pt modelId="{0AD4DAF9-71FE-4498-B646-990D4425A5C7}" cxnId="{7E834AF3-CA37-4CCB-8B5E-4D9E0233CE4A}" type="sibTrans">
      <dgm:prSet custT="1"/>
      <dgm:spPr/>
      <dgm:t>
        <a:bodyPr/>
        <a:lstStyle/>
        <a:p>
          <a:pPr algn="ctr"/>
          <a:endParaRPr lang="zh-CN" altLang="en-US" sz="1200"/>
        </a:p>
      </dgm:t>
    </dgm:pt>
    <dgm:pt modelId="{8D9F67CF-039D-4A67-9ED7-DEF6E8576389}">
      <dgm:prSet phldrT="[文本]" custT="1"/>
      <dgm:spPr/>
      <dgm:t>
        <a:bodyPr/>
        <a:lstStyle/>
        <a:p>
          <a:pPr algn="ctr"/>
          <a:r>
            <a:rPr lang="zh-CN" altLang="en-US" sz="1600" dirty="0" smtClean="0"/>
            <a:t>执行中断服务函数</a:t>
          </a:r>
          <a:endParaRPr lang="zh-CN" altLang="en-US" sz="1600" dirty="0"/>
        </a:p>
      </dgm:t>
    </dgm:pt>
    <dgm:pt modelId="{CC1A8077-4960-4D00-8917-47F071123210}" cxnId="{4EE79B0F-B92B-423D-A0DC-AD64E783B7A0}" type="parTrans">
      <dgm:prSet/>
      <dgm:spPr/>
      <dgm:t>
        <a:bodyPr/>
        <a:lstStyle/>
        <a:p>
          <a:pPr algn="ctr"/>
          <a:endParaRPr lang="zh-CN" altLang="en-US" sz="2000"/>
        </a:p>
      </dgm:t>
    </dgm:pt>
    <dgm:pt modelId="{B9AEFC6F-7332-457E-A5BA-45E4E87D7702}" cxnId="{4EE79B0F-B92B-423D-A0DC-AD64E783B7A0}" type="sibTrans">
      <dgm:prSet custT="1"/>
      <dgm:spPr/>
      <dgm:t>
        <a:bodyPr/>
        <a:lstStyle/>
        <a:p>
          <a:pPr algn="ctr"/>
          <a:endParaRPr lang="zh-CN" altLang="en-US" sz="1200"/>
        </a:p>
      </dgm:t>
    </dgm:pt>
    <dgm:pt modelId="{16DAD7A9-0E1E-44B4-9C19-8E623308B5B1}" type="pres">
      <dgm:prSet presAssocID="{8E7AA750-199E-41C9-9A0B-EFC9BB7290A9}" presName="linearFlow" presStyleCnt="0">
        <dgm:presLayoutVars>
          <dgm:resizeHandles val="exact"/>
        </dgm:presLayoutVars>
      </dgm:prSet>
      <dgm:spPr/>
    </dgm:pt>
    <dgm:pt modelId="{169A66D0-D796-465C-A771-EBA978983B6A}" type="pres">
      <dgm:prSet presAssocID="{C44AB041-C640-41CE-9E0A-34358A1ABCF7}" presName="node" presStyleLbl="node1" presStyleIdx="0" presStyleCnt="7">
        <dgm:presLayoutVars>
          <dgm:bulletEnabled val="1"/>
        </dgm:presLayoutVars>
      </dgm:prSet>
      <dgm:spPr/>
      <dgm:t>
        <a:bodyPr/>
        <a:lstStyle/>
        <a:p>
          <a:endParaRPr lang="zh-CN" altLang="en-US"/>
        </a:p>
      </dgm:t>
    </dgm:pt>
    <dgm:pt modelId="{348F27B6-1733-4B67-B540-005DE47EA7CC}" type="pres">
      <dgm:prSet presAssocID="{AC34D787-DA75-43B2-9D09-6D5CA9DDE9B2}" presName="sibTrans" presStyleLbl="sibTrans2D1" presStyleIdx="0" presStyleCnt="6"/>
      <dgm:spPr/>
      <dgm:t>
        <a:bodyPr/>
        <a:lstStyle/>
        <a:p>
          <a:endParaRPr lang="zh-CN" altLang="en-US"/>
        </a:p>
      </dgm:t>
    </dgm:pt>
    <dgm:pt modelId="{B124345E-6F27-46B5-8B79-20A200E1B603}" type="pres">
      <dgm:prSet presAssocID="{AC34D787-DA75-43B2-9D09-6D5CA9DDE9B2}" presName="connectorText" presStyleLbl="sibTrans2D1" presStyleIdx="0" presStyleCnt="6"/>
      <dgm:spPr/>
      <dgm:t>
        <a:bodyPr/>
        <a:lstStyle/>
        <a:p>
          <a:endParaRPr lang="zh-CN" altLang="en-US"/>
        </a:p>
      </dgm:t>
    </dgm:pt>
    <dgm:pt modelId="{618ED9C9-5DF1-470E-98A8-EDAEBAE215CC}" type="pres">
      <dgm:prSet presAssocID="{7F7D1BF1-C8E2-4916-AEB1-DBB947083353}" presName="node" presStyleLbl="node1" presStyleIdx="1" presStyleCnt="7">
        <dgm:presLayoutVars>
          <dgm:bulletEnabled val="1"/>
        </dgm:presLayoutVars>
      </dgm:prSet>
      <dgm:spPr/>
      <dgm:t>
        <a:bodyPr/>
        <a:lstStyle/>
        <a:p>
          <a:endParaRPr lang="zh-CN" altLang="en-US"/>
        </a:p>
      </dgm:t>
    </dgm:pt>
    <dgm:pt modelId="{81A1101A-CB20-4EFC-8F8C-17B3B2EF98BC}" type="pres">
      <dgm:prSet presAssocID="{D0F471DC-C7E8-4974-A2B4-CCD8DDDD874B}" presName="sibTrans" presStyleLbl="sibTrans2D1" presStyleIdx="1" presStyleCnt="6"/>
      <dgm:spPr/>
      <dgm:t>
        <a:bodyPr/>
        <a:lstStyle/>
        <a:p>
          <a:endParaRPr lang="zh-CN" altLang="en-US"/>
        </a:p>
      </dgm:t>
    </dgm:pt>
    <dgm:pt modelId="{B9987992-2CE4-45F6-BF5D-8D41ACA64926}" type="pres">
      <dgm:prSet presAssocID="{D0F471DC-C7E8-4974-A2B4-CCD8DDDD874B}" presName="connectorText" presStyleLbl="sibTrans2D1" presStyleIdx="1" presStyleCnt="6"/>
      <dgm:spPr/>
      <dgm:t>
        <a:bodyPr/>
        <a:lstStyle/>
        <a:p>
          <a:endParaRPr lang="zh-CN" altLang="en-US"/>
        </a:p>
      </dgm:t>
    </dgm:pt>
    <dgm:pt modelId="{2238EA99-1518-4531-87B1-3EA373087377}" type="pres">
      <dgm:prSet presAssocID="{34758D7E-FB89-44BD-9184-FCCA5FFAA9B5}" presName="node" presStyleLbl="node1" presStyleIdx="2" presStyleCnt="7">
        <dgm:presLayoutVars>
          <dgm:bulletEnabled val="1"/>
        </dgm:presLayoutVars>
      </dgm:prSet>
      <dgm:spPr/>
      <dgm:t>
        <a:bodyPr/>
        <a:lstStyle/>
        <a:p>
          <a:endParaRPr lang="zh-CN" altLang="en-US"/>
        </a:p>
      </dgm:t>
    </dgm:pt>
    <dgm:pt modelId="{3223C6E9-C699-4619-9109-4178FF1A92B1}" type="pres">
      <dgm:prSet presAssocID="{132ECA56-61AB-47CB-9B9B-4D335C25AC15}" presName="sibTrans" presStyleLbl="sibTrans2D1" presStyleIdx="2" presStyleCnt="6"/>
      <dgm:spPr/>
      <dgm:t>
        <a:bodyPr/>
        <a:lstStyle/>
        <a:p>
          <a:endParaRPr lang="zh-CN" altLang="en-US"/>
        </a:p>
      </dgm:t>
    </dgm:pt>
    <dgm:pt modelId="{618AA5A0-3710-4B43-B17E-A855B00DFC43}" type="pres">
      <dgm:prSet presAssocID="{132ECA56-61AB-47CB-9B9B-4D335C25AC15}" presName="connectorText" presStyleLbl="sibTrans2D1" presStyleIdx="2" presStyleCnt="6"/>
      <dgm:spPr/>
      <dgm:t>
        <a:bodyPr/>
        <a:lstStyle/>
        <a:p>
          <a:endParaRPr lang="zh-CN" altLang="en-US"/>
        </a:p>
      </dgm:t>
    </dgm:pt>
    <dgm:pt modelId="{9A9560C0-37FB-44FD-9EC0-2B5382697354}" type="pres">
      <dgm:prSet presAssocID="{B167A30C-8B34-4176-BB9F-B1E652EC54AF}" presName="node" presStyleLbl="node1" presStyleIdx="3" presStyleCnt="7">
        <dgm:presLayoutVars>
          <dgm:bulletEnabled val="1"/>
        </dgm:presLayoutVars>
      </dgm:prSet>
      <dgm:spPr/>
      <dgm:t>
        <a:bodyPr/>
        <a:lstStyle/>
        <a:p>
          <a:endParaRPr lang="zh-CN" altLang="en-US"/>
        </a:p>
      </dgm:t>
    </dgm:pt>
    <dgm:pt modelId="{1B8C93B4-5736-4439-8097-2C5897F5DFCF}" type="pres">
      <dgm:prSet presAssocID="{0AD4DAF9-71FE-4498-B646-990D4425A5C7}" presName="sibTrans" presStyleLbl="sibTrans2D1" presStyleIdx="3" presStyleCnt="6"/>
      <dgm:spPr/>
      <dgm:t>
        <a:bodyPr/>
        <a:lstStyle/>
        <a:p>
          <a:endParaRPr lang="zh-CN" altLang="en-US"/>
        </a:p>
      </dgm:t>
    </dgm:pt>
    <dgm:pt modelId="{00C291E5-79A5-4E9B-9969-9D3CB3699726}" type="pres">
      <dgm:prSet presAssocID="{0AD4DAF9-71FE-4498-B646-990D4425A5C7}" presName="connectorText" presStyleLbl="sibTrans2D1" presStyleIdx="3" presStyleCnt="6"/>
      <dgm:spPr/>
      <dgm:t>
        <a:bodyPr/>
        <a:lstStyle/>
        <a:p>
          <a:endParaRPr lang="zh-CN" altLang="en-US"/>
        </a:p>
      </dgm:t>
    </dgm:pt>
    <dgm:pt modelId="{6863D4D8-162E-44D9-9D4B-5CFB923D0B34}" type="pres">
      <dgm:prSet presAssocID="{8D9F67CF-039D-4A67-9ED7-DEF6E8576389}" presName="node" presStyleLbl="node1" presStyleIdx="4" presStyleCnt="7">
        <dgm:presLayoutVars>
          <dgm:bulletEnabled val="1"/>
        </dgm:presLayoutVars>
      </dgm:prSet>
      <dgm:spPr/>
      <dgm:t>
        <a:bodyPr/>
        <a:lstStyle/>
        <a:p>
          <a:endParaRPr lang="zh-CN" altLang="en-US"/>
        </a:p>
      </dgm:t>
    </dgm:pt>
    <dgm:pt modelId="{F09560BC-A31E-48C2-86F5-F29F79C243A4}" type="pres">
      <dgm:prSet presAssocID="{B9AEFC6F-7332-457E-A5BA-45E4E87D7702}" presName="sibTrans" presStyleLbl="sibTrans2D1" presStyleIdx="4" presStyleCnt="6"/>
      <dgm:spPr/>
      <dgm:t>
        <a:bodyPr/>
        <a:lstStyle/>
        <a:p>
          <a:endParaRPr lang="zh-CN" altLang="en-US"/>
        </a:p>
      </dgm:t>
    </dgm:pt>
    <dgm:pt modelId="{C6A7FE66-AE4A-4477-BE50-18CF6C3BAB92}" type="pres">
      <dgm:prSet presAssocID="{B9AEFC6F-7332-457E-A5BA-45E4E87D7702}" presName="connectorText" presStyleLbl="sibTrans2D1" presStyleIdx="4" presStyleCnt="6"/>
      <dgm:spPr/>
      <dgm:t>
        <a:bodyPr/>
        <a:lstStyle/>
        <a:p>
          <a:endParaRPr lang="zh-CN" altLang="en-US"/>
        </a:p>
      </dgm:t>
    </dgm:pt>
    <dgm:pt modelId="{AAEC9472-F8D8-45B3-80D1-EDBC42552B76}" type="pres">
      <dgm:prSet presAssocID="{6B7C0A1E-2418-4851-B3EB-06691DB2F803}" presName="node" presStyleLbl="node1" presStyleIdx="5" presStyleCnt="7">
        <dgm:presLayoutVars>
          <dgm:bulletEnabled val="1"/>
        </dgm:presLayoutVars>
      </dgm:prSet>
      <dgm:spPr/>
      <dgm:t>
        <a:bodyPr/>
        <a:lstStyle/>
        <a:p>
          <a:endParaRPr lang="zh-CN" altLang="en-US"/>
        </a:p>
      </dgm:t>
    </dgm:pt>
    <dgm:pt modelId="{0F2C18FB-3015-4A44-8693-55B2EF32B124}" type="pres">
      <dgm:prSet presAssocID="{ADDE1044-E457-4214-8C11-7E7E8BA2D441}" presName="sibTrans" presStyleLbl="sibTrans2D1" presStyleIdx="5" presStyleCnt="6"/>
      <dgm:spPr/>
      <dgm:t>
        <a:bodyPr/>
        <a:lstStyle/>
        <a:p>
          <a:endParaRPr lang="zh-CN" altLang="en-US"/>
        </a:p>
      </dgm:t>
    </dgm:pt>
    <dgm:pt modelId="{6D75FE52-828E-4283-BB90-5CB1341A2FC7}" type="pres">
      <dgm:prSet presAssocID="{ADDE1044-E457-4214-8C11-7E7E8BA2D441}" presName="connectorText" presStyleLbl="sibTrans2D1" presStyleIdx="5" presStyleCnt="6"/>
      <dgm:spPr/>
      <dgm:t>
        <a:bodyPr/>
        <a:lstStyle/>
        <a:p>
          <a:endParaRPr lang="zh-CN" altLang="en-US"/>
        </a:p>
      </dgm:t>
    </dgm:pt>
    <dgm:pt modelId="{5DF3DFE4-A6E1-4ADE-9560-D73B66BCFABB}" type="pres">
      <dgm:prSet presAssocID="{4F958379-3A1F-48DE-A8E6-92ACBB1CF0B0}" presName="node" presStyleLbl="node1" presStyleIdx="6" presStyleCnt="7">
        <dgm:presLayoutVars>
          <dgm:bulletEnabled val="1"/>
        </dgm:presLayoutVars>
      </dgm:prSet>
      <dgm:spPr/>
      <dgm:t>
        <a:bodyPr/>
        <a:lstStyle/>
        <a:p>
          <a:endParaRPr lang="zh-CN" altLang="en-US"/>
        </a:p>
      </dgm:t>
    </dgm:pt>
  </dgm:ptLst>
  <dgm:cxnLst>
    <dgm:cxn modelId="{2CC81922-DC79-481E-9625-DD51856A3151}" type="presOf" srcId="{B9AEFC6F-7332-457E-A5BA-45E4E87D7702}" destId="{F09560BC-A31E-48C2-86F5-F29F79C243A4}" srcOrd="0" destOrd="0" presId="urn:microsoft.com/office/officeart/2005/8/layout/process2"/>
    <dgm:cxn modelId="{016FE800-8B00-4A5A-B6D4-6BE9C2E18671}" type="presOf" srcId="{0AD4DAF9-71FE-4498-B646-990D4425A5C7}" destId="{00C291E5-79A5-4E9B-9969-9D3CB3699726}" srcOrd="1" destOrd="0" presId="urn:microsoft.com/office/officeart/2005/8/layout/process2"/>
    <dgm:cxn modelId="{A3065FDE-13FF-48CE-9103-129D65F71970}" srcId="{8D9F67CF-039D-4A67-9ED7-DEF6E8576389}" destId="{2F26F143-E7F4-4ABE-954F-52D6F6385FEB}" srcOrd="0" destOrd="0" parTransId="{94B6C7C3-9BE9-49EA-A2A4-B85C4781899E}" sibTransId="{6DDC558D-4F16-4F7F-8028-35C36A003BFE}"/>
    <dgm:cxn modelId="{9C18B6AA-7C97-459D-8312-7A19C20F67E3}" type="presOf" srcId="{AC34D787-DA75-43B2-9D09-6D5CA9DDE9B2}" destId="{348F27B6-1733-4B67-B540-005DE47EA7CC}" srcOrd="0" destOrd="0" presId="urn:microsoft.com/office/officeart/2005/8/layout/process2"/>
    <dgm:cxn modelId="{B533ECE2-6663-4B72-8D06-7F35916C12CF}" srcId="{8E7AA750-199E-41C9-9A0B-EFC9BB7290A9}" destId="{C44AB041-C640-41CE-9E0A-34358A1ABCF7}" srcOrd="0" destOrd="0" parTransId="{E13E1BAE-E59A-4B44-B202-C9BC71481746}" sibTransId="{AC34D787-DA75-43B2-9D09-6D5CA9DDE9B2}"/>
    <dgm:cxn modelId="{E26424B3-18B8-44C0-97A7-98690C761D46}" type="presOf" srcId="{D0F471DC-C7E8-4974-A2B4-CCD8DDDD874B}" destId="{B9987992-2CE4-45F6-BF5D-8D41ACA64926}" srcOrd="1" destOrd="0" presId="urn:microsoft.com/office/officeart/2005/8/layout/process2"/>
    <dgm:cxn modelId="{16D99A7F-CF00-4123-9E2E-CEFA891F9D95}" type="presOf" srcId="{7F7D1BF1-C8E2-4916-AEB1-DBB947083353}" destId="{618ED9C9-5DF1-470E-98A8-EDAEBAE215CC}" srcOrd="0" destOrd="0" presId="urn:microsoft.com/office/officeart/2005/8/layout/process2"/>
    <dgm:cxn modelId="{30A92186-C232-47BC-B921-D12D5058E1C7}" type="presOf" srcId="{ADDE1044-E457-4214-8C11-7E7E8BA2D441}" destId="{6D75FE52-828E-4283-BB90-5CB1341A2FC7}" srcOrd="1" destOrd="0" presId="urn:microsoft.com/office/officeart/2005/8/layout/process2"/>
    <dgm:cxn modelId="{515CF4F1-F734-4B48-A4F5-A816E8918BF5}" type="presOf" srcId="{132ECA56-61AB-47CB-9B9B-4D335C25AC15}" destId="{3223C6E9-C699-4619-9109-4178FF1A92B1}" srcOrd="0" destOrd="0" presId="urn:microsoft.com/office/officeart/2005/8/layout/process2"/>
    <dgm:cxn modelId="{52385990-5CA8-4D48-95D9-00D4E322560A}" type="presOf" srcId="{AC34D787-DA75-43B2-9D09-6D5CA9DDE9B2}" destId="{B124345E-6F27-46B5-8B79-20A200E1B603}" srcOrd="1" destOrd="0" presId="urn:microsoft.com/office/officeart/2005/8/layout/process2"/>
    <dgm:cxn modelId="{C7860E2A-7D68-45D4-9641-34CB55DDB5CA}" srcId="{8E7AA750-199E-41C9-9A0B-EFC9BB7290A9}" destId="{7F7D1BF1-C8E2-4916-AEB1-DBB947083353}" srcOrd="1" destOrd="0" parTransId="{4D1F2C3A-1DDC-4008-9781-789AFCDC66E5}" sibTransId="{D0F471DC-C7E8-4974-A2B4-CCD8DDDD874B}"/>
    <dgm:cxn modelId="{4AE6F081-FEE6-4A59-9957-DEBEA608AEAA}" type="presOf" srcId="{6B7C0A1E-2418-4851-B3EB-06691DB2F803}" destId="{AAEC9472-F8D8-45B3-80D1-EDBC42552B76}" srcOrd="0" destOrd="0" presId="urn:microsoft.com/office/officeart/2005/8/layout/process2"/>
    <dgm:cxn modelId="{B393F525-79CD-4AEF-AE4B-40A47DF40439}" type="presOf" srcId="{132ECA56-61AB-47CB-9B9B-4D335C25AC15}" destId="{618AA5A0-3710-4B43-B17E-A855B00DFC43}" srcOrd="1" destOrd="0" presId="urn:microsoft.com/office/officeart/2005/8/layout/process2"/>
    <dgm:cxn modelId="{D204AD89-6502-4BD2-AF2E-ED93802AB526}" type="presOf" srcId="{34758D7E-FB89-44BD-9184-FCCA5FFAA9B5}" destId="{2238EA99-1518-4531-87B1-3EA373087377}" srcOrd="0" destOrd="0" presId="urn:microsoft.com/office/officeart/2005/8/layout/process2"/>
    <dgm:cxn modelId="{0CEC2708-DD18-42DE-9306-530599C39388}" type="presOf" srcId="{4F958379-3A1F-48DE-A8E6-92ACBB1CF0B0}" destId="{5DF3DFE4-A6E1-4ADE-9560-D73B66BCFABB}" srcOrd="0" destOrd="0" presId="urn:microsoft.com/office/officeart/2005/8/layout/process2"/>
    <dgm:cxn modelId="{4DF2001B-C9CB-4D6C-9685-731470DB82B3}" type="presOf" srcId="{B167A30C-8B34-4176-BB9F-B1E652EC54AF}" destId="{9A9560C0-37FB-44FD-9EC0-2B5382697354}" srcOrd="0" destOrd="0" presId="urn:microsoft.com/office/officeart/2005/8/layout/process2"/>
    <dgm:cxn modelId="{AB69F11F-4210-4375-AD4E-8B62226BC6AF}" type="presOf" srcId="{8D9F67CF-039D-4A67-9ED7-DEF6E8576389}" destId="{6863D4D8-162E-44D9-9D4B-5CFB923D0B34}" srcOrd="0" destOrd="0" presId="urn:microsoft.com/office/officeart/2005/8/layout/process2"/>
    <dgm:cxn modelId="{B80A0156-995A-4B32-935A-E69060525979}" type="presOf" srcId="{2F26F143-E7F4-4ABE-954F-52D6F6385FEB}" destId="{6863D4D8-162E-44D9-9D4B-5CFB923D0B34}" srcOrd="0" destOrd="1" presId="urn:microsoft.com/office/officeart/2005/8/layout/process2"/>
    <dgm:cxn modelId="{4EE79B0F-B92B-423D-A0DC-AD64E783B7A0}" srcId="{8E7AA750-199E-41C9-9A0B-EFC9BB7290A9}" destId="{8D9F67CF-039D-4A67-9ED7-DEF6E8576389}" srcOrd="4" destOrd="0" parTransId="{CC1A8077-4960-4D00-8917-47F071123210}" sibTransId="{B9AEFC6F-7332-457E-A5BA-45E4E87D7702}"/>
    <dgm:cxn modelId="{FE1A0000-C855-406F-8603-29831E9E10A2}" type="presOf" srcId="{D0F471DC-C7E8-4974-A2B4-CCD8DDDD874B}" destId="{81A1101A-CB20-4EFC-8F8C-17B3B2EF98BC}" srcOrd="0" destOrd="0" presId="urn:microsoft.com/office/officeart/2005/8/layout/process2"/>
    <dgm:cxn modelId="{614AD749-ED53-44D1-9936-0F8BDBD3BF59}" type="presOf" srcId="{0AD4DAF9-71FE-4498-B646-990D4425A5C7}" destId="{1B8C93B4-5736-4439-8097-2C5897F5DFCF}" srcOrd="0" destOrd="0" presId="urn:microsoft.com/office/officeart/2005/8/layout/process2"/>
    <dgm:cxn modelId="{2F58AC61-E6BF-4C63-9BC0-95221C87A40D}" type="presOf" srcId="{B9AEFC6F-7332-457E-A5BA-45E4E87D7702}" destId="{C6A7FE66-AE4A-4477-BE50-18CF6C3BAB92}" srcOrd="1" destOrd="0" presId="urn:microsoft.com/office/officeart/2005/8/layout/process2"/>
    <dgm:cxn modelId="{BE30FAD7-753C-4B86-9622-108C6BB4867A}" type="presOf" srcId="{ADDE1044-E457-4214-8C11-7E7E8BA2D441}" destId="{0F2C18FB-3015-4A44-8693-55B2EF32B124}" srcOrd="0" destOrd="0" presId="urn:microsoft.com/office/officeart/2005/8/layout/process2"/>
    <dgm:cxn modelId="{7E834AF3-CA37-4CCB-8B5E-4D9E0233CE4A}" srcId="{8E7AA750-199E-41C9-9A0B-EFC9BB7290A9}" destId="{B167A30C-8B34-4176-BB9F-B1E652EC54AF}" srcOrd="3" destOrd="0" parTransId="{AFCEC0BD-0F30-4F72-9DB0-D4919849D2BD}" sibTransId="{0AD4DAF9-71FE-4498-B646-990D4425A5C7}"/>
    <dgm:cxn modelId="{8BEEB451-ADE0-49AF-9B35-1F2ED192B11D}" srcId="{8E7AA750-199E-41C9-9A0B-EFC9BB7290A9}" destId="{6B7C0A1E-2418-4851-B3EB-06691DB2F803}" srcOrd="5" destOrd="0" parTransId="{B23CDA36-5D74-463C-99DD-01BD17DA1E19}" sibTransId="{ADDE1044-E457-4214-8C11-7E7E8BA2D441}"/>
    <dgm:cxn modelId="{FF25D615-5BF1-4002-B78D-BDD8EFE151D8}" srcId="{8E7AA750-199E-41C9-9A0B-EFC9BB7290A9}" destId="{4F958379-3A1F-48DE-A8E6-92ACBB1CF0B0}" srcOrd="6" destOrd="0" parTransId="{99B28860-F5F8-48C1-895C-EF8AD5F174C9}" sibTransId="{8716C61C-E430-4F27-81E2-F31DEAB564EE}"/>
    <dgm:cxn modelId="{745255DC-AA60-44AE-BB38-8730DD28A6D8}" srcId="{8E7AA750-199E-41C9-9A0B-EFC9BB7290A9}" destId="{34758D7E-FB89-44BD-9184-FCCA5FFAA9B5}" srcOrd="2" destOrd="0" parTransId="{E72A63A3-4CE9-4DCC-AB0A-375BE37730CE}" sibTransId="{132ECA56-61AB-47CB-9B9B-4D335C25AC15}"/>
    <dgm:cxn modelId="{B1B0582D-7550-49F7-A20B-12BB1016EA58}" type="presOf" srcId="{C44AB041-C640-41CE-9E0A-34358A1ABCF7}" destId="{169A66D0-D796-465C-A771-EBA978983B6A}" srcOrd="0" destOrd="0" presId="urn:microsoft.com/office/officeart/2005/8/layout/process2"/>
    <dgm:cxn modelId="{65A5CE35-8E60-46FD-B83D-8A7FFDC11671}" type="presOf" srcId="{8E7AA750-199E-41C9-9A0B-EFC9BB7290A9}" destId="{16DAD7A9-0E1E-44B4-9C19-8E623308B5B1}" srcOrd="0" destOrd="0" presId="urn:microsoft.com/office/officeart/2005/8/layout/process2"/>
    <dgm:cxn modelId="{D1BC24C0-DC1C-410A-94F5-C18C99DCD010}" type="presParOf" srcId="{16DAD7A9-0E1E-44B4-9C19-8E623308B5B1}" destId="{169A66D0-D796-465C-A771-EBA978983B6A}" srcOrd="0" destOrd="0" presId="urn:microsoft.com/office/officeart/2005/8/layout/process2"/>
    <dgm:cxn modelId="{4E60D936-61BB-4AEB-86FE-1B6A979C1257}" type="presParOf" srcId="{16DAD7A9-0E1E-44B4-9C19-8E623308B5B1}" destId="{348F27B6-1733-4B67-B540-005DE47EA7CC}" srcOrd="1" destOrd="0" presId="urn:microsoft.com/office/officeart/2005/8/layout/process2"/>
    <dgm:cxn modelId="{0191036C-380E-456D-A907-C6E069FE7626}" type="presParOf" srcId="{348F27B6-1733-4B67-B540-005DE47EA7CC}" destId="{B124345E-6F27-46B5-8B79-20A200E1B603}" srcOrd="0" destOrd="0" presId="urn:microsoft.com/office/officeart/2005/8/layout/process2"/>
    <dgm:cxn modelId="{ABD996E3-8E4F-43C0-BDF4-93382AF6549A}" type="presParOf" srcId="{16DAD7A9-0E1E-44B4-9C19-8E623308B5B1}" destId="{618ED9C9-5DF1-470E-98A8-EDAEBAE215CC}" srcOrd="2" destOrd="0" presId="urn:microsoft.com/office/officeart/2005/8/layout/process2"/>
    <dgm:cxn modelId="{09721133-29D7-4CF6-8C05-52CA0FCBA6F7}" type="presParOf" srcId="{16DAD7A9-0E1E-44B4-9C19-8E623308B5B1}" destId="{81A1101A-CB20-4EFC-8F8C-17B3B2EF98BC}" srcOrd="3" destOrd="0" presId="urn:microsoft.com/office/officeart/2005/8/layout/process2"/>
    <dgm:cxn modelId="{54CDC4A6-D2FA-41AB-BDC6-B77CB3F43B08}" type="presParOf" srcId="{81A1101A-CB20-4EFC-8F8C-17B3B2EF98BC}" destId="{B9987992-2CE4-45F6-BF5D-8D41ACA64926}" srcOrd="0" destOrd="0" presId="urn:microsoft.com/office/officeart/2005/8/layout/process2"/>
    <dgm:cxn modelId="{BD48CC54-D62E-4C5D-9E1C-2D4153A1DB8F}" type="presParOf" srcId="{16DAD7A9-0E1E-44B4-9C19-8E623308B5B1}" destId="{2238EA99-1518-4531-87B1-3EA373087377}" srcOrd="4" destOrd="0" presId="urn:microsoft.com/office/officeart/2005/8/layout/process2"/>
    <dgm:cxn modelId="{E9A31B7A-60E0-47DA-8342-E0B39DFC9D01}" type="presParOf" srcId="{16DAD7A9-0E1E-44B4-9C19-8E623308B5B1}" destId="{3223C6E9-C699-4619-9109-4178FF1A92B1}" srcOrd="5" destOrd="0" presId="urn:microsoft.com/office/officeart/2005/8/layout/process2"/>
    <dgm:cxn modelId="{E0B6EFD9-D484-404D-B7B1-BEED78E5BCE8}" type="presParOf" srcId="{3223C6E9-C699-4619-9109-4178FF1A92B1}" destId="{618AA5A0-3710-4B43-B17E-A855B00DFC43}" srcOrd="0" destOrd="0" presId="urn:microsoft.com/office/officeart/2005/8/layout/process2"/>
    <dgm:cxn modelId="{C916C01A-74D7-4FEE-9AEA-2F076A829EBA}" type="presParOf" srcId="{16DAD7A9-0E1E-44B4-9C19-8E623308B5B1}" destId="{9A9560C0-37FB-44FD-9EC0-2B5382697354}" srcOrd="6" destOrd="0" presId="urn:microsoft.com/office/officeart/2005/8/layout/process2"/>
    <dgm:cxn modelId="{C0F6F25A-A4C3-4D97-AD0E-02457B34E43A}" type="presParOf" srcId="{16DAD7A9-0E1E-44B4-9C19-8E623308B5B1}" destId="{1B8C93B4-5736-4439-8097-2C5897F5DFCF}" srcOrd="7" destOrd="0" presId="urn:microsoft.com/office/officeart/2005/8/layout/process2"/>
    <dgm:cxn modelId="{A29B5059-2E95-458C-B4C4-CC3D815798AC}" type="presParOf" srcId="{1B8C93B4-5736-4439-8097-2C5897F5DFCF}" destId="{00C291E5-79A5-4E9B-9969-9D3CB3699726}" srcOrd="0" destOrd="0" presId="urn:microsoft.com/office/officeart/2005/8/layout/process2"/>
    <dgm:cxn modelId="{29D7015D-DF7B-4D26-B3C0-1FCEA4B3CA34}" type="presParOf" srcId="{16DAD7A9-0E1E-44B4-9C19-8E623308B5B1}" destId="{6863D4D8-162E-44D9-9D4B-5CFB923D0B34}" srcOrd="8" destOrd="0" presId="urn:microsoft.com/office/officeart/2005/8/layout/process2"/>
    <dgm:cxn modelId="{B39705DD-44E0-4CFF-B3F9-F1CBEE149DD7}" type="presParOf" srcId="{16DAD7A9-0E1E-44B4-9C19-8E623308B5B1}" destId="{F09560BC-A31E-48C2-86F5-F29F79C243A4}" srcOrd="9" destOrd="0" presId="urn:microsoft.com/office/officeart/2005/8/layout/process2"/>
    <dgm:cxn modelId="{19FC7DB2-0B42-4EC4-AF4C-87B22D4F0C20}" type="presParOf" srcId="{F09560BC-A31E-48C2-86F5-F29F79C243A4}" destId="{C6A7FE66-AE4A-4477-BE50-18CF6C3BAB92}" srcOrd="0" destOrd="0" presId="urn:microsoft.com/office/officeart/2005/8/layout/process2"/>
    <dgm:cxn modelId="{36B4FB46-13EC-474C-A914-996B87DAE592}" type="presParOf" srcId="{16DAD7A9-0E1E-44B4-9C19-8E623308B5B1}" destId="{AAEC9472-F8D8-45B3-80D1-EDBC42552B76}" srcOrd="10" destOrd="0" presId="urn:microsoft.com/office/officeart/2005/8/layout/process2"/>
    <dgm:cxn modelId="{BA1F3F06-139D-42A2-B833-C0BC9EAA9472}" type="presParOf" srcId="{16DAD7A9-0E1E-44B4-9C19-8E623308B5B1}" destId="{0F2C18FB-3015-4A44-8693-55B2EF32B124}" srcOrd="11" destOrd="0" presId="urn:microsoft.com/office/officeart/2005/8/layout/process2"/>
    <dgm:cxn modelId="{87FD9326-C866-4EB1-AC45-EF69BF2B136C}" type="presParOf" srcId="{0F2C18FB-3015-4A44-8693-55B2EF32B124}" destId="{6D75FE52-828E-4283-BB90-5CB1341A2FC7}" srcOrd="0" destOrd="0" presId="urn:microsoft.com/office/officeart/2005/8/layout/process2"/>
    <dgm:cxn modelId="{7F1AAD3F-F1A9-40C0-A295-AB464310781C}" type="presParOf" srcId="{16DAD7A9-0E1E-44B4-9C19-8E623308B5B1}" destId="{5DF3DFE4-A6E1-4ADE-9560-D73B66BCFABB}" srcOrd="12" destOrd="0" presId="urn:microsoft.com/office/officeart/2005/8/layout/process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E7AA750-199E-41C9-9A0B-EFC9BB7290A9}" type="doc">
      <dgm:prSet loTypeId="urn:microsoft.com/office/officeart/2005/8/layout/process2" loCatId="process" qsTypeId="urn:microsoft.com/office/officeart/2005/8/quickstyle/simple1" qsCatId="simple" csTypeId="urn:microsoft.com/office/officeart/2005/8/colors/accent1_2" csCatId="accent1" phldr="1"/>
      <dgm:spPr/>
    </dgm:pt>
    <dgm:pt modelId="{C44AB041-C640-41CE-9E0A-34358A1ABCF7}">
      <dgm:prSet phldrT="[文本]" custT="1"/>
      <dgm:spPr/>
      <dgm:t>
        <a:bodyPr/>
        <a:lstStyle/>
        <a:p>
          <a:pPr algn="ctr"/>
          <a:r>
            <a:rPr lang="zh-CN" altLang="en-US" sz="1600" dirty="0" smtClean="0"/>
            <a:t>主循环</a:t>
          </a:r>
          <a:endParaRPr lang="zh-CN" altLang="en-US" sz="1600" dirty="0"/>
        </a:p>
      </dgm:t>
    </dgm:pt>
    <dgm:pt modelId="{E13E1BAE-E59A-4B44-B202-C9BC71481746}" cxnId="{B533ECE2-6663-4B72-8D06-7F35916C12CF}" type="parTrans">
      <dgm:prSet/>
      <dgm:spPr/>
      <dgm:t>
        <a:bodyPr/>
        <a:lstStyle/>
        <a:p>
          <a:pPr algn="ctr"/>
          <a:endParaRPr lang="zh-CN" altLang="en-US" sz="2000"/>
        </a:p>
      </dgm:t>
    </dgm:pt>
    <dgm:pt modelId="{AC34D787-DA75-43B2-9D09-6D5CA9DDE9B2}" cxnId="{B533ECE2-6663-4B72-8D06-7F35916C12CF}" type="sibTrans">
      <dgm:prSet custT="1"/>
      <dgm:spPr/>
      <dgm:t>
        <a:bodyPr/>
        <a:lstStyle/>
        <a:p>
          <a:pPr algn="ctr"/>
          <a:endParaRPr lang="zh-CN" altLang="en-US" sz="1200"/>
        </a:p>
      </dgm:t>
    </dgm:pt>
    <dgm:pt modelId="{6B7C0A1E-2418-4851-B3EB-06691DB2F803}">
      <dgm:prSet phldrT="[文本]" custT="1"/>
      <dgm:spPr/>
      <dgm:t>
        <a:bodyPr/>
        <a:lstStyle/>
        <a:p>
          <a:pPr algn="ctr"/>
          <a:r>
            <a:rPr lang="zh-CN" altLang="en-US" sz="1600" dirty="0" smtClean="0"/>
            <a:t>恢复现场</a:t>
          </a:r>
          <a:endParaRPr lang="zh-CN" altLang="en-US" sz="1600" dirty="0"/>
        </a:p>
      </dgm:t>
    </dgm:pt>
    <dgm:pt modelId="{B23CDA36-5D74-463C-99DD-01BD17DA1E19}" cxnId="{8BEEB451-ADE0-49AF-9B35-1F2ED192B11D}" type="parTrans">
      <dgm:prSet/>
      <dgm:spPr/>
      <dgm:t>
        <a:bodyPr/>
        <a:lstStyle/>
        <a:p>
          <a:pPr algn="ctr"/>
          <a:endParaRPr lang="zh-CN" altLang="en-US" sz="2000"/>
        </a:p>
      </dgm:t>
    </dgm:pt>
    <dgm:pt modelId="{ADDE1044-E457-4214-8C11-7E7E8BA2D441}" cxnId="{8BEEB451-ADE0-49AF-9B35-1F2ED192B11D}" type="sibTrans">
      <dgm:prSet custT="1"/>
      <dgm:spPr/>
      <dgm:t>
        <a:bodyPr/>
        <a:lstStyle/>
        <a:p>
          <a:pPr algn="ctr"/>
          <a:endParaRPr lang="zh-CN" altLang="en-US" sz="1200"/>
        </a:p>
      </dgm:t>
    </dgm:pt>
    <dgm:pt modelId="{4F958379-3A1F-48DE-A8E6-92ACBB1CF0B0}">
      <dgm:prSet phldrT="[文本]" custT="1"/>
      <dgm:spPr/>
      <dgm:t>
        <a:bodyPr/>
        <a:lstStyle/>
        <a:p>
          <a:pPr algn="ctr"/>
          <a:r>
            <a:rPr lang="zh-CN" altLang="en-US" sz="1600" dirty="0" smtClean="0"/>
            <a:t>主循环</a:t>
          </a:r>
          <a:endParaRPr lang="zh-CN" altLang="en-US" sz="1600" dirty="0"/>
        </a:p>
      </dgm:t>
    </dgm:pt>
    <dgm:pt modelId="{99B28860-F5F8-48C1-895C-EF8AD5F174C9}" cxnId="{FF25D615-5BF1-4002-B78D-BDD8EFE151D8}" type="parTrans">
      <dgm:prSet/>
      <dgm:spPr/>
      <dgm:t>
        <a:bodyPr/>
        <a:lstStyle/>
        <a:p>
          <a:pPr algn="ctr"/>
          <a:endParaRPr lang="zh-CN" altLang="en-US" sz="2000"/>
        </a:p>
      </dgm:t>
    </dgm:pt>
    <dgm:pt modelId="{8716C61C-E430-4F27-81E2-F31DEAB564EE}" cxnId="{FF25D615-5BF1-4002-B78D-BDD8EFE151D8}" type="sibTrans">
      <dgm:prSet/>
      <dgm:spPr/>
      <dgm:t>
        <a:bodyPr/>
        <a:lstStyle/>
        <a:p>
          <a:pPr algn="ctr"/>
          <a:endParaRPr lang="zh-CN" altLang="en-US" sz="2000"/>
        </a:p>
      </dgm:t>
    </dgm:pt>
    <dgm:pt modelId="{7F7D1BF1-C8E2-4916-AEB1-DBB947083353}">
      <dgm:prSet phldrT="[文本]" custT="1"/>
      <dgm:spPr/>
      <dgm:t>
        <a:bodyPr/>
        <a:lstStyle/>
        <a:p>
          <a:pPr algn="ctr"/>
          <a:r>
            <a:rPr lang="zh-CN" altLang="en-US" sz="1600" dirty="0" smtClean="0"/>
            <a:t>触发</a:t>
          </a:r>
          <a:r>
            <a:rPr lang="en-US" altLang="zh-CN" sz="1600" dirty="0" err="1" smtClean="0"/>
            <a:t>SysTick</a:t>
          </a:r>
          <a:r>
            <a:rPr lang="zh-CN" altLang="en-US" sz="1600" dirty="0" smtClean="0"/>
            <a:t>中断</a:t>
          </a:r>
          <a:endParaRPr lang="zh-CN" altLang="en-US" sz="1600" dirty="0"/>
        </a:p>
      </dgm:t>
    </dgm:pt>
    <dgm:pt modelId="{4D1F2C3A-1DDC-4008-9781-789AFCDC66E5}" cxnId="{C7860E2A-7D68-45D4-9641-34CB55DDB5CA}" type="parTrans">
      <dgm:prSet/>
      <dgm:spPr/>
      <dgm:t>
        <a:bodyPr/>
        <a:lstStyle/>
        <a:p>
          <a:pPr algn="ctr"/>
          <a:endParaRPr lang="zh-CN" altLang="en-US" sz="2000"/>
        </a:p>
      </dgm:t>
    </dgm:pt>
    <dgm:pt modelId="{D0F471DC-C7E8-4974-A2B4-CCD8DDDD874B}" cxnId="{C7860E2A-7D68-45D4-9641-34CB55DDB5CA}" type="sibTrans">
      <dgm:prSet custT="1"/>
      <dgm:spPr/>
      <dgm:t>
        <a:bodyPr/>
        <a:lstStyle/>
        <a:p>
          <a:pPr algn="ctr"/>
          <a:endParaRPr lang="zh-CN" altLang="en-US" sz="1200"/>
        </a:p>
      </dgm:t>
    </dgm:pt>
    <dgm:pt modelId="{2F26F143-E7F4-4ABE-954F-52D6F6385FEB}">
      <dgm:prSet phldrT="[文本]" custT="1"/>
      <dgm:spPr/>
      <dgm:t>
        <a:bodyPr/>
        <a:lstStyle/>
        <a:p>
          <a:pPr algn="ctr"/>
          <a:r>
            <a:rPr lang="en-US" altLang="zh-CN" sz="1200" dirty="0" err="1" smtClean="0"/>
            <a:t>systemTimeInMs</a:t>
          </a:r>
          <a:r>
            <a:rPr lang="en-US" altLang="zh-CN" sz="1200" dirty="0" smtClean="0"/>
            <a:t>++</a:t>
          </a:r>
          <a:endParaRPr lang="zh-CN" altLang="en-US" sz="1200" dirty="0"/>
        </a:p>
      </dgm:t>
    </dgm:pt>
    <dgm:pt modelId="{94B6C7C3-9BE9-49EA-A2A4-B85C4781899E}" cxnId="{A3065FDE-13FF-48CE-9103-129D65F71970}" type="parTrans">
      <dgm:prSet/>
      <dgm:spPr/>
      <dgm:t>
        <a:bodyPr/>
        <a:lstStyle/>
        <a:p>
          <a:pPr algn="ctr"/>
          <a:endParaRPr lang="zh-CN" altLang="en-US" sz="2000"/>
        </a:p>
      </dgm:t>
    </dgm:pt>
    <dgm:pt modelId="{6DDC558D-4F16-4F7F-8028-35C36A003BFE}" cxnId="{A3065FDE-13FF-48CE-9103-129D65F71970}" type="sibTrans">
      <dgm:prSet/>
      <dgm:spPr/>
      <dgm:t>
        <a:bodyPr/>
        <a:lstStyle/>
        <a:p>
          <a:pPr algn="ctr"/>
          <a:endParaRPr lang="zh-CN" altLang="en-US" sz="2000"/>
        </a:p>
      </dgm:t>
    </dgm:pt>
    <dgm:pt modelId="{34758D7E-FB89-44BD-9184-FCCA5FFAA9B5}">
      <dgm:prSet phldrT="[文本]" custT="1"/>
      <dgm:spPr/>
      <dgm:t>
        <a:bodyPr/>
        <a:lstStyle/>
        <a:p>
          <a:pPr algn="ctr"/>
          <a:r>
            <a:rPr lang="zh-CN" altLang="en-US" sz="1600" dirty="0" smtClean="0"/>
            <a:t>保护现场</a:t>
          </a:r>
          <a:endParaRPr lang="zh-CN" altLang="en-US" sz="1600" dirty="0"/>
        </a:p>
      </dgm:t>
    </dgm:pt>
    <dgm:pt modelId="{E72A63A3-4CE9-4DCC-AB0A-375BE37730CE}" cxnId="{745255DC-AA60-44AE-BB38-8730DD28A6D8}" type="parTrans">
      <dgm:prSet/>
      <dgm:spPr/>
      <dgm:t>
        <a:bodyPr/>
        <a:lstStyle/>
        <a:p>
          <a:pPr algn="ctr"/>
          <a:endParaRPr lang="zh-CN" altLang="en-US" sz="2000"/>
        </a:p>
      </dgm:t>
    </dgm:pt>
    <dgm:pt modelId="{132ECA56-61AB-47CB-9B9B-4D335C25AC15}" cxnId="{745255DC-AA60-44AE-BB38-8730DD28A6D8}" type="sibTrans">
      <dgm:prSet custT="1"/>
      <dgm:spPr/>
      <dgm:t>
        <a:bodyPr/>
        <a:lstStyle/>
        <a:p>
          <a:pPr algn="ctr"/>
          <a:endParaRPr lang="zh-CN" altLang="en-US" sz="1200"/>
        </a:p>
      </dgm:t>
    </dgm:pt>
    <dgm:pt modelId="{B167A30C-8B34-4176-BB9F-B1E652EC54AF}">
      <dgm:prSet phldrT="[文本]" custT="1"/>
      <dgm:spPr/>
      <dgm:t>
        <a:bodyPr/>
        <a:lstStyle/>
        <a:p>
          <a:pPr algn="ctr"/>
          <a:r>
            <a:rPr lang="zh-CN" altLang="en-US" sz="1600" dirty="0" smtClean="0"/>
            <a:t>跳转到中断服务函数</a:t>
          </a:r>
          <a:endParaRPr lang="zh-CN" altLang="en-US" sz="1600" dirty="0"/>
        </a:p>
      </dgm:t>
    </dgm:pt>
    <dgm:pt modelId="{AFCEC0BD-0F30-4F72-9DB0-D4919849D2BD}" cxnId="{7E834AF3-CA37-4CCB-8B5E-4D9E0233CE4A}" type="parTrans">
      <dgm:prSet/>
      <dgm:spPr/>
      <dgm:t>
        <a:bodyPr/>
        <a:lstStyle/>
        <a:p>
          <a:pPr algn="ctr"/>
          <a:endParaRPr lang="zh-CN" altLang="en-US" sz="2000"/>
        </a:p>
      </dgm:t>
    </dgm:pt>
    <dgm:pt modelId="{0AD4DAF9-71FE-4498-B646-990D4425A5C7}" cxnId="{7E834AF3-CA37-4CCB-8B5E-4D9E0233CE4A}" type="sibTrans">
      <dgm:prSet custT="1"/>
      <dgm:spPr/>
      <dgm:t>
        <a:bodyPr/>
        <a:lstStyle/>
        <a:p>
          <a:pPr algn="ctr"/>
          <a:endParaRPr lang="zh-CN" altLang="en-US" sz="1200"/>
        </a:p>
      </dgm:t>
    </dgm:pt>
    <dgm:pt modelId="{8D9F67CF-039D-4A67-9ED7-DEF6E8576389}">
      <dgm:prSet phldrT="[文本]" custT="1"/>
      <dgm:spPr/>
      <dgm:t>
        <a:bodyPr/>
        <a:lstStyle/>
        <a:p>
          <a:pPr algn="ctr"/>
          <a:r>
            <a:rPr lang="zh-CN" altLang="en-US" sz="1600" dirty="0" smtClean="0"/>
            <a:t>执行中断服务函数</a:t>
          </a:r>
          <a:endParaRPr lang="zh-CN" altLang="en-US" sz="1600" dirty="0"/>
        </a:p>
      </dgm:t>
    </dgm:pt>
    <dgm:pt modelId="{CC1A8077-4960-4D00-8917-47F071123210}" cxnId="{4EE79B0F-B92B-423D-A0DC-AD64E783B7A0}" type="parTrans">
      <dgm:prSet/>
      <dgm:spPr/>
      <dgm:t>
        <a:bodyPr/>
        <a:lstStyle/>
        <a:p>
          <a:pPr algn="ctr"/>
          <a:endParaRPr lang="zh-CN" altLang="en-US" sz="2000"/>
        </a:p>
      </dgm:t>
    </dgm:pt>
    <dgm:pt modelId="{B9AEFC6F-7332-457E-A5BA-45E4E87D7702}" cxnId="{4EE79B0F-B92B-423D-A0DC-AD64E783B7A0}" type="sibTrans">
      <dgm:prSet custT="1"/>
      <dgm:spPr/>
      <dgm:t>
        <a:bodyPr/>
        <a:lstStyle/>
        <a:p>
          <a:pPr algn="ctr"/>
          <a:endParaRPr lang="zh-CN" altLang="en-US" sz="1200"/>
        </a:p>
      </dgm:t>
    </dgm:pt>
    <dgm:pt modelId="{16DAD7A9-0E1E-44B4-9C19-8E623308B5B1}" type="pres">
      <dgm:prSet presAssocID="{8E7AA750-199E-41C9-9A0B-EFC9BB7290A9}" presName="linearFlow" presStyleCnt="0">
        <dgm:presLayoutVars>
          <dgm:resizeHandles val="exact"/>
        </dgm:presLayoutVars>
      </dgm:prSet>
      <dgm:spPr/>
    </dgm:pt>
    <dgm:pt modelId="{169A66D0-D796-465C-A771-EBA978983B6A}" type="pres">
      <dgm:prSet presAssocID="{C44AB041-C640-41CE-9E0A-34358A1ABCF7}" presName="node" presStyleLbl="node1" presStyleIdx="0" presStyleCnt="7">
        <dgm:presLayoutVars>
          <dgm:bulletEnabled val="1"/>
        </dgm:presLayoutVars>
      </dgm:prSet>
      <dgm:spPr/>
      <dgm:t>
        <a:bodyPr/>
        <a:lstStyle/>
        <a:p>
          <a:endParaRPr lang="zh-CN" altLang="en-US"/>
        </a:p>
      </dgm:t>
    </dgm:pt>
    <dgm:pt modelId="{348F27B6-1733-4B67-B540-005DE47EA7CC}" type="pres">
      <dgm:prSet presAssocID="{AC34D787-DA75-43B2-9D09-6D5CA9DDE9B2}" presName="sibTrans" presStyleLbl="sibTrans2D1" presStyleIdx="0" presStyleCnt="6"/>
      <dgm:spPr/>
      <dgm:t>
        <a:bodyPr/>
        <a:lstStyle/>
        <a:p>
          <a:endParaRPr lang="zh-CN" altLang="en-US"/>
        </a:p>
      </dgm:t>
    </dgm:pt>
    <dgm:pt modelId="{B124345E-6F27-46B5-8B79-20A200E1B603}" type="pres">
      <dgm:prSet presAssocID="{AC34D787-DA75-43B2-9D09-6D5CA9DDE9B2}" presName="connectorText" presStyleLbl="sibTrans2D1" presStyleIdx="0" presStyleCnt="6"/>
      <dgm:spPr/>
      <dgm:t>
        <a:bodyPr/>
        <a:lstStyle/>
        <a:p>
          <a:endParaRPr lang="zh-CN" altLang="en-US"/>
        </a:p>
      </dgm:t>
    </dgm:pt>
    <dgm:pt modelId="{618ED9C9-5DF1-470E-98A8-EDAEBAE215CC}" type="pres">
      <dgm:prSet presAssocID="{7F7D1BF1-C8E2-4916-AEB1-DBB947083353}" presName="node" presStyleLbl="node1" presStyleIdx="1" presStyleCnt="7">
        <dgm:presLayoutVars>
          <dgm:bulletEnabled val="1"/>
        </dgm:presLayoutVars>
      </dgm:prSet>
      <dgm:spPr/>
      <dgm:t>
        <a:bodyPr/>
        <a:lstStyle/>
        <a:p>
          <a:endParaRPr lang="zh-CN" altLang="en-US"/>
        </a:p>
      </dgm:t>
    </dgm:pt>
    <dgm:pt modelId="{81A1101A-CB20-4EFC-8F8C-17B3B2EF98BC}" type="pres">
      <dgm:prSet presAssocID="{D0F471DC-C7E8-4974-A2B4-CCD8DDDD874B}" presName="sibTrans" presStyleLbl="sibTrans2D1" presStyleIdx="1" presStyleCnt="6"/>
      <dgm:spPr/>
      <dgm:t>
        <a:bodyPr/>
        <a:lstStyle/>
        <a:p>
          <a:endParaRPr lang="zh-CN" altLang="en-US"/>
        </a:p>
      </dgm:t>
    </dgm:pt>
    <dgm:pt modelId="{B9987992-2CE4-45F6-BF5D-8D41ACA64926}" type="pres">
      <dgm:prSet presAssocID="{D0F471DC-C7E8-4974-A2B4-CCD8DDDD874B}" presName="connectorText" presStyleLbl="sibTrans2D1" presStyleIdx="1" presStyleCnt="6"/>
      <dgm:spPr/>
      <dgm:t>
        <a:bodyPr/>
        <a:lstStyle/>
        <a:p>
          <a:endParaRPr lang="zh-CN" altLang="en-US"/>
        </a:p>
      </dgm:t>
    </dgm:pt>
    <dgm:pt modelId="{2238EA99-1518-4531-87B1-3EA373087377}" type="pres">
      <dgm:prSet presAssocID="{34758D7E-FB89-44BD-9184-FCCA5FFAA9B5}" presName="node" presStyleLbl="node1" presStyleIdx="2" presStyleCnt="7">
        <dgm:presLayoutVars>
          <dgm:bulletEnabled val="1"/>
        </dgm:presLayoutVars>
      </dgm:prSet>
      <dgm:spPr/>
      <dgm:t>
        <a:bodyPr/>
        <a:lstStyle/>
        <a:p>
          <a:endParaRPr lang="zh-CN" altLang="en-US"/>
        </a:p>
      </dgm:t>
    </dgm:pt>
    <dgm:pt modelId="{3223C6E9-C699-4619-9109-4178FF1A92B1}" type="pres">
      <dgm:prSet presAssocID="{132ECA56-61AB-47CB-9B9B-4D335C25AC15}" presName="sibTrans" presStyleLbl="sibTrans2D1" presStyleIdx="2" presStyleCnt="6"/>
      <dgm:spPr/>
      <dgm:t>
        <a:bodyPr/>
        <a:lstStyle/>
        <a:p>
          <a:endParaRPr lang="zh-CN" altLang="en-US"/>
        </a:p>
      </dgm:t>
    </dgm:pt>
    <dgm:pt modelId="{618AA5A0-3710-4B43-B17E-A855B00DFC43}" type="pres">
      <dgm:prSet presAssocID="{132ECA56-61AB-47CB-9B9B-4D335C25AC15}" presName="connectorText" presStyleLbl="sibTrans2D1" presStyleIdx="2" presStyleCnt="6"/>
      <dgm:spPr/>
      <dgm:t>
        <a:bodyPr/>
        <a:lstStyle/>
        <a:p>
          <a:endParaRPr lang="zh-CN" altLang="en-US"/>
        </a:p>
      </dgm:t>
    </dgm:pt>
    <dgm:pt modelId="{9A9560C0-37FB-44FD-9EC0-2B5382697354}" type="pres">
      <dgm:prSet presAssocID="{B167A30C-8B34-4176-BB9F-B1E652EC54AF}" presName="node" presStyleLbl="node1" presStyleIdx="3" presStyleCnt="7">
        <dgm:presLayoutVars>
          <dgm:bulletEnabled val="1"/>
        </dgm:presLayoutVars>
      </dgm:prSet>
      <dgm:spPr/>
      <dgm:t>
        <a:bodyPr/>
        <a:lstStyle/>
        <a:p>
          <a:endParaRPr lang="zh-CN" altLang="en-US"/>
        </a:p>
      </dgm:t>
    </dgm:pt>
    <dgm:pt modelId="{1B8C93B4-5736-4439-8097-2C5897F5DFCF}" type="pres">
      <dgm:prSet presAssocID="{0AD4DAF9-71FE-4498-B646-990D4425A5C7}" presName="sibTrans" presStyleLbl="sibTrans2D1" presStyleIdx="3" presStyleCnt="6"/>
      <dgm:spPr/>
      <dgm:t>
        <a:bodyPr/>
        <a:lstStyle/>
        <a:p>
          <a:endParaRPr lang="zh-CN" altLang="en-US"/>
        </a:p>
      </dgm:t>
    </dgm:pt>
    <dgm:pt modelId="{00C291E5-79A5-4E9B-9969-9D3CB3699726}" type="pres">
      <dgm:prSet presAssocID="{0AD4DAF9-71FE-4498-B646-990D4425A5C7}" presName="connectorText" presStyleLbl="sibTrans2D1" presStyleIdx="3" presStyleCnt="6"/>
      <dgm:spPr/>
      <dgm:t>
        <a:bodyPr/>
        <a:lstStyle/>
        <a:p>
          <a:endParaRPr lang="zh-CN" altLang="en-US"/>
        </a:p>
      </dgm:t>
    </dgm:pt>
    <dgm:pt modelId="{6863D4D8-162E-44D9-9D4B-5CFB923D0B34}" type="pres">
      <dgm:prSet presAssocID="{8D9F67CF-039D-4A67-9ED7-DEF6E8576389}" presName="node" presStyleLbl="node1" presStyleIdx="4" presStyleCnt="7">
        <dgm:presLayoutVars>
          <dgm:bulletEnabled val="1"/>
        </dgm:presLayoutVars>
      </dgm:prSet>
      <dgm:spPr/>
      <dgm:t>
        <a:bodyPr/>
        <a:lstStyle/>
        <a:p>
          <a:endParaRPr lang="zh-CN" altLang="en-US"/>
        </a:p>
      </dgm:t>
    </dgm:pt>
    <dgm:pt modelId="{F09560BC-A31E-48C2-86F5-F29F79C243A4}" type="pres">
      <dgm:prSet presAssocID="{B9AEFC6F-7332-457E-A5BA-45E4E87D7702}" presName="sibTrans" presStyleLbl="sibTrans2D1" presStyleIdx="4" presStyleCnt="6"/>
      <dgm:spPr/>
      <dgm:t>
        <a:bodyPr/>
        <a:lstStyle/>
        <a:p>
          <a:endParaRPr lang="zh-CN" altLang="en-US"/>
        </a:p>
      </dgm:t>
    </dgm:pt>
    <dgm:pt modelId="{C6A7FE66-AE4A-4477-BE50-18CF6C3BAB92}" type="pres">
      <dgm:prSet presAssocID="{B9AEFC6F-7332-457E-A5BA-45E4E87D7702}" presName="connectorText" presStyleLbl="sibTrans2D1" presStyleIdx="4" presStyleCnt="6"/>
      <dgm:spPr/>
      <dgm:t>
        <a:bodyPr/>
        <a:lstStyle/>
        <a:p>
          <a:endParaRPr lang="zh-CN" altLang="en-US"/>
        </a:p>
      </dgm:t>
    </dgm:pt>
    <dgm:pt modelId="{AAEC9472-F8D8-45B3-80D1-EDBC42552B76}" type="pres">
      <dgm:prSet presAssocID="{6B7C0A1E-2418-4851-B3EB-06691DB2F803}" presName="node" presStyleLbl="node1" presStyleIdx="5" presStyleCnt="7">
        <dgm:presLayoutVars>
          <dgm:bulletEnabled val="1"/>
        </dgm:presLayoutVars>
      </dgm:prSet>
      <dgm:spPr/>
      <dgm:t>
        <a:bodyPr/>
        <a:lstStyle/>
        <a:p>
          <a:endParaRPr lang="zh-CN" altLang="en-US"/>
        </a:p>
      </dgm:t>
    </dgm:pt>
    <dgm:pt modelId="{0F2C18FB-3015-4A44-8693-55B2EF32B124}" type="pres">
      <dgm:prSet presAssocID="{ADDE1044-E457-4214-8C11-7E7E8BA2D441}" presName="sibTrans" presStyleLbl="sibTrans2D1" presStyleIdx="5" presStyleCnt="6"/>
      <dgm:spPr/>
      <dgm:t>
        <a:bodyPr/>
        <a:lstStyle/>
        <a:p>
          <a:endParaRPr lang="zh-CN" altLang="en-US"/>
        </a:p>
      </dgm:t>
    </dgm:pt>
    <dgm:pt modelId="{6D75FE52-828E-4283-BB90-5CB1341A2FC7}" type="pres">
      <dgm:prSet presAssocID="{ADDE1044-E457-4214-8C11-7E7E8BA2D441}" presName="connectorText" presStyleLbl="sibTrans2D1" presStyleIdx="5" presStyleCnt="6"/>
      <dgm:spPr/>
      <dgm:t>
        <a:bodyPr/>
        <a:lstStyle/>
        <a:p>
          <a:endParaRPr lang="zh-CN" altLang="en-US"/>
        </a:p>
      </dgm:t>
    </dgm:pt>
    <dgm:pt modelId="{5DF3DFE4-A6E1-4ADE-9560-D73B66BCFABB}" type="pres">
      <dgm:prSet presAssocID="{4F958379-3A1F-48DE-A8E6-92ACBB1CF0B0}" presName="node" presStyleLbl="node1" presStyleIdx="6" presStyleCnt="7">
        <dgm:presLayoutVars>
          <dgm:bulletEnabled val="1"/>
        </dgm:presLayoutVars>
      </dgm:prSet>
      <dgm:spPr/>
      <dgm:t>
        <a:bodyPr/>
        <a:lstStyle/>
        <a:p>
          <a:endParaRPr lang="zh-CN" altLang="en-US"/>
        </a:p>
      </dgm:t>
    </dgm:pt>
  </dgm:ptLst>
  <dgm:cxnLst>
    <dgm:cxn modelId="{2CC81922-DC79-481E-9625-DD51856A3151}" type="presOf" srcId="{B9AEFC6F-7332-457E-A5BA-45E4E87D7702}" destId="{F09560BC-A31E-48C2-86F5-F29F79C243A4}" srcOrd="0" destOrd="0" presId="urn:microsoft.com/office/officeart/2005/8/layout/process2"/>
    <dgm:cxn modelId="{016FE800-8B00-4A5A-B6D4-6BE9C2E18671}" type="presOf" srcId="{0AD4DAF9-71FE-4498-B646-990D4425A5C7}" destId="{00C291E5-79A5-4E9B-9969-9D3CB3699726}" srcOrd="1" destOrd="0" presId="urn:microsoft.com/office/officeart/2005/8/layout/process2"/>
    <dgm:cxn modelId="{A3065FDE-13FF-48CE-9103-129D65F71970}" srcId="{8D9F67CF-039D-4A67-9ED7-DEF6E8576389}" destId="{2F26F143-E7F4-4ABE-954F-52D6F6385FEB}" srcOrd="0" destOrd="0" parTransId="{94B6C7C3-9BE9-49EA-A2A4-B85C4781899E}" sibTransId="{6DDC558D-4F16-4F7F-8028-35C36A003BFE}"/>
    <dgm:cxn modelId="{9C18B6AA-7C97-459D-8312-7A19C20F67E3}" type="presOf" srcId="{AC34D787-DA75-43B2-9D09-6D5CA9DDE9B2}" destId="{348F27B6-1733-4B67-B540-005DE47EA7CC}" srcOrd="0" destOrd="0" presId="urn:microsoft.com/office/officeart/2005/8/layout/process2"/>
    <dgm:cxn modelId="{B533ECE2-6663-4B72-8D06-7F35916C12CF}" srcId="{8E7AA750-199E-41C9-9A0B-EFC9BB7290A9}" destId="{C44AB041-C640-41CE-9E0A-34358A1ABCF7}" srcOrd="0" destOrd="0" parTransId="{E13E1BAE-E59A-4B44-B202-C9BC71481746}" sibTransId="{AC34D787-DA75-43B2-9D09-6D5CA9DDE9B2}"/>
    <dgm:cxn modelId="{E26424B3-18B8-44C0-97A7-98690C761D46}" type="presOf" srcId="{D0F471DC-C7E8-4974-A2B4-CCD8DDDD874B}" destId="{B9987992-2CE4-45F6-BF5D-8D41ACA64926}" srcOrd="1" destOrd="0" presId="urn:microsoft.com/office/officeart/2005/8/layout/process2"/>
    <dgm:cxn modelId="{16D99A7F-CF00-4123-9E2E-CEFA891F9D95}" type="presOf" srcId="{7F7D1BF1-C8E2-4916-AEB1-DBB947083353}" destId="{618ED9C9-5DF1-470E-98A8-EDAEBAE215CC}" srcOrd="0" destOrd="0" presId="urn:microsoft.com/office/officeart/2005/8/layout/process2"/>
    <dgm:cxn modelId="{30A92186-C232-47BC-B921-D12D5058E1C7}" type="presOf" srcId="{ADDE1044-E457-4214-8C11-7E7E8BA2D441}" destId="{6D75FE52-828E-4283-BB90-5CB1341A2FC7}" srcOrd="1" destOrd="0" presId="urn:microsoft.com/office/officeart/2005/8/layout/process2"/>
    <dgm:cxn modelId="{515CF4F1-F734-4B48-A4F5-A816E8918BF5}" type="presOf" srcId="{132ECA56-61AB-47CB-9B9B-4D335C25AC15}" destId="{3223C6E9-C699-4619-9109-4178FF1A92B1}" srcOrd="0" destOrd="0" presId="urn:microsoft.com/office/officeart/2005/8/layout/process2"/>
    <dgm:cxn modelId="{52385990-5CA8-4D48-95D9-00D4E322560A}" type="presOf" srcId="{AC34D787-DA75-43B2-9D09-6D5CA9DDE9B2}" destId="{B124345E-6F27-46B5-8B79-20A200E1B603}" srcOrd="1" destOrd="0" presId="urn:microsoft.com/office/officeart/2005/8/layout/process2"/>
    <dgm:cxn modelId="{C7860E2A-7D68-45D4-9641-34CB55DDB5CA}" srcId="{8E7AA750-199E-41C9-9A0B-EFC9BB7290A9}" destId="{7F7D1BF1-C8E2-4916-AEB1-DBB947083353}" srcOrd="1" destOrd="0" parTransId="{4D1F2C3A-1DDC-4008-9781-789AFCDC66E5}" sibTransId="{D0F471DC-C7E8-4974-A2B4-CCD8DDDD874B}"/>
    <dgm:cxn modelId="{4AE6F081-FEE6-4A59-9957-DEBEA608AEAA}" type="presOf" srcId="{6B7C0A1E-2418-4851-B3EB-06691DB2F803}" destId="{AAEC9472-F8D8-45B3-80D1-EDBC42552B76}" srcOrd="0" destOrd="0" presId="urn:microsoft.com/office/officeart/2005/8/layout/process2"/>
    <dgm:cxn modelId="{B393F525-79CD-4AEF-AE4B-40A47DF40439}" type="presOf" srcId="{132ECA56-61AB-47CB-9B9B-4D335C25AC15}" destId="{618AA5A0-3710-4B43-B17E-A855B00DFC43}" srcOrd="1" destOrd="0" presId="urn:microsoft.com/office/officeart/2005/8/layout/process2"/>
    <dgm:cxn modelId="{D204AD89-6502-4BD2-AF2E-ED93802AB526}" type="presOf" srcId="{34758D7E-FB89-44BD-9184-FCCA5FFAA9B5}" destId="{2238EA99-1518-4531-87B1-3EA373087377}" srcOrd="0" destOrd="0" presId="urn:microsoft.com/office/officeart/2005/8/layout/process2"/>
    <dgm:cxn modelId="{0CEC2708-DD18-42DE-9306-530599C39388}" type="presOf" srcId="{4F958379-3A1F-48DE-A8E6-92ACBB1CF0B0}" destId="{5DF3DFE4-A6E1-4ADE-9560-D73B66BCFABB}" srcOrd="0" destOrd="0" presId="urn:microsoft.com/office/officeart/2005/8/layout/process2"/>
    <dgm:cxn modelId="{4DF2001B-C9CB-4D6C-9685-731470DB82B3}" type="presOf" srcId="{B167A30C-8B34-4176-BB9F-B1E652EC54AF}" destId="{9A9560C0-37FB-44FD-9EC0-2B5382697354}" srcOrd="0" destOrd="0" presId="urn:microsoft.com/office/officeart/2005/8/layout/process2"/>
    <dgm:cxn modelId="{AB69F11F-4210-4375-AD4E-8B62226BC6AF}" type="presOf" srcId="{8D9F67CF-039D-4A67-9ED7-DEF6E8576389}" destId="{6863D4D8-162E-44D9-9D4B-5CFB923D0B34}" srcOrd="0" destOrd="0" presId="urn:microsoft.com/office/officeart/2005/8/layout/process2"/>
    <dgm:cxn modelId="{B80A0156-995A-4B32-935A-E69060525979}" type="presOf" srcId="{2F26F143-E7F4-4ABE-954F-52D6F6385FEB}" destId="{6863D4D8-162E-44D9-9D4B-5CFB923D0B34}" srcOrd="0" destOrd="1" presId="urn:microsoft.com/office/officeart/2005/8/layout/process2"/>
    <dgm:cxn modelId="{4EE79B0F-B92B-423D-A0DC-AD64E783B7A0}" srcId="{8E7AA750-199E-41C9-9A0B-EFC9BB7290A9}" destId="{8D9F67CF-039D-4A67-9ED7-DEF6E8576389}" srcOrd="4" destOrd="0" parTransId="{CC1A8077-4960-4D00-8917-47F071123210}" sibTransId="{B9AEFC6F-7332-457E-A5BA-45E4E87D7702}"/>
    <dgm:cxn modelId="{FE1A0000-C855-406F-8603-29831E9E10A2}" type="presOf" srcId="{D0F471DC-C7E8-4974-A2B4-CCD8DDDD874B}" destId="{81A1101A-CB20-4EFC-8F8C-17B3B2EF98BC}" srcOrd="0" destOrd="0" presId="urn:microsoft.com/office/officeart/2005/8/layout/process2"/>
    <dgm:cxn modelId="{614AD749-ED53-44D1-9936-0F8BDBD3BF59}" type="presOf" srcId="{0AD4DAF9-71FE-4498-B646-990D4425A5C7}" destId="{1B8C93B4-5736-4439-8097-2C5897F5DFCF}" srcOrd="0" destOrd="0" presId="urn:microsoft.com/office/officeart/2005/8/layout/process2"/>
    <dgm:cxn modelId="{2F58AC61-E6BF-4C63-9BC0-95221C87A40D}" type="presOf" srcId="{B9AEFC6F-7332-457E-A5BA-45E4E87D7702}" destId="{C6A7FE66-AE4A-4477-BE50-18CF6C3BAB92}" srcOrd="1" destOrd="0" presId="urn:microsoft.com/office/officeart/2005/8/layout/process2"/>
    <dgm:cxn modelId="{BE30FAD7-753C-4B86-9622-108C6BB4867A}" type="presOf" srcId="{ADDE1044-E457-4214-8C11-7E7E8BA2D441}" destId="{0F2C18FB-3015-4A44-8693-55B2EF32B124}" srcOrd="0" destOrd="0" presId="urn:microsoft.com/office/officeart/2005/8/layout/process2"/>
    <dgm:cxn modelId="{7E834AF3-CA37-4CCB-8B5E-4D9E0233CE4A}" srcId="{8E7AA750-199E-41C9-9A0B-EFC9BB7290A9}" destId="{B167A30C-8B34-4176-BB9F-B1E652EC54AF}" srcOrd="3" destOrd="0" parTransId="{AFCEC0BD-0F30-4F72-9DB0-D4919849D2BD}" sibTransId="{0AD4DAF9-71FE-4498-B646-990D4425A5C7}"/>
    <dgm:cxn modelId="{8BEEB451-ADE0-49AF-9B35-1F2ED192B11D}" srcId="{8E7AA750-199E-41C9-9A0B-EFC9BB7290A9}" destId="{6B7C0A1E-2418-4851-B3EB-06691DB2F803}" srcOrd="5" destOrd="0" parTransId="{B23CDA36-5D74-463C-99DD-01BD17DA1E19}" sibTransId="{ADDE1044-E457-4214-8C11-7E7E8BA2D441}"/>
    <dgm:cxn modelId="{FF25D615-5BF1-4002-B78D-BDD8EFE151D8}" srcId="{8E7AA750-199E-41C9-9A0B-EFC9BB7290A9}" destId="{4F958379-3A1F-48DE-A8E6-92ACBB1CF0B0}" srcOrd="6" destOrd="0" parTransId="{99B28860-F5F8-48C1-895C-EF8AD5F174C9}" sibTransId="{8716C61C-E430-4F27-81E2-F31DEAB564EE}"/>
    <dgm:cxn modelId="{745255DC-AA60-44AE-BB38-8730DD28A6D8}" srcId="{8E7AA750-199E-41C9-9A0B-EFC9BB7290A9}" destId="{34758D7E-FB89-44BD-9184-FCCA5FFAA9B5}" srcOrd="2" destOrd="0" parTransId="{E72A63A3-4CE9-4DCC-AB0A-375BE37730CE}" sibTransId="{132ECA56-61AB-47CB-9B9B-4D335C25AC15}"/>
    <dgm:cxn modelId="{B1B0582D-7550-49F7-A20B-12BB1016EA58}" type="presOf" srcId="{C44AB041-C640-41CE-9E0A-34358A1ABCF7}" destId="{169A66D0-D796-465C-A771-EBA978983B6A}" srcOrd="0" destOrd="0" presId="urn:microsoft.com/office/officeart/2005/8/layout/process2"/>
    <dgm:cxn modelId="{65A5CE35-8E60-46FD-B83D-8A7FFDC11671}" type="presOf" srcId="{8E7AA750-199E-41C9-9A0B-EFC9BB7290A9}" destId="{16DAD7A9-0E1E-44B4-9C19-8E623308B5B1}" srcOrd="0" destOrd="0" presId="urn:microsoft.com/office/officeart/2005/8/layout/process2"/>
    <dgm:cxn modelId="{D1BC24C0-DC1C-410A-94F5-C18C99DCD010}" type="presParOf" srcId="{16DAD7A9-0E1E-44B4-9C19-8E623308B5B1}" destId="{169A66D0-D796-465C-A771-EBA978983B6A}" srcOrd="0" destOrd="0" presId="urn:microsoft.com/office/officeart/2005/8/layout/process2"/>
    <dgm:cxn modelId="{4E60D936-61BB-4AEB-86FE-1B6A979C1257}" type="presParOf" srcId="{16DAD7A9-0E1E-44B4-9C19-8E623308B5B1}" destId="{348F27B6-1733-4B67-B540-005DE47EA7CC}" srcOrd="1" destOrd="0" presId="urn:microsoft.com/office/officeart/2005/8/layout/process2"/>
    <dgm:cxn modelId="{0191036C-380E-456D-A907-C6E069FE7626}" type="presParOf" srcId="{348F27B6-1733-4B67-B540-005DE47EA7CC}" destId="{B124345E-6F27-46B5-8B79-20A200E1B603}" srcOrd="0" destOrd="0" presId="urn:microsoft.com/office/officeart/2005/8/layout/process2"/>
    <dgm:cxn modelId="{ABD996E3-8E4F-43C0-BDF4-93382AF6549A}" type="presParOf" srcId="{16DAD7A9-0E1E-44B4-9C19-8E623308B5B1}" destId="{618ED9C9-5DF1-470E-98A8-EDAEBAE215CC}" srcOrd="2" destOrd="0" presId="urn:microsoft.com/office/officeart/2005/8/layout/process2"/>
    <dgm:cxn modelId="{09721133-29D7-4CF6-8C05-52CA0FCBA6F7}" type="presParOf" srcId="{16DAD7A9-0E1E-44B4-9C19-8E623308B5B1}" destId="{81A1101A-CB20-4EFC-8F8C-17B3B2EF98BC}" srcOrd="3" destOrd="0" presId="urn:microsoft.com/office/officeart/2005/8/layout/process2"/>
    <dgm:cxn modelId="{54CDC4A6-D2FA-41AB-BDC6-B77CB3F43B08}" type="presParOf" srcId="{81A1101A-CB20-4EFC-8F8C-17B3B2EF98BC}" destId="{B9987992-2CE4-45F6-BF5D-8D41ACA64926}" srcOrd="0" destOrd="0" presId="urn:microsoft.com/office/officeart/2005/8/layout/process2"/>
    <dgm:cxn modelId="{BD48CC54-D62E-4C5D-9E1C-2D4153A1DB8F}" type="presParOf" srcId="{16DAD7A9-0E1E-44B4-9C19-8E623308B5B1}" destId="{2238EA99-1518-4531-87B1-3EA373087377}" srcOrd="4" destOrd="0" presId="urn:microsoft.com/office/officeart/2005/8/layout/process2"/>
    <dgm:cxn modelId="{E9A31B7A-60E0-47DA-8342-E0B39DFC9D01}" type="presParOf" srcId="{16DAD7A9-0E1E-44B4-9C19-8E623308B5B1}" destId="{3223C6E9-C699-4619-9109-4178FF1A92B1}" srcOrd="5" destOrd="0" presId="urn:microsoft.com/office/officeart/2005/8/layout/process2"/>
    <dgm:cxn modelId="{E0B6EFD9-D484-404D-B7B1-BEED78E5BCE8}" type="presParOf" srcId="{3223C6E9-C699-4619-9109-4178FF1A92B1}" destId="{618AA5A0-3710-4B43-B17E-A855B00DFC43}" srcOrd="0" destOrd="0" presId="urn:microsoft.com/office/officeart/2005/8/layout/process2"/>
    <dgm:cxn modelId="{C916C01A-74D7-4FEE-9AEA-2F076A829EBA}" type="presParOf" srcId="{16DAD7A9-0E1E-44B4-9C19-8E623308B5B1}" destId="{9A9560C0-37FB-44FD-9EC0-2B5382697354}" srcOrd="6" destOrd="0" presId="urn:microsoft.com/office/officeart/2005/8/layout/process2"/>
    <dgm:cxn modelId="{C0F6F25A-A4C3-4D97-AD0E-02457B34E43A}" type="presParOf" srcId="{16DAD7A9-0E1E-44B4-9C19-8E623308B5B1}" destId="{1B8C93B4-5736-4439-8097-2C5897F5DFCF}" srcOrd="7" destOrd="0" presId="urn:microsoft.com/office/officeart/2005/8/layout/process2"/>
    <dgm:cxn modelId="{A29B5059-2E95-458C-B4C4-CC3D815798AC}" type="presParOf" srcId="{1B8C93B4-5736-4439-8097-2C5897F5DFCF}" destId="{00C291E5-79A5-4E9B-9969-9D3CB3699726}" srcOrd="0" destOrd="0" presId="urn:microsoft.com/office/officeart/2005/8/layout/process2"/>
    <dgm:cxn modelId="{29D7015D-DF7B-4D26-B3C0-1FCEA4B3CA34}" type="presParOf" srcId="{16DAD7A9-0E1E-44B4-9C19-8E623308B5B1}" destId="{6863D4D8-162E-44D9-9D4B-5CFB923D0B34}" srcOrd="8" destOrd="0" presId="urn:microsoft.com/office/officeart/2005/8/layout/process2"/>
    <dgm:cxn modelId="{B39705DD-44E0-4CFF-B3F9-F1CBEE149DD7}" type="presParOf" srcId="{16DAD7A9-0E1E-44B4-9C19-8E623308B5B1}" destId="{F09560BC-A31E-48C2-86F5-F29F79C243A4}" srcOrd="9" destOrd="0" presId="urn:microsoft.com/office/officeart/2005/8/layout/process2"/>
    <dgm:cxn modelId="{19FC7DB2-0B42-4EC4-AF4C-87B22D4F0C20}" type="presParOf" srcId="{F09560BC-A31E-48C2-86F5-F29F79C243A4}" destId="{C6A7FE66-AE4A-4477-BE50-18CF6C3BAB92}" srcOrd="0" destOrd="0" presId="urn:microsoft.com/office/officeart/2005/8/layout/process2"/>
    <dgm:cxn modelId="{36B4FB46-13EC-474C-A914-996B87DAE592}" type="presParOf" srcId="{16DAD7A9-0E1E-44B4-9C19-8E623308B5B1}" destId="{AAEC9472-F8D8-45B3-80D1-EDBC42552B76}" srcOrd="10" destOrd="0" presId="urn:microsoft.com/office/officeart/2005/8/layout/process2"/>
    <dgm:cxn modelId="{BA1F3F06-139D-42A2-B833-C0BC9EAA9472}" type="presParOf" srcId="{16DAD7A9-0E1E-44B4-9C19-8E623308B5B1}" destId="{0F2C18FB-3015-4A44-8693-55B2EF32B124}" srcOrd="11" destOrd="0" presId="urn:microsoft.com/office/officeart/2005/8/layout/process2"/>
    <dgm:cxn modelId="{87FD9326-C866-4EB1-AC45-EF69BF2B136C}" type="presParOf" srcId="{0F2C18FB-3015-4A44-8693-55B2EF32B124}" destId="{6D75FE52-828E-4283-BB90-5CB1341A2FC7}" srcOrd="0" destOrd="0" presId="urn:microsoft.com/office/officeart/2005/8/layout/process2"/>
    <dgm:cxn modelId="{7F1AAD3F-F1A9-40C0-A295-AB464310781C}" type="presParOf" srcId="{16DAD7A9-0E1E-44B4-9C19-8E623308B5B1}" destId="{5DF3DFE4-A6E1-4ADE-9560-D73B66BCFABB}" srcOrd="12" destOrd="0" presId="urn:microsoft.com/office/officeart/2005/8/layout/process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E7AA750-199E-41C9-9A0B-EFC9BB7290A9}" type="doc">
      <dgm:prSet loTypeId="urn:microsoft.com/office/officeart/2005/8/layout/process2" loCatId="process" qsTypeId="urn:microsoft.com/office/officeart/2005/8/quickstyle/simple1" qsCatId="simple" csTypeId="urn:microsoft.com/office/officeart/2005/8/colors/accent1_2" csCatId="accent1" phldr="1"/>
      <dgm:spPr/>
    </dgm:pt>
    <dgm:pt modelId="{C44AB041-C640-41CE-9E0A-34358A1ABCF7}">
      <dgm:prSet phldrT="[文本]" custT="1"/>
      <dgm:spPr/>
      <dgm:t>
        <a:bodyPr/>
        <a:lstStyle/>
        <a:p>
          <a:pPr algn="ctr"/>
          <a:r>
            <a:rPr lang="zh-CN" altLang="en-US" sz="1600" dirty="0" smtClean="0"/>
            <a:t>主循环</a:t>
          </a:r>
          <a:endParaRPr lang="zh-CN" altLang="en-US" sz="1600" dirty="0"/>
        </a:p>
      </dgm:t>
    </dgm:pt>
    <dgm:pt modelId="{E13E1BAE-E59A-4B44-B202-C9BC71481746}" cxnId="{B533ECE2-6663-4B72-8D06-7F35916C12CF}" type="parTrans">
      <dgm:prSet/>
      <dgm:spPr/>
      <dgm:t>
        <a:bodyPr/>
        <a:lstStyle/>
        <a:p>
          <a:pPr algn="ctr"/>
          <a:endParaRPr lang="zh-CN" altLang="en-US" sz="2000"/>
        </a:p>
      </dgm:t>
    </dgm:pt>
    <dgm:pt modelId="{AC34D787-DA75-43B2-9D09-6D5CA9DDE9B2}" cxnId="{B533ECE2-6663-4B72-8D06-7F35916C12CF}" type="sibTrans">
      <dgm:prSet custT="1"/>
      <dgm:spPr/>
      <dgm:t>
        <a:bodyPr/>
        <a:lstStyle/>
        <a:p>
          <a:pPr algn="ctr"/>
          <a:endParaRPr lang="zh-CN" altLang="en-US" sz="1200"/>
        </a:p>
      </dgm:t>
    </dgm:pt>
    <dgm:pt modelId="{6B7C0A1E-2418-4851-B3EB-06691DB2F803}">
      <dgm:prSet phldrT="[文本]" custT="1"/>
      <dgm:spPr/>
      <dgm:t>
        <a:bodyPr/>
        <a:lstStyle/>
        <a:p>
          <a:pPr algn="ctr"/>
          <a:r>
            <a:rPr lang="zh-CN" altLang="en-US" sz="1600" dirty="0" smtClean="0"/>
            <a:t>恢复现场</a:t>
          </a:r>
          <a:endParaRPr lang="zh-CN" altLang="en-US" sz="1600" dirty="0"/>
        </a:p>
      </dgm:t>
    </dgm:pt>
    <dgm:pt modelId="{B23CDA36-5D74-463C-99DD-01BD17DA1E19}" cxnId="{8BEEB451-ADE0-49AF-9B35-1F2ED192B11D}" type="parTrans">
      <dgm:prSet/>
      <dgm:spPr/>
      <dgm:t>
        <a:bodyPr/>
        <a:lstStyle/>
        <a:p>
          <a:pPr algn="ctr"/>
          <a:endParaRPr lang="zh-CN" altLang="en-US" sz="2000"/>
        </a:p>
      </dgm:t>
    </dgm:pt>
    <dgm:pt modelId="{ADDE1044-E457-4214-8C11-7E7E8BA2D441}" cxnId="{8BEEB451-ADE0-49AF-9B35-1F2ED192B11D}" type="sibTrans">
      <dgm:prSet custT="1"/>
      <dgm:spPr/>
      <dgm:t>
        <a:bodyPr/>
        <a:lstStyle/>
        <a:p>
          <a:pPr algn="ctr"/>
          <a:endParaRPr lang="zh-CN" altLang="en-US" sz="1200"/>
        </a:p>
      </dgm:t>
    </dgm:pt>
    <dgm:pt modelId="{4F958379-3A1F-48DE-A8E6-92ACBB1CF0B0}">
      <dgm:prSet phldrT="[文本]" custT="1"/>
      <dgm:spPr/>
      <dgm:t>
        <a:bodyPr/>
        <a:lstStyle/>
        <a:p>
          <a:pPr algn="ctr"/>
          <a:r>
            <a:rPr lang="zh-CN" altLang="en-US" sz="1600" dirty="0" smtClean="0"/>
            <a:t>主循环</a:t>
          </a:r>
          <a:endParaRPr lang="zh-CN" altLang="en-US" sz="1600" dirty="0"/>
        </a:p>
      </dgm:t>
    </dgm:pt>
    <dgm:pt modelId="{99B28860-F5F8-48C1-895C-EF8AD5F174C9}" cxnId="{FF25D615-5BF1-4002-B78D-BDD8EFE151D8}" type="parTrans">
      <dgm:prSet/>
      <dgm:spPr/>
      <dgm:t>
        <a:bodyPr/>
        <a:lstStyle/>
        <a:p>
          <a:pPr algn="ctr"/>
          <a:endParaRPr lang="zh-CN" altLang="en-US" sz="2000"/>
        </a:p>
      </dgm:t>
    </dgm:pt>
    <dgm:pt modelId="{8716C61C-E430-4F27-81E2-F31DEAB564EE}" cxnId="{FF25D615-5BF1-4002-B78D-BDD8EFE151D8}" type="sibTrans">
      <dgm:prSet/>
      <dgm:spPr/>
      <dgm:t>
        <a:bodyPr/>
        <a:lstStyle/>
        <a:p>
          <a:pPr algn="ctr"/>
          <a:endParaRPr lang="zh-CN" altLang="en-US" sz="2000"/>
        </a:p>
      </dgm:t>
    </dgm:pt>
    <dgm:pt modelId="{7F7D1BF1-C8E2-4916-AEB1-DBB947083353}">
      <dgm:prSet phldrT="[文本]" custT="1"/>
      <dgm:spPr/>
      <dgm:t>
        <a:bodyPr/>
        <a:lstStyle/>
        <a:p>
          <a:pPr algn="ctr"/>
          <a:r>
            <a:rPr lang="zh-CN" altLang="en-US" sz="1600" dirty="0" smtClean="0"/>
            <a:t>触发</a:t>
          </a:r>
          <a:r>
            <a:rPr lang="en-US" altLang="zh-CN" sz="1600" dirty="0" err="1" smtClean="0"/>
            <a:t>SysTick</a:t>
          </a:r>
          <a:r>
            <a:rPr lang="zh-CN" altLang="en-US" sz="1600" dirty="0" smtClean="0"/>
            <a:t>中断</a:t>
          </a:r>
          <a:endParaRPr lang="zh-CN" altLang="en-US" sz="1600" dirty="0"/>
        </a:p>
      </dgm:t>
    </dgm:pt>
    <dgm:pt modelId="{4D1F2C3A-1DDC-4008-9781-789AFCDC66E5}" cxnId="{C7860E2A-7D68-45D4-9641-34CB55DDB5CA}" type="parTrans">
      <dgm:prSet/>
      <dgm:spPr/>
      <dgm:t>
        <a:bodyPr/>
        <a:lstStyle/>
        <a:p>
          <a:pPr algn="ctr"/>
          <a:endParaRPr lang="zh-CN" altLang="en-US" sz="2000"/>
        </a:p>
      </dgm:t>
    </dgm:pt>
    <dgm:pt modelId="{D0F471DC-C7E8-4974-A2B4-CCD8DDDD874B}" cxnId="{C7860E2A-7D68-45D4-9641-34CB55DDB5CA}" type="sibTrans">
      <dgm:prSet custT="1"/>
      <dgm:spPr/>
      <dgm:t>
        <a:bodyPr/>
        <a:lstStyle/>
        <a:p>
          <a:pPr algn="ctr"/>
          <a:endParaRPr lang="zh-CN" altLang="en-US" sz="1200"/>
        </a:p>
      </dgm:t>
    </dgm:pt>
    <dgm:pt modelId="{2F26F143-E7F4-4ABE-954F-52D6F6385FEB}">
      <dgm:prSet phldrT="[文本]" custT="1"/>
      <dgm:spPr/>
      <dgm:t>
        <a:bodyPr/>
        <a:lstStyle/>
        <a:p>
          <a:pPr algn="ctr"/>
          <a:r>
            <a:rPr lang="en-US" altLang="zh-CN" sz="1400" dirty="0" err="1" smtClean="0"/>
            <a:t>systemTimeInMs</a:t>
          </a:r>
          <a:r>
            <a:rPr lang="en-US" altLang="zh-CN" sz="1400" dirty="0" smtClean="0"/>
            <a:t>++</a:t>
          </a:r>
          <a:endParaRPr lang="zh-CN" altLang="en-US" sz="1400" dirty="0"/>
        </a:p>
      </dgm:t>
    </dgm:pt>
    <dgm:pt modelId="{94B6C7C3-9BE9-49EA-A2A4-B85C4781899E}" cxnId="{A3065FDE-13FF-48CE-9103-129D65F71970}" type="parTrans">
      <dgm:prSet/>
      <dgm:spPr/>
      <dgm:t>
        <a:bodyPr/>
        <a:lstStyle/>
        <a:p>
          <a:pPr algn="ctr"/>
          <a:endParaRPr lang="zh-CN" altLang="en-US" sz="2000"/>
        </a:p>
      </dgm:t>
    </dgm:pt>
    <dgm:pt modelId="{6DDC558D-4F16-4F7F-8028-35C36A003BFE}" cxnId="{A3065FDE-13FF-48CE-9103-129D65F71970}" type="sibTrans">
      <dgm:prSet/>
      <dgm:spPr/>
      <dgm:t>
        <a:bodyPr/>
        <a:lstStyle/>
        <a:p>
          <a:pPr algn="ctr"/>
          <a:endParaRPr lang="zh-CN" altLang="en-US" sz="2000"/>
        </a:p>
      </dgm:t>
    </dgm:pt>
    <dgm:pt modelId="{34758D7E-FB89-44BD-9184-FCCA5FFAA9B5}">
      <dgm:prSet phldrT="[文本]" custT="1"/>
      <dgm:spPr/>
      <dgm:t>
        <a:bodyPr/>
        <a:lstStyle/>
        <a:p>
          <a:pPr algn="ctr"/>
          <a:r>
            <a:rPr lang="zh-CN" altLang="en-US" sz="1600" dirty="0" smtClean="0"/>
            <a:t>保护现场</a:t>
          </a:r>
          <a:endParaRPr lang="zh-CN" altLang="en-US" sz="1600" dirty="0"/>
        </a:p>
      </dgm:t>
    </dgm:pt>
    <dgm:pt modelId="{E72A63A3-4CE9-4DCC-AB0A-375BE37730CE}" cxnId="{745255DC-AA60-44AE-BB38-8730DD28A6D8}" type="parTrans">
      <dgm:prSet/>
      <dgm:spPr/>
      <dgm:t>
        <a:bodyPr/>
        <a:lstStyle/>
        <a:p>
          <a:pPr algn="ctr"/>
          <a:endParaRPr lang="zh-CN" altLang="en-US" sz="2000"/>
        </a:p>
      </dgm:t>
    </dgm:pt>
    <dgm:pt modelId="{132ECA56-61AB-47CB-9B9B-4D335C25AC15}" cxnId="{745255DC-AA60-44AE-BB38-8730DD28A6D8}" type="sibTrans">
      <dgm:prSet custT="1"/>
      <dgm:spPr/>
      <dgm:t>
        <a:bodyPr/>
        <a:lstStyle/>
        <a:p>
          <a:pPr algn="ctr"/>
          <a:endParaRPr lang="zh-CN" altLang="en-US" sz="1200"/>
        </a:p>
      </dgm:t>
    </dgm:pt>
    <dgm:pt modelId="{B167A30C-8B34-4176-BB9F-B1E652EC54AF}">
      <dgm:prSet phldrT="[文本]" custT="1"/>
      <dgm:spPr/>
      <dgm:t>
        <a:bodyPr/>
        <a:lstStyle/>
        <a:p>
          <a:pPr algn="ctr"/>
          <a:r>
            <a:rPr lang="zh-CN" altLang="en-US" sz="1600" dirty="0" smtClean="0"/>
            <a:t>跳转到中断服务函数</a:t>
          </a:r>
          <a:endParaRPr lang="zh-CN" altLang="en-US" sz="1600" dirty="0"/>
        </a:p>
      </dgm:t>
    </dgm:pt>
    <dgm:pt modelId="{AFCEC0BD-0F30-4F72-9DB0-D4919849D2BD}" cxnId="{7E834AF3-CA37-4CCB-8B5E-4D9E0233CE4A}" type="parTrans">
      <dgm:prSet/>
      <dgm:spPr/>
      <dgm:t>
        <a:bodyPr/>
        <a:lstStyle/>
        <a:p>
          <a:pPr algn="ctr"/>
          <a:endParaRPr lang="zh-CN" altLang="en-US" sz="2000"/>
        </a:p>
      </dgm:t>
    </dgm:pt>
    <dgm:pt modelId="{0AD4DAF9-71FE-4498-B646-990D4425A5C7}" cxnId="{7E834AF3-CA37-4CCB-8B5E-4D9E0233CE4A}" type="sibTrans">
      <dgm:prSet custT="1"/>
      <dgm:spPr/>
      <dgm:t>
        <a:bodyPr/>
        <a:lstStyle/>
        <a:p>
          <a:pPr algn="ctr"/>
          <a:endParaRPr lang="zh-CN" altLang="en-US" sz="1200"/>
        </a:p>
      </dgm:t>
    </dgm:pt>
    <dgm:pt modelId="{8D9F67CF-039D-4A67-9ED7-DEF6E8576389}">
      <dgm:prSet phldrT="[文本]" custT="1"/>
      <dgm:spPr/>
      <dgm:t>
        <a:bodyPr/>
        <a:lstStyle/>
        <a:p>
          <a:pPr algn="ctr"/>
          <a:r>
            <a:rPr lang="zh-CN" altLang="en-US" sz="1600" dirty="0" smtClean="0"/>
            <a:t>执行中断服务函数</a:t>
          </a:r>
          <a:endParaRPr lang="zh-CN" altLang="en-US" sz="1600" dirty="0"/>
        </a:p>
      </dgm:t>
    </dgm:pt>
    <dgm:pt modelId="{CC1A8077-4960-4D00-8917-47F071123210}" cxnId="{4EE79B0F-B92B-423D-A0DC-AD64E783B7A0}" type="parTrans">
      <dgm:prSet/>
      <dgm:spPr/>
      <dgm:t>
        <a:bodyPr/>
        <a:lstStyle/>
        <a:p>
          <a:pPr algn="ctr"/>
          <a:endParaRPr lang="zh-CN" altLang="en-US" sz="2000"/>
        </a:p>
      </dgm:t>
    </dgm:pt>
    <dgm:pt modelId="{B9AEFC6F-7332-457E-A5BA-45E4E87D7702}" cxnId="{4EE79B0F-B92B-423D-A0DC-AD64E783B7A0}" type="sibTrans">
      <dgm:prSet custT="1"/>
      <dgm:spPr/>
      <dgm:t>
        <a:bodyPr/>
        <a:lstStyle/>
        <a:p>
          <a:pPr algn="ctr"/>
          <a:endParaRPr lang="zh-CN" altLang="en-US" sz="1200"/>
        </a:p>
      </dgm:t>
    </dgm:pt>
    <dgm:pt modelId="{0A7AFAA5-18D4-42F8-8700-06655907E1D3}">
      <dgm:prSet phldrT="[文本]" custT="1"/>
      <dgm:spPr/>
      <dgm:t>
        <a:bodyPr/>
        <a:lstStyle/>
        <a:p>
          <a:pPr algn="ctr"/>
          <a:r>
            <a:rPr lang="zh-CN" altLang="en-US" sz="1400" dirty="0" smtClean="0"/>
            <a:t>判断是否需要改变</a:t>
          </a:r>
          <a:r>
            <a:rPr lang="en-US" altLang="zh-CN" sz="1400" dirty="0" smtClean="0"/>
            <a:t>LED</a:t>
          </a:r>
          <a:r>
            <a:rPr lang="zh-CN" altLang="en-US" sz="1400" dirty="0" smtClean="0"/>
            <a:t>状态</a:t>
          </a:r>
          <a:endParaRPr lang="zh-CN" altLang="en-US" sz="1200" dirty="0"/>
        </a:p>
      </dgm:t>
    </dgm:pt>
    <dgm:pt modelId="{F22BE836-463A-4B21-9917-F46203EEE302}" cxnId="{9ED90477-09CE-4D3D-ADD9-AC0010815D74}" type="parTrans">
      <dgm:prSet/>
      <dgm:spPr/>
      <dgm:t>
        <a:bodyPr/>
        <a:lstStyle/>
        <a:p>
          <a:endParaRPr lang="zh-CN" altLang="en-US"/>
        </a:p>
      </dgm:t>
    </dgm:pt>
    <dgm:pt modelId="{B9CE9665-3B5A-4EE4-B6C5-D6E17548C4FD}" cxnId="{9ED90477-09CE-4D3D-ADD9-AC0010815D74}" type="sibTrans">
      <dgm:prSet/>
      <dgm:spPr/>
      <dgm:t>
        <a:bodyPr/>
        <a:lstStyle/>
        <a:p>
          <a:endParaRPr lang="zh-CN" altLang="en-US"/>
        </a:p>
      </dgm:t>
    </dgm:pt>
    <dgm:pt modelId="{16DAD7A9-0E1E-44B4-9C19-8E623308B5B1}" type="pres">
      <dgm:prSet presAssocID="{8E7AA750-199E-41C9-9A0B-EFC9BB7290A9}" presName="linearFlow" presStyleCnt="0">
        <dgm:presLayoutVars>
          <dgm:resizeHandles val="exact"/>
        </dgm:presLayoutVars>
      </dgm:prSet>
      <dgm:spPr/>
    </dgm:pt>
    <dgm:pt modelId="{169A66D0-D796-465C-A771-EBA978983B6A}" type="pres">
      <dgm:prSet presAssocID="{C44AB041-C640-41CE-9E0A-34358A1ABCF7}" presName="node" presStyleLbl="node1" presStyleIdx="0" presStyleCnt="7">
        <dgm:presLayoutVars>
          <dgm:bulletEnabled val="1"/>
        </dgm:presLayoutVars>
      </dgm:prSet>
      <dgm:spPr/>
      <dgm:t>
        <a:bodyPr/>
        <a:lstStyle/>
        <a:p>
          <a:endParaRPr lang="zh-CN" altLang="en-US"/>
        </a:p>
      </dgm:t>
    </dgm:pt>
    <dgm:pt modelId="{348F27B6-1733-4B67-B540-005DE47EA7CC}" type="pres">
      <dgm:prSet presAssocID="{AC34D787-DA75-43B2-9D09-6D5CA9DDE9B2}" presName="sibTrans" presStyleLbl="sibTrans2D1" presStyleIdx="0" presStyleCnt="6"/>
      <dgm:spPr/>
      <dgm:t>
        <a:bodyPr/>
        <a:lstStyle/>
        <a:p>
          <a:endParaRPr lang="zh-CN" altLang="en-US"/>
        </a:p>
      </dgm:t>
    </dgm:pt>
    <dgm:pt modelId="{B124345E-6F27-46B5-8B79-20A200E1B603}" type="pres">
      <dgm:prSet presAssocID="{AC34D787-DA75-43B2-9D09-6D5CA9DDE9B2}" presName="connectorText" presStyleLbl="sibTrans2D1" presStyleIdx="0" presStyleCnt="6"/>
      <dgm:spPr/>
      <dgm:t>
        <a:bodyPr/>
        <a:lstStyle/>
        <a:p>
          <a:endParaRPr lang="zh-CN" altLang="en-US"/>
        </a:p>
      </dgm:t>
    </dgm:pt>
    <dgm:pt modelId="{618ED9C9-5DF1-470E-98A8-EDAEBAE215CC}" type="pres">
      <dgm:prSet presAssocID="{7F7D1BF1-C8E2-4916-AEB1-DBB947083353}" presName="node" presStyleLbl="node1" presStyleIdx="1" presStyleCnt="7">
        <dgm:presLayoutVars>
          <dgm:bulletEnabled val="1"/>
        </dgm:presLayoutVars>
      </dgm:prSet>
      <dgm:spPr/>
      <dgm:t>
        <a:bodyPr/>
        <a:lstStyle/>
        <a:p>
          <a:endParaRPr lang="zh-CN" altLang="en-US"/>
        </a:p>
      </dgm:t>
    </dgm:pt>
    <dgm:pt modelId="{81A1101A-CB20-4EFC-8F8C-17B3B2EF98BC}" type="pres">
      <dgm:prSet presAssocID="{D0F471DC-C7E8-4974-A2B4-CCD8DDDD874B}" presName="sibTrans" presStyleLbl="sibTrans2D1" presStyleIdx="1" presStyleCnt="6"/>
      <dgm:spPr/>
      <dgm:t>
        <a:bodyPr/>
        <a:lstStyle/>
        <a:p>
          <a:endParaRPr lang="zh-CN" altLang="en-US"/>
        </a:p>
      </dgm:t>
    </dgm:pt>
    <dgm:pt modelId="{B9987992-2CE4-45F6-BF5D-8D41ACA64926}" type="pres">
      <dgm:prSet presAssocID="{D0F471DC-C7E8-4974-A2B4-CCD8DDDD874B}" presName="connectorText" presStyleLbl="sibTrans2D1" presStyleIdx="1" presStyleCnt="6"/>
      <dgm:spPr/>
      <dgm:t>
        <a:bodyPr/>
        <a:lstStyle/>
        <a:p>
          <a:endParaRPr lang="zh-CN" altLang="en-US"/>
        </a:p>
      </dgm:t>
    </dgm:pt>
    <dgm:pt modelId="{2238EA99-1518-4531-87B1-3EA373087377}" type="pres">
      <dgm:prSet presAssocID="{34758D7E-FB89-44BD-9184-FCCA5FFAA9B5}" presName="node" presStyleLbl="node1" presStyleIdx="2" presStyleCnt="7">
        <dgm:presLayoutVars>
          <dgm:bulletEnabled val="1"/>
        </dgm:presLayoutVars>
      </dgm:prSet>
      <dgm:spPr/>
      <dgm:t>
        <a:bodyPr/>
        <a:lstStyle/>
        <a:p>
          <a:endParaRPr lang="zh-CN" altLang="en-US"/>
        </a:p>
      </dgm:t>
    </dgm:pt>
    <dgm:pt modelId="{3223C6E9-C699-4619-9109-4178FF1A92B1}" type="pres">
      <dgm:prSet presAssocID="{132ECA56-61AB-47CB-9B9B-4D335C25AC15}" presName="sibTrans" presStyleLbl="sibTrans2D1" presStyleIdx="2" presStyleCnt="6"/>
      <dgm:spPr/>
      <dgm:t>
        <a:bodyPr/>
        <a:lstStyle/>
        <a:p>
          <a:endParaRPr lang="zh-CN" altLang="en-US"/>
        </a:p>
      </dgm:t>
    </dgm:pt>
    <dgm:pt modelId="{618AA5A0-3710-4B43-B17E-A855B00DFC43}" type="pres">
      <dgm:prSet presAssocID="{132ECA56-61AB-47CB-9B9B-4D335C25AC15}" presName="connectorText" presStyleLbl="sibTrans2D1" presStyleIdx="2" presStyleCnt="6"/>
      <dgm:spPr/>
      <dgm:t>
        <a:bodyPr/>
        <a:lstStyle/>
        <a:p>
          <a:endParaRPr lang="zh-CN" altLang="en-US"/>
        </a:p>
      </dgm:t>
    </dgm:pt>
    <dgm:pt modelId="{9A9560C0-37FB-44FD-9EC0-2B5382697354}" type="pres">
      <dgm:prSet presAssocID="{B167A30C-8B34-4176-BB9F-B1E652EC54AF}" presName="node" presStyleLbl="node1" presStyleIdx="3" presStyleCnt="7">
        <dgm:presLayoutVars>
          <dgm:bulletEnabled val="1"/>
        </dgm:presLayoutVars>
      </dgm:prSet>
      <dgm:spPr/>
      <dgm:t>
        <a:bodyPr/>
        <a:lstStyle/>
        <a:p>
          <a:endParaRPr lang="zh-CN" altLang="en-US"/>
        </a:p>
      </dgm:t>
    </dgm:pt>
    <dgm:pt modelId="{1B8C93B4-5736-4439-8097-2C5897F5DFCF}" type="pres">
      <dgm:prSet presAssocID="{0AD4DAF9-71FE-4498-B646-990D4425A5C7}" presName="sibTrans" presStyleLbl="sibTrans2D1" presStyleIdx="3" presStyleCnt="6"/>
      <dgm:spPr/>
      <dgm:t>
        <a:bodyPr/>
        <a:lstStyle/>
        <a:p>
          <a:endParaRPr lang="zh-CN" altLang="en-US"/>
        </a:p>
      </dgm:t>
    </dgm:pt>
    <dgm:pt modelId="{00C291E5-79A5-4E9B-9969-9D3CB3699726}" type="pres">
      <dgm:prSet presAssocID="{0AD4DAF9-71FE-4498-B646-990D4425A5C7}" presName="connectorText" presStyleLbl="sibTrans2D1" presStyleIdx="3" presStyleCnt="6"/>
      <dgm:spPr/>
      <dgm:t>
        <a:bodyPr/>
        <a:lstStyle/>
        <a:p>
          <a:endParaRPr lang="zh-CN" altLang="en-US"/>
        </a:p>
      </dgm:t>
    </dgm:pt>
    <dgm:pt modelId="{6863D4D8-162E-44D9-9D4B-5CFB923D0B34}" type="pres">
      <dgm:prSet presAssocID="{8D9F67CF-039D-4A67-9ED7-DEF6E8576389}" presName="node" presStyleLbl="node1" presStyleIdx="4" presStyleCnt="7" custScaleY="141485">
        <dgm:presLayoutVars>
          <dgm:bulletEnabled val="1"/>
        </dgm:presLayoutVars>
      </dgm:prSet>
      <dgm:spPr/>
      <dgm:t>
        <a:bodyPr/>
        <a:lstStyle/>
        <a:p>
          <a:endParaRPr lang="zh-CN" altLang="en-US"/>
        </a:p>
      </dgm:t>
    </dgm:pt>
    <dgm:pt modelId="{F09560BC-A31E-48C2-86F5-F29F79C243A4}" type="pres">
      <dgm:prSet presAssocID="{B9AEFC6F-7332-457E-A5BA-45E4E87D7702}" presName="sibTrans" presStyleLbl="sibTrans2D1" presStyleIdx="4" presStyleCnt="6"/>
      <dgm:spPr/>
      <dgm:t>
        <a:bodyPr/>
        <a:lstStyle/>
        <a:p>
          <a:endParaRPr lang="zh-CN" altLang="en-US"/>
        </a:p>
      </dgm:t>
    </dgm:pt>
    <dgm:pt modelId="{C6A7FE66-AE4A-4477-BE50-18CF6C3BAB92}" type="pres">
      <dgm:prSet presAssocID="{B9AEFC6F-7332-457E-A5BA-45E4E87D7702}" presName="connectorText" presStyleLbl="sibTrans2D1" presStyleIdx="4" presStyleCnt="6"/>
      <dgm:spPr/>
      <dgm:t>
        <a:bodyPr/>
        <a:lstStyle/>
        <a:p>
          <a:endParaRPr lang="zh-CN" altLang="en-US"/>
        </a:p>
      </dgm:t>
    </dgm:pt>
    <dgm:pt modelId="{AAEC9472-F8D8-45B3-80D1-EDBC42552B76}" type="pres">
      <dgm:prSet presAssocID="{6B7C0A1E-2418-4851-B3EB-06691DB2F803}" presName="node" presStyleLbl="node1" presStyleIdx="5" presStyleCnt="7">
        <dgm:presLayoutVars>
          <dgm:bulletEnabled val="1"/>
        </dgm:presLayoutVars>
      </dgm:prSet>
      <dgm:spPr/>
      <dgm:t>
        <a:bodyPr/>
        <a:lstStyle/>
        <a:p>
          <a:endParaRPr lang="zh-CN" altLang="en-US"/>
        </a:p>
      </dgm:t>
    </dgm:pt>
    <dgm:pt modelId="{0F2C18FB-3015-4A44-8693-55B2EF32B124}" type="pres">
      <dgm:prSet presAssocID="{ADDE1044-E457-4214-8C11-7E7E8BA2D441}" presName="sibTrans" presStyleLbl="sibTrans2D1" presStyleIdx="5" presStyleCnt="6"/>
      <dgm:spPr/>
      <dgm:t>
        <a:bodyPr/>
        <a:lstStyle/>
        <a:p>
          <a:endParaRPr lang="zh-CN" altLang="en-US"/>
        </a:p>
      </dgm:t>
    </dgm:pt>
    <dgm:pt modelId="{6D75FE52-828E-4283-BB90-5CB1341A2FC7}" type="pres">
      <dgm:prSet presAssocID="{ADDE1044-E457-4214-8C11-7E7E8BA2D441}" presName="connectorText" presStyleLbl="sibTrans2D1" presStyleIdx="5" presStyleCnt="6"/>
      <dgm:spPr/>
      <dgm:t>
        <a:bodyPr/>
        <a:lstStyle/>
        <a:p>
          <a:endParaRPr lang="zh-CN" altLang="en-US"/>
        </a:p>
      </dgm:t>
    </dgm:pt>
    <dgm:pt modelId="{5DF3DFE4-A6E1-4ADE-9560-D73B66BCFABB}" type="pres">
      <dgm:prSet presAssocID="{4F958379-3A1F-48DE-A8E6-92ACBB1CF0B0}" presName="node" presStyleLbl="node1" presStyleIdx="6" presStyleCnt="7">
        <dgm:presLayoutVars>
          <dgm:bulletEnabled val="1"/>
        </dgm:presLayoutVars>
      </dgm:prSet>
      <dgm:spPr/>
      <dgm:t>
        <a:bodyPr/>
        <a:lstStyle/>
        <a:p>
          <a:endParaRPr lang="zh-CN" altLang="en-US"/>
        </a:p>
      </dgm:t>
    </dgm:pt>
  </dgm:ptLst>
  <dgm:cxnLst>
    <dgm:cxn modelId="{2CC81922-DC79-481E-9625-DD51856A3151}" type="presOf" srcId="{B9AEFC6F-7332-457E-A5BA-45E4E87D7702}" destId="{F09560BC-A31E-48C2-86F5-F29F79C243A4}" srcOrd="0" destOrd="0" presId="urn:microsoft.com/office/officeart/2005/8/layout/process2"/>
    <dgm:cxn modelId="{016FE800-8B00-4A5A-B6D4-6BE9C2E18671}" type="presOf" srcId="{0AD4DAF9-71FE-4498-B646-990D4425A5C7}" destId="{00C291E5-79A5-4E9B-9969-9D3CB3699726}" srcOrd="1" destOrd="0" presId="urn:microsoft.com/office/officeart/2005/8/layout/process2"/>
    <dgm:cxn modelId="{A3065FDE-13FF-48CE-9103-129D65F71970}" srcId="{8D9F67CF-039D-4A67-9ED7-DEF6E8576389}" destId="{2F26F143-E7F4-4ABE-954F-52D6F6385FEB}" srcOrd="0" destOrd="0" parTransId="{94B6C7C3-9BE9-49EA-A2A4-B85C4781899E}" sibTransId="{6DDC558D-4F16-4F7F-8028-35C36A003BFE}"/>
    <dgm:cxn modelId="{9C18B6AA-7C97-459D-8312-7A19C20F67E3}" type="presOf" srcId="{AC34D787-DA75-43B2-9D09-6D5CA9DDE9B2}" destId="{348F27B6-1733-4B67-B540-005DE47EA7CC}" srcOrd="0" destOrd="0" presId="urn:microsoft.com/office/officeart/2005/8/layout/process2"/>
    <dgm:cxn modelId="{B533ECE2-6663-4B72-8D06-7F35916C12CF}" srcId="{8E7AA750-199E-41C9-9A0B-EFC9BB7290A9}" destId="{C44AB041-C640-41CE-9E0A-34358A1ABCF7}" srcOrd="0" destOrd="0" parTransId="{E13E1BAE-E59A-4B44-B202-C9BC71481746}" sibTransId="{AC34D787-DA75-43B2-9D09-6D5CA9DDE9B2}"/>
    <dgm:cxn modelId="{E26424B3-18B8-44C0-97A7-98690C761D46}" type="presOf" srcId="{D0F471DC-C7E8-4974-A2B4-CCD8DDDD874B}" destId="{B9987992-2CE4-45F6-BF5D-8D41ACA64926}" srcOrd="1" destOrd="0" presId="urn:microsoft.com/office/officeart/2005/8/layout/process2"/>
    <dgm:cxn modelId="{16D99A7F-CF00-4123-9E2E-CEFA891F9D95}" type="presOf" srcId="{7F7D1BF1-C8E2-4916-AEB1-DBB947083353}" destId="{618ED9C9-5DF1-470E-98A8-EDAEBAE215CC}" srcOrd="0" destOrd="0" presId="urn:microsoft.com/office/officeart/2005/8/layout/process2"/>
    <dgm:cxn modelId="{30A92186-C232-47BC-B921-D12D5058E1C7}" type="presOf" srcId="{ADDE1044-E457-4214-8C11-7E7E8BA2D441}" destId="{6D75FE52-828E-4283-BB90-5CB1341A2FC7}" srcOrd="1" destOrd="0" presId="urn:microsoft.com/office/officeart/2005/8/layout/process2"/>
    <dgm:cxn modelId="{515CF4F1-F734-4B48-A4F5-A816E8918BF5}" type="presOf" srcId="{132ECA56-61AB-47CB-9B9B-4D335C25AC15}" destId="{3223C6E9-C699-4619-9109-4178FF1A92B1}" srcOrd="0" destOrd="0" presId="urn:microsoft.com/office/officeart/2005/8/layout/process2"/>
    <dgm:cxn modelId="{52385990-5CA8-4D48-95D9-00D4E322560A}" type="presOf" srcId="{AC34D787-DA75-43B2-9D09-6D5CA9DDE9B2}" destId="{B124345E-6F27-46B5-8B79-20A200E1B603}" srcOrd="1" destOrd="0" presId="urn:microsoft.com/office/officeart/2005/8/layout/process2"/>
    <dgm:cxn modelId="{C7860E2A-7D68-45D4-9641-34CB55DDB5CA}" srcId="{8E7AA750-199E-41C9-9A0B-EFC9BB7290A9}" destId="{7F7D1BF1-C8E2-4916-AEB1-DBB947083353}" srcOrd="1" destOrd="0" parTransId="{4D1F2C3A-1DDC-4008-9781-789AFCDC66E5}" sibTransId="{D0F471DC-C7E8-4974-A2B4-CCD8DDDD874B}"/>
    <dgm:cxn modelId="{9ED90477-09CE-4D3D-ADD9-AC0010815D74}" srcId="{8D9F67CF-039D-4A67-9ED7-DEF6E8576389}" destId="{0A7AFAA5-18D4-42F8-8700-06655907E1D3}" srcOrd="1" destOrd="0" parTransId="{F22BE836-463A-4B21-9917-F46203EEE302}" sibTransId="{B9CE9665-3B5A-4EE4-B6C5-D6E17548C4FD}"/>
    <dgm:cxn modelId="{B393F525-79CD-4AEF-AE4B-40A47DF40439}" type="presOf" srcId="{132ECA56-61AB-47CB-9B9B-4D335C25AC15}" destId="{618AA5A0-3710-4B43-B17E-A855B00DFC43}" srcOrd="1" destOrd="0" presId="urn:microsoft.com/office/officeart/2005/8/layout/process2"/>
    <dgm:cxn modelId="{4AE6F081-FEE6-4A59-9957-DEBEA608AEAA}" type="presOf" srcId="{6B7C0A1E-2418-4851-B3EB-06691DB2F803}" destId="{AAEC9472-F8D8-45B3-80D1-EDBC42552B76}" srcOrd="0" destOrd="0" presId="urn:microsoft.com/office/officeart/2005/8/layout/process2"/>
    <dgm:cxn modelId="{D204AD89-6502-4BD2-AF2E-ED93802AB526}" type="presOf" srcId="{34758D7E-FB89-44BD-9184-FCCA5FFAA9B5}" destId="{2238EA99-1518-4531-87B1-3EA373087377}" srcOrd="0" destOrd="0" presId="urn:microsoft.com/office/officeart/2005/8/layout/process2"/>
    <dgm:cxn modelId="{53D944A5-724C-45B9-8A57-636F33FB0490}" type="presOf" srcId="{0A7AFAA5-18D4-42F8-8700-06655907E1D3}" destId="{6863D4D8-162E-44D9-9D4B-5CFB923D0B34}" srcOrd="0" destOrd="2" presId="urn:microsoft.com/office/officeart/2005/8/layout/process2"/>
    <dgm:cxn modelId="{0CEC2708-DD18-42DE-9306-530599C39388}" type="presOf" srcId="{4F958379-3A1F-48DE-A8E6-92ACBB1CF0B0}" destId="{5DF3DFE4-A6E1-4ADE-9560-D73B66BCFABB}" srcOrd="0" destOrd="0" presId="urn:microsoft.com/office/officeart/2005/8/layout/process2"/>
    <dgm:cxn modelId="{4DF2001B-C9CB-4D6C-9685-731470DB82B3}" type="presOf" srcId="{B167A30C-8B34-4176-BB9F-B1E652EC54AF}" destId="{9A9560C0-37FB-44FD-9EC0-2B5382697354}" srcOrd="0" destOrd="0" presId="urn:microsoft.com/office/officeart/2005/8/layout/process2"/>
    <dgm:cxn modelId="{AB69F11F-4210-4375-AD4E-8B62226BC6AF}" type="presOf" srcId="{8D9F67CF-039D-4A67-9ED7-DEF6E8576389}" destId="{6863D4D8-162E-44D9-9D4B-5CFB923D0B34}" srcOrd="0" destOrd="0" presId="urn:microsoft.com/office/officeart/2005/8/layout/process2"/>
    <dgm:cxn modelId="{B80A0156-995A-4B32-935A-E69060525979}" type="presOf" srcId="{2F26F143-E7F4-4ABE-954F-52D6F6385FEB}" destId="{6863D4D8-162E-44D9-9D4B-5CFB923D0B34}" srcOrd="0" destOrd="1" presId="urn:microsoft.com/office/officeart/2005/8/layout/process2"/>
    <dgm:cxn modelId="{4EE79B0F-B92B-423D-A0DC-AD64E783B7A0}" srcId="{8E7AA750-199E-41C9-9A0B-EFC9BB7290A9}" destId="{8D9F67CF-039D-4A67-9ED7-DEF6E8576389}" srcOrd="4" destOrd="0" parTransId="{CC1A8077-4960-4D00-8917-47F071123210}" sibTransId="{B9AEFC6F-7332-457E-A5BA-45E4E87D7702}"/>
    <dgm:cxn modelId="{FE1A0000-C855-406F-8603-29831E9E10A2}" type="presOf" srcId="{D0F471DC-C7E8-4974-A2B4-CCD8DDDD874B}" destId="{81A1101A-CB20-4EFC-8F8C-17B3B2EF98BC}" srcOrd="0" destOrd="0" presId="urn:microsoft.com/office/officeart/2005/8/layout/process2"/>
    <dgm:cxn modelId="{614AD749-ED53-44D1-9936-0F8BDBD3BF59}" type="presOf" srcId="{0AD4DAF9-71FE-4498-B646-990D4425A5C7}" destId="{1B8C93B4-5736-4439-8097-2C5897F5DFCF}" srcOrd="0" destOrd="0" presId="urn:microsoft.com/office/officeart/2005/8/layout/process2"/>
    <dgm:cxn modelId="{2F58AC61-E6BF-4C63-9BC0-95221C87A40D}" type="presOf" srcId="{B9AEFC6F-7332-457E-A5BA-45E4E87D7702}" destId="{C6A7FE66-AE4A-4477-BE50-18CF6C3BAB92}" srcOrd="1" destOrd="0" presId="urn:microsoft.com/office/officeart/2005/8/layout/process2"/>
    <dgm:cxn modelId="{BE30FAD7-753C-4B86-9622-108C6BB4867A}" type="presOf" srcId="{ADDE1044-E457-4214-8C11-7E7E8BA2D441}" destId="{0F2C18FB-3015-4A44-8693-55B2EF32B124}" srcOrd="0" destOrd="0" presId="urn:microsoft.com/office/officeart/2005/8/layout/process2"/>
    <dgm:cxn modelId="{7E834AF3-CA37-4CCB-8B5E-4D9E0233CE4A}" srcId="{8E7AA750-199E-41C9-9A0B-EFC9BB7290A9}" destId="{B167A30C-8B34-4176-BB9F-B1E652EC54AF}" srcOrd="3" destOrd="0" parTransId="{AFCEC0BD-0F30-4F72-9DB0-D4919849D2BD}" sibTransId="{0AD4DAF9-71FE-4498-B646-990D4425A5C7}"/>
    <dgm:cxn modelId="{8BEEB451-ADE0-49AF-9B35-1F2ED192B11D}" srcId="{8E7AA750-199E-41C9-9A0B-EFC9BB7290A9}" destId="{6B7C0A1E-2418-4851-B3EB-06691DB2F803}" srcOrd="5" destOrd="0" parTransId="{B23CDA36-5D74-463C-99DD-01BD17DA1E19}" sibTransId="{ADDE1044-E457-4214-8C11-7E7E8BA2D441}"/>
    <dgm:cxn modelId="{FF25D615-5BF1-4002-B78D-BDD8EFE151D8}" srcId="{8E7AA750-199E-41C9-9A0B-EFC9BB7290A9}" destId="{4F958379-3A1F-48DE-A8E6-92ACBB1CF0B0}" srcOrd="6" destOrd="0" parTransId="{99B28860-F5F8-48C1-895C-EF8AD5F174C9}" sibTransId="{8716C61C-E430-4F27-81E2-F31DEAB564EE}"/>
    <dgm:cxn modelId="{745255DC-AA60-44AE-BB38-8730DD28A6D8}" srcId="{8E7AA750-199E-41C9-9A0B-EFC9BB7290A9}" destId="{34758D7E-FB89-44BD-9184-FCCA5FFAA9B5}" srcOrd="2" destOrd="0" parTransId="{E72A63A3-4CE9-4DCC-AB0A-375BE37730CE}" sibTransId="{132ECA56-61AB-47CB-9B9B-4D335C25AC15}"/>
    <dgm:cxn modelId="{B1B0582D-7550-49F7-A20B-12BB1016EA58}" type="presOf" srcId="{C44AB041-C640-41CE-9E0A-34358A1ABCF7}" destId="{169A66D0-D796-465C-A771-EBA978983B6A}" srcOrd="0" destOrd="0" presId="urn:microsoft.com/office/officeart/2005/8/layout/process2"/>
    <dgm:cxn modelId="{65A5CE35-8E60-46FD-B83D-8A7FFDC11671}" type="presOf" srcId="{8E7AA750-199E-41C9-9A0B-EFC9BB7290A9}" destId="{16DAD7A9-0E1E-44B4-9C19-8E623308B5B1}" srcOrd="0" destOrd="0" presId="urn:microsoft.com/office/officeart/2005/8/layout/process2"/>
    <dgm:cxn modelId="{D1BC24C0-DC1C-410A-94F5-C18C99DCD010}" type="presParOf" srcId="{16DAD7A9-0E1E-44B4-9C19-8E623308B5B1}" destId="{169A66D0-D796-465C-A771-EBA978983B6A}" srcOrd="0" destOrd="0" presId="urn:microsoft.com/office/officeart/2005/8/layout/process2"/>
    <dgm:cxn modelId="{4E60D936-61BB-4AEB-86FE-1B6A979C1257}" type="presParOf" srcId="{16DAD7A9-0E1E-44B4-9C19-8E623308B5B1}" destId="{348F27B6-1733-4B67-B540-005DE47EA7CC}" srcOrd="1" destOrd="0" presId="urn:microsoft.com/office/officeart/2005/8/layout/process2"/>
    <dgm:cxn modelId="{0191036C-380E-456D-A907-C6E069FE7626}" type="presParOf" srcId="{348F27B6-1733-4B67-B540-005DE47EA7CC}" destId="{B124345E-6F27-46B5-8B79-20A200E1B603}" srcOrd="0" destOrd="0" presId="urn:microsoft.com/office/officeart/2005/8/layout/process2"/>
    <dgm:cxn modelId="{ABD996E3-8E4F-43C0-BDF4-93382AF6549A}" type="presParOf" srcId="{16DAD7A9-0E1E-44B4-9C19-8E623308B5B1}" destId="{618ED9C9-5DF1-470E-98A8-EDAEBAE215CC}" srcOrd="2" destOrd="0" presId="urn:microsoft.com/office/officeart/2005/8/layout/process2"/>
    <dgm:cxn modelId="{09721133-29D7-4CF6-8C05-52CA0FCBA6F7}" type="presParOf" srcId="{16DAD7A9-0E1E-44B4-9C19-8E623308B5B1}" destId="{81A1101A-CB20-4EFC-8F8C-17B3B2EF98BC}" srcOrd="3" destOrd="0" presId="urn:microsoft.com/office/officeart/2005/8/layout/process2"/>
    <dgm:cxn modelId="{54CDC4A6-D2FA-41AB-BDC6-B77CB3F43B08}" type="presParOf" srcId="{81A1101A-CB20-4EFC-8F8C-17B3B2EF98BC}" destId="{B9987992-2CE4-45F6-BF5D-8D41ACA64926}" srcOrd="0" destOrd="0" presId="urn:microsoft.com/office/officeart/2005/8/layout/process2"/>
    <dgm:cxn modelId="{BD48CC54-D62E-4C5D-9E1C-2D4153A1DB8F}" type="presParOf" srcId="{16DAD7A9-0E1E-44B4-9C19-8E623308B5B1}" destId="{2238EA99-1518-4531-87B1-3EA373087377}" srcOrd="4" destOrd="0" presId="urn:microsoft.com/office/officeart/2005/8/layout/process2"/>
    <dgm:cxn modelId="{E9A31B7A-60E0-47DA-8342-E0B39DFC9D01}" type="presParOf" srcId="{16DAD7A9-0E1E-44B4-9C19-8E623308B5B1}" destId="{3223C6E9-C699-4619-9109-4178FF1A92B1}" srcOrd="5" destOrd="0" presId="urn:microsoft.com/office/officeart/2005/8/layout/process2"/>
    <dgm:cxn modelId="{E0B6EFD9-D484-404D-B7B1-BEED78E5BCE8}" type="presParOf" srcId="{3223C6E9-C699-4619-9109-4178FF1A92B1}" destId="{618AA5A0-3710-4B43-B17E-A855B00DFC43}" srcOrd="0" destOrd="0" presId="urn:microsoft.com/office/officeart/2005/8/layout/process2"/>
    <dgm:cxn modelId="{C916C01A-74D7-4FEE-9AEA-2F076A829EBA}" type="presParOf" srcId="{16DAD7A9-0E1E-44B4-9C19-8E623308B5B1}" destId="{9A9560C0-37FB-44FD-9EC0-2B5382697354}" srcOrd="6" destOrd="0" presId="urn:microsoft.com/office/officeart/2005/8/layout/process2"/>
    <dgm:cxn modelId="{C0F6F25A-A4C3-4D97-AD0E-02457B34E43A}" type="presParOf" srcId="{16DAD7A9-0E1E-44B4-9C19-8E623308B5B1}" destId="{1B8C93B4-5736-4439-8097-2C5897F5DFCF}" srcOrd="7" destOrd="0" presId="urn:microsoft.com/office/officeart/2005/8/layout/process2"/>
    <dgm:cxn modelId="{A29B5059-2E95-458C-B4C4-CC3D815798AC}" type="presParOf" srcId="{1B8C93B4-5736-4439-8097-2C5897F5DFCF}" destId="{00C291E5-79A5-4E9B-9969-9D3CB3699726}" srcOrd="0" destOrd="0" presId="urn:microsoft.com/office/officeart/2005/8/layout/process2"/>
    <dgm:cxn modelId="{29D7015D-DF7B-4D26-B3C0-1FCEA4B3CA34}" type="presParOf" srcId="{16DAD7A9-0E1E-44B4-9C19-8E623308B5B1}" destId="{6863D4D8-162E-44D9-9D4B-5CFB923D0B34}" srcOrd="8" destOrd="0" presId="urn:microsoft.com/office/officeart/2005/8/layout/process2"/>
    <dgm:cxn modelId="{B39705DD-44E0-4CFF-B3F9-F1CBEE149DD7}" type="presParOf" srcId="{16DAD7A9-0E1E-44B4-9C19-8E623308B5B1}" destId="{F09560BC-A31E-48C2-86F5-F29F79C243A4}" srcOrd="9" destOrd="0" presId="urn:microsoft.com/office/officeart/2005/8/layout/process2"/>
    <dgm:cxn modelId="{19FC7DB2-0B42-4EC4-AF4C-87B22D4F0C20}" type="presParOf" srcId="{F09560BC-A31E-48C2-86F5-F29F79C243A4}" destId="{C6A7FE66-AE4A-4477-BE50-18CF6C3BAB92}" srcOrd="0" destOrd="0" presId="urn:microsoft.com/office/officeart/2005/8/layout/process2"/>
    <dgm:cxn modelId="{36B4FB46-13EC-474C-A914-996B87DAE592}" type="presParOf" srcId="{16DAD7A9-0E1E-44B4-9C19-8E623308B5B1}" destId="{AAEC9472-F8D8-45B3-80D1-EDBC42552B76}" srcOrd="10" destOrd="0" presId="urn:microsoft.com/office/officeart/2005/8/layout/process2"/>
    <dgm:cxn modelId="{BA1F3F06-139D-42A2-B833-C0BC9EAA9472}" type="presParOf" srcId="{16DAD7A9-0E1E-44B4-9C19-8E623308B5B1}" destId="{0F2C18FB-3015-4A44-8693-55B2EF32B124}" srcOrd="11" destOrd="0" presId="urn:microsoft.com/office/officeart/2005/8/layout/process2"/>
    <dgm:cxn modelId="{87FD9326-C866-4EB1-AC45-EF69BF2B136C}" type="presParOf" srcId="{0F2C18FB-3015-4A44-8693-55B2EF32B124}" destId="{6D75FE52-828E-4283-BB90-5CB1341A2FC7}" srcOrd="0" destOrd="0" presId="urn:microsoft.com/office/officeart/2005/8/layout/process2"/>
    <dgm:cxn modelId="{7F1AAD3F-F1A9-40C0-A295-AB464310781C}" type="presParOf" srcId="{16DAD7A9-0E1E-44B4-9C19-8E623308B5B1}" destId="{5DF3DFE4-A6E1-4ADE-9560-D73B66BCFABB}" srcOrd="12" destOrd="0" presId="urn:microsoft.com/office/officeart/2005/8/layout/process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450124" cy="6166338"/>
        <a:chOff x="0" y="0"/>
        <a:chExt cx="2450124" cy="6166338"/>
      </a:xfrm>
    </dsp:grpSpPr>
    <dsp:sp modelId="{169A66D0-D796-465C-A771-EBA978983B6A}">
      <dsp:nvSpPr>
        <dsp:cNvPr id="3" name="圆角矩形 2"/>
        <dsp:cNvSpPr/>
      </dsp:nvSpPr>
      <dsp:spPr bwMode="white">
        <a:xfrm>
          <a:off x="0" y="0"/>
          <a:ext cx="2450124" cy="6166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主循环</a:t>
          </a:r>
          <a:endParaRPr lang="zh-CN" altLang="en-US" sz="1600" dirty="0"/>
        </a:p>
      </dsp:txBody>
      <dsp:txXfrm>
        <a:off x="0" y="0"/>
        <a:ext cx="2450124" cy="616634"/>
      </dsp:txXfrm>
    </dsp:sp>
    <dsp:sp modelId="{348F27B6-1733-4B67-B540-005DE47EA7CC}">
      <dsp:nvSpPr>
        <dsp:cNvPr id="4" name="右箭头 3"/>
        <dsp:cNvSpPr/>
      </dsp:nvSpPr>
      <dsp:spPr bwMode="white">
        <a:xfrm rot="5399999">
          <a:off x="1109443" y="632050"/>
          <a:ext cx="231238" cy="277485"/>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9443" y="632050"/>
        <a:ext cx="231238" cy="277485"/>
      </dsp:txXfrm>
    </dsp:sp>
    <dsp:sp modelId="{618ED9C9-5DF1-470E-98A8-EDAEBAE215CC}">
      <dsp:nvSpPr>
        <dsp:cNvPr id="5" name="圆角矩形 4"/>
        <dsp:cNvSpPr/>
      </dsp:nvSpPr>
      <dsp:spPr bwMode="white">
        <a:xfrm>
          <a:off x="0" y="924951"/>
          <a:ext cx="2450124" cy="6166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触发</a:t>
          </a:r>
          <a:r>
            <a:rPr lang="en-US" altLang="zh-CN" sz="1600" dirty="0" err="1" smtClean="0"/>
            <a:t>SysTick</a:t>
          </a:r>
          <a:r>
            <a:rPr lang="zh-CN" altLang="en-US" sz="1600" dirty="0" smtClean="0"/>
            <a:t>中断</a:t>
          </a:r>
          <a:endParaRPr lang="zh-CN" altLang="en-US" sz="1600" dirty="0"/>
        </a:p>
      </dsp:txBody>
      <dsp:txXfrm>
        <a:off x="0" y="924951"/>
        <a:ext cx="2450124" cy="616634"/>
      </dsp:txXfrm>
    </dsp:sp>
    <dsp:sp modelId="{81A1101A-CB20-4EFC-8F8C-17B3B2EF98BC}">
      <dsp:nvSpPr>
        <dsp:cNvPr id="6" name="右箭头 5"/>
        <dsp:cNvSpPr/>
      </dsp:nvSpPr>
      <dsp:spPr bwMode="white">
        <a:xfrm rot="5399999">
          <a:off x="1109443" y="1557000"/>
          <a:ext cx="231238" cy="277485"/>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9443" y="1557000"/>
        <a:ext cx="231238" cy="277485"/>
      </dsp:txXfrm>
    </dsp:sp>
    <dsp:sp modelId="{2238EA99-1518-4531-87B1-3EA373087377}">
      <dsp:nvSpPr>
        <dsp:cNvPr id="7" name="圆角矩形 6"/>
        <dsp:cNvSpPr/>
      </dsp:nvSpPr>
      <dsp:spPr bwMode="white">
        <a:xfrm>
          <a:off x="0" y="1849901"/>
          <a:ext cx="2450124" cy="6166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保护现场</a:t>
          </a:r>
          <a:endParaRPr lang="zh-CN" altLang="en-US" sz="1600" dirty="0"/>
        </a:p>
      </dsp:txBody>
      <dsp:txXfrm>
        <a:off x="0" y="1849901"/>
        <a:ext cx="2450124" cy="616634"/>
      </dsp:txXfrm>
    </dsp:sp>
    <dsp:sp modelId="{3223C6E9-C699-4619-9109-4178FF1A92B1}">
      <dsp:nvSpPr>
        <dsp:cNvPr id="8" name="右箭头 7"/>
        <dsp:cNvSpPr/>
      </dsp:nvSpPr>
      <dsp:spPr bwMode="white">
        <a:xfrm rot="5399999">
          <a:off x="1109443" y="2481951"/>
          <a:ext cx="231238" cy="277485"/>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9443" y="2481951"/>
        <a:ext cx="231238" cy="277485"/>
      </dsp:txXfrm>
    </dsp:sp>
    <dsp:sp modelId="{9A9560C0-37FB-44FD-9EC0-2B5382697354}">
      <dsp:nvSpPr>
        <dsp:cNvPr id="9" name="圆角矩形 8"/>
        <dsp:cNvSpPr/>
      </dsp:nvSpPr>
      <dsp:spPr bwMode="white">
        <a:xfrm>
          <a:off x="0" y="2774852"/>
          <a:ext cx="2450124" cy="6166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跳转到中断服务函数</a:t>
          </a:r>
          <a:endParaRPr lang="zh-CN" altLang="en-US" sz="1600" dirty="0"/>
        </a:p>
      </dsp:txBody>
      <dsp:txXfrm>
        <a:off x="0" y="2774852"/>
        <a:ext cx="2450124" cy="616634"/>
      </dsp:txXfrm>
    </dsp:sp>
    <dsp:sp modelId="{1B8C93B4-5736-4439-8097-2C5897F5DFCF}">
      <dsp:nvSpPr>
        <dsp:cNvPr id="10" name="右箭头 9"/>
        <dsp:cNvSpPr/>
      </dsp:nvSpPr>
      <dsp:spPr bwMode="white">
        <a:xfrm rot="5399999">
          <a:off x="1109443" y="3406902"/>
          <a:ext cx="231238" cy="277485"/>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9443" y="3406902"/>
        <a:ext cx="231238" cy="277485"/>
      </dsp:txXfrm>
    </dsp:sp>
    <dsp:sp modelId="{6863D4D8-162E-44D9-9D4B-5CFB923D0B34}">
      <dsp:nvSpPr>
        <dsp:cNvPr id="11" name="圆角矩形 10"/>
        <dsp:cNvSpPr/>
      </dsp:nvSpPr>
      <dsp:spPr bwMode="white">
        <a:xfrm>
          <a:off x="0" y="3699803"/>
          <a:ext cx="2450124" cy="6166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执行中断服务函数</a:t>
          </a:r>
          <a:endParaRPr lang="zh-CN" altLang="en-US" sz="1600" dirty="0"/>
        </a:p>
        <a:p>
          <a:pPr marL="114300" lvl="1" indent="-114300" algn="ctr">
            <a:lnSpc>
              <a:spcPct val="100000"/>
            </a:lnSpc>
            <a:spcBef>
              <a:spcPct val="0"/>
            </a:spcBef>
            <a:spcAft>
              <a:spcPct val="15000"/>
            </a:spcAft>
            <a:buChar char="•"/>
          </a:pPr>
          <a:r>
            <a:rPr lang="en-US" altLang="zh-CN" sz="1200" dirty="0" err="1" smtClean="0"/>
            <a:t>systemTimeInMs</a:t>
          </a:r>
          <a:r>
            <a:rPr lang="en-US" altLang="zh-CN" sz="1200" dirty="0" smtClean="0"/>
            <a:t>++</a:t>
          </a:r>
          <a:endParaRPr lang="zh-CN" altLang="en-US" sz="1200" dirty="0"/>
        </a:p>
      </dsp:txBody>
      <dsp:txXfrm>
        <a:off x="0" y="3699803"/>
        <a:ext cx="2450124" cy="616634"/>
      </dsp:txXfrm>
    </dsp:sp>
    <dsp:sp modelId="{F09560BC-A31E-48C2-86F5-F29F79C243A4}">
      <dsp:nvSpPr>
        <dsp:cNvPr id="12" name="右箭头 11"/>
        <dsp:cNvSpPr/>
      </dsp:nvSpPr>
      <dsp:spPr bwMode="white">
        <a:xfrm rot="5399999">
          <a:off x="1109443" y="4331852"/>
          <a:ext cx="231238" cy="277485"/>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9443" y="4331852"/>
        <a:ext cx="231238" cy="277485"/>
      </dsp:txXfrm>
    </dsp:sp>
    <dsp:sp modelId="{AAEC9472-F8D8-45B3-80D1-EDBC42552B76}">
      <dsp:nvSpPr>
        <dsp:cNvPr id="13" name="圆角矩形 12"/>
        <dsp:cNvSpPr/>
      </dsp:nvSpPr>
      <dsp:spPr bwMode="white">
        <a:xfrm>
          <a:off x="0" y="4624754"/>
          <a:ext cx="2450124" cy="6166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恢复现场</a:t>
          </a:r>
          <a:endParaRPr lang="zh-CN" altLang="en-US" sz="1600" dirty="0"/>
        </a:p>
      </dsp:txBody>
      <dsp:txXfrm>
        <a:off x="0" y="4624754"/>
        <a:ext cx="2450124" cy="616634"/>
      </dsp:txXfrm>
    </dsp:sp>
    <dsp:sp modelId="{0F2C18FB-3015-4A44-8693-55B2EF32B124}">
      <dsp:nvSpPr>
        <dsp:cNvPr id="14" name="右箭头 13"/>
        <dsp:cNvSpPr/>
      </dsp:nvSpPr>
      <dsp:spPr bwMode="white">
        <a:xfrm rot="5399999">
          <a:off x="1109443" y="5256803"/>
          <a:ext cx="231238" cy="277485"/>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9443" y="5256803"/>
        <a:ext cx="231238" cy="277485"/>
      </dsp:txXfrm>
    </dsp:sp>
    <dsp:sp modelId="{5DF3DFE4-A6E1-4ADE-9560-D73B66BCFABB}">
      <dsp:nvSpPr>
        <dsp:cNvPr id="15" name="圆角矩形 14"/>
        <dsp:cNvSpPr/>
      </dsp:nvSpPr>
      <dsp:spPr bwMode="white">
        <a:xfrm>
          <a:off x="0" y="5549704"/>
          <a:ext cx="2450124" cy="6166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主循环</a:t>
          </a:r>
          <a:endParaRPr lang="zh-CN" altLang="en-US" sz="1600" dirty="0"/>
        </a:p>
      </dsp:txBody>
      <dsp:txXfrm>
        <a:off x="0" y="5549704"/>
        <a:ext cx="2450124" cy="616634"/>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450124" cy="6166338"/>
        <a:chOff x="0" y="0"/>
        <a:chExt cx="2450124" cy="6166338"/>
      </a:xfrm>
    </dsp:grpSpPr>
    <dsp:sp modelId="{169A66D0-D796-465C-A771-EBA978983B6A}">
      <dsp:nvSpPr>
        <dsp:cNvPr id="3" name="圆角矩形 2"/>
        <dsp:cNvSpPr/>
      </dsp:nvSpPr>
      <dsp:spPr bwMode="white">
        <a:xfrm>
          <a:off x="0" y="0"/>
          <a:ext cx="2450124" cy="6166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主循环</a:t>
          </a:r>
          <a:endParaRPr lang="zh-CN" altLang="en-US" sz="1600" dirty="0"/>
        </a:p>
      </dsp:txBody>
      <dsp:txXfrm>
        <a:off x="0" y="0"/>
        <a:ext cx="2450124" cy="616634"/>
      </dsp:txXfrm>
    </dsp:sp>
    <dsp:sp modelId="{348F27B6-1733-4B67-B540-005DE47EA7CC}">
      <dsp:nvSpPr>
        <dsp:cNvPr id="4" name="右箭头 3"/>
        <dsp:cNvSpPr/>
      </dsp:nvSpPr>
      <dsp:spPr bwMode="white">
        <a:xfrm rot="5399999">
          <a:off x="1109443" y="632050"/>
          <a:ext cx="231238" cy="277485"/>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9443" y="632050"/>
        <a:ext cx="231238" cy="277485"/>
      </dsp:txXfrm>
    </dsp:sp>
    <dsp:sp modelId="{618ED9C9-5DF1-470E-98A8-EDAEBAE215CC}">
      <dsp:nvSpPr>
        <dsp:cNvPr id="5" name="圆角矩形 4"/>
        <dsp:cNvSpPr/>
      </dsp:nvSpPr>
      <dsp:spPr bwMode="white">
        <a:xfrm>
          <a:off x="0" y="924951"/>
          <a:ext cx="2450124" cy="6166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触发</a:t>
          </a:r>
          <a:r>
            <a:rPr lang="en-US" altLang="zh-CN" sz="1600" dirty="0" err="1" smtClean="0"/>
            <a:t>SysTick</a:t>
          </a:r>
          <a:r>
            <a:rPr lang="zh-CN" altLang="en-US" sz="1600" dirty="0" smtClean="0"/>
            <a:t>中断</a:t>
          </a:r>
          <a:endParaRPr lang="zh-CN" altLang="en-US" sz="1600" dirty="0"/>
        </a:p>
      </dsp:txBody>
      <dsp:txXfrm>
        <a:off x="0" y="924951"/>
        <a:ext cx="2450124" cy="616634"/>
      </dsp:txXfrm>
    </dsp:sp>
    <dsp:sp modelId="{81A1101A-CB20-4EFC-8F8C-17B3B2EF98BC}">
      <dsp:nvSpPr>
        <dsp:cNvPr id="6" name="右箭头 5"/>
        <dsp:cNvSpPr/>
      </dsp:nvSpPr>
      <dsp:spPr bwMode="white">
        <a:xfrm rot="5399999">
          <a:off x="1109443" y="1557000"/>
          <a:ext cx="231238" cy="277485"/>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9443" y="1557000"/>
        <a:ext cx="231238" cy="277485"/>
      </dsp:txXfrm>
    </dsp:sp>
    <dsp:sp modelId="{2238EA99-1518-4531-87B1-3EA373087377}">
      <dsp:nvSpPr>
        <dsp:cNvPr id="7" name="圆角矩形 6"/>
        <dsp:cNvSpPr/>
      </dsp:nvSpPr>
      <dsp:spPr bwMode="white">
        <a:xfrm>
          <a:off x="0" y="1849901"/>
          <a:ext cx="2450124" cy="6166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保护现场</a:t>
          </a:r>
          <a:endParaRPr lang="zh-CN" altLang="en-US" sz="1600" dirty="0"/>
        </a:p>
      </dsp:txBody>
      <dsp:txXfrm>
        <a:off x="0" y="1849901"/>
        <a:ext cx="2450124" cy="616634"/>
      </dsp:txXfrm>
    </dsp:sp>
    <dsp:sp modelId="{3223C6E9-C699-4619-9109-4178FF1A92B1}">
      <dsp:nvSpPr>
        <dsp:cNvPr id="8" name="右箭头 7"/>
        <dsp:cNvSpPr/>
      </dsp:nvSpPr>
      <dsp:spPr bwMode="white">
        <a:xfrm rot="5399999">
          <a:off x="1109443" y="2481951"/>
          <a:ext cx="231238" cy="277485"/>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9443" y="2481951"/>
        <a:ext cx="231238" cy="277485"/>
      </dsp:txXfrm>
    </dsp:sp>
    <dsp:sp modelId="{9A9560C0-37FB-44FD-9EC0-2B5382697354}">
      <dsp:nvSpPr>
        <dsp:cNvPr id="9" name="圆角矩形 8"/>
        <dsp:cNvSpPr/>
      </dsp:nvSpPr>
      <dsp:spPr bwMode="white">
        <a:xfrm>
          <a:off x="0" y="2774852"/>
          <a:ext cx="2450124" cy="6166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跳转到中断服务函数</a:t>
          </a:r>
          <a:endParaRPr lang="zh-CN" altLang="en-US" sz="1600" dirty="0"/>
        </a:p>
      </dsp:txBody>
      <dsp:txXfrm>
        <a:off x="0" y="2774852"/>
        <a:ext cx="2450124" cy="616634"/>
      </dsp:txXfrm>
    </dsp:sp>
    <dsp:sp modelId="{1B8C93B4-5736-4439-8097-2C5897F5DFCF}">
      <dsp:nvSpPr>
        <dsp:cNvPr id="10" name="右箭头 9"/>
        <dsp:cNvSpPr/>
      </dsp:nvSpPr>
      <dsp:spPr bwMode="white">
        <a:xfrm rot="5399999">
          <a:off x="1109443" y="3406902"/>
          <a:ext cx="231238" cy="277485"/>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9443" y="3406902"/>
        <a:ext cx="231238" cy="277485"/>
      </dsp:txXfrm>
    </dsp:sp>
    <dsp:sp modelId="{6863D4D8-162E-44D9-9D4B-5CFB923D0B34}">
      <dsp:nvSpPr>
        <dsp:cNvPr id="11" name="圆角矩形 10"/>
        <dsp:cNvSpPr/>
      </dsp:nvSpPr>
      <dsp:spPr bwMode="white">
        <a:xfrm>
          <a:off x="0" y="3699803"/>
          <a:ext cx="2450124" cy="6166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执行中断服务函数</a:t>
          </a:r>
          <a:endParaRPr lang="zh-CN" altLang="en-US" sz="1600" dirty="0"/>
        </a:p>
        <a:p>
          <a:pPr marL="114300" lvl="1" indent="-114300" algn="ctr">
            <a:lnSpc>
              <a:spcPct val="100000"/>
            </a:lnSpc>
            <a:spcBef>
              <a:spcPct val="0"/>
            </a:spcBef>
            <a:spcAft>
              <a:spcPct val="15000"/>
            </a:spcAft>
            <a:buChar char="•"/>
          </a:pPr>
          <a:r>
            <a:rPr lang="en-US" altLang="zh-CN" sz="1200" dirty="0" err="1" smtClean="0"/>
            <a:t>systemTimeInMs</a:t>
          </a:r>
          <a:r>
            <a:rPr lang="en-US" altLang="zh-CN" sz="1200" dirty="0" smtClean="0"/>
            <a:t>++</a:t>
          </a:r>
          <a:endParaRPr lang="zh-CN" altLang="en-US" sz="1200" dirty="0"/>
        </a:p>
      </dsp:txBody>
      <dsp:txXfrm>
        <a:off x="0" y="3699803"/>
        <a:ext cx="2450124" cy="616634"/>
      </dsp:txXfrm>
    </dsp:sp>
    <dsp:sp modelId="{F09560BC-A31E-48C2-86F5-F29F79C243A4}">
      <dsp:nvSpPr>
        <dsp:cNvPr id="12" name="右箭头 11"/>
        <dsp:cNvSpPr/>
      </dsp:nvSpPr>
      <dsp:spPr bwMode="white">
        <a:xfrm rot="5399999">
          <a:off x="1109443" y="4331852"/>
          <a:ext cx="231238" cy="277485"/>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9443" y="4331852"/>
        <a:ext cx="231238" cy="277485"/>
      </dsp:txXfrm>
    </dsp:sp>
    <dsp:sp modelId="{AAEC9472-F8D8-45B3-80D1-EDBC42552B76}">
      <dsp:nvSpPr>
        <dsp:cNvPr id="13" name="圆角矩形 12"/>
        <dsp:cNvSpPr/>
      </dsp:nvSpPr>
      <dsp:spPr bwMode="white">
        <a:xfrm>
          <a:off x="0" y="4624754"/>
          <a:ext cx="2450124" cy="6166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恢复现场</a:t>
          </a:r>
          <a:endParaRPr lang="zh-CN" altLang="en-US" sz="1600" dirty="0"/>
        </a:p>
      </dsp:txBody>
      <dsp:txXfrm>
        <a:off x="0" y="4624754"/>
        <a:ext cx="2450124" cy="616634"/>
      </dsp:txXfrm>
    </dsp:sp>
    <dsp:sp modelId="{0F2C18FB-3015-4A44-8693-55B2EF32B124}">
      <dsp:nvSpPr>
        <dsp:cNvPr id="14" name="右箭头 13"/>
        <dsp:cNvSpPr/>
      </dsp:nvSpPr>
      <dsp:spPr bwMode="white">
        <a:xfrm rot="5399999">
          <a:off x="1109443" y="5256803"/>
          <a:ext cx="231238" cy="277485"/>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9443" y="5256803"/>
        <a:ext cx="231238" cy="277485"/>
      </dsp:txXfrm>
    </dsp:sp>
    <dsp:sp modelId="{5DF3DFE4-A6E1-4ADE-9560-D73B66BCFABB}">
      <dsp:nvSpPr>
        <dsp:cNvPr id="15" name="圆角矩形 14"/>
        <dsp:cNvSpPr/>
      </dsp:nvSpPr>
      <dsp:spPr bwMode="white">
        <a:xfrm>
          <a:off x="0" y="5549704"/>
          <a:ext cx="2450124" cy="6166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主循环</a:t>
          </a:r>
          <a:endParaRPr lang="zh-CN" altLang="en-US" sz="1600" dirty="0"/>
        </a:p>
      </dsp:txBody>
      <dsp:txXfrm>
        <a:off x="0" y="5549704"/>
        <a:ext cx="2450124" cy="616634"/>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450124" cy="6518030"/>
        <a:chOff x="0" y="0"/>
        <a:chExt cx="2450124" cy="6518030"/>
      </a:xfrm>
    </dsp:grpSpPr>
    <dsp:sp modelId="{169A66D0-D796-465C-A771-EBA978983B6A}">
      <dsp:nvSpPr>
        <dsp:cNvPr id="3" name="圆角矩形 2"/>
        <dsp:cNvSpPr/>
      </dsp:nvSpPr>
      <dsp:spPr bwMode="white">
        <a:xfrm>
          <a:off x="0" y="0"/>
          <a:ext cx="2450124" cy="62584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主循环</a:t>
          </a:r>
          <a:endParaRPr lang="zh-CN" altLang="en-US" sz="1600" dirty="0"/>
        </a:p>
      </dsp:txBody>
      <dsp:txXfrm>
        <a:off x="0" y="0"/>
        <a:ext cx="2450124" cy="625840"/>
      </dsp:txXfrm>
    </dsp:sp>
    <dsp:sp modelId="{348F27B6-1733-4B67-B540-005DE47EA7CC}">
      <dsp:nvSpPr>
        <dsp:cNvPr id="4" name="右箭头 3"/>
        <dsp:cNvSpPr/>
      </dsp:nvSpPr>
      <dsp:spPr bwMode="white">
        <a:xfrm rot="5399999">
          <a:off x="1107717" y="641486"/>
          <a:ext cx="234690" cy="281628"/>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7717" y="641486"/>
        <a:ext cx="234690" cy="281628"/>
      </dsp:txXfrm>
    </dsp:sp>
    <dsp:sp modelId="{618ED9C9-5DF1-470E-98A8-EDAEBAE215CC}">
      <dsp:nvSpPr>
        <dsp:cNvPr id="5" name="圆角矩形 4"/>
        <dsp:cNvSpPr/>
      </dsp:nvSpPr>
      <dsp:spPr bwMode="white">
        <a:xfrm>
          <a:off x="0" y="938760"/>
          <a:ext cx="2450124" cy="62584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触发</a:t>
          </a:r>
          <a:r>
            <a:rPr lang="en-US" altLang="zh-CN" sz="1600" dirty="0" err="1" smtClean="0"/>
            <a:t>SysTick</a:t>
          </a:r>
          <a:r>
            <a:rPr lang="zh-CN" altLang="en-US" sz="1600" dirty="0" smtClean="0"/>
            <a:t>中断</a:t>
          </a:r>
          <a:endParaRPr lang="zh-CN" altLang="en-US" sz="1600" dirty="0"/>
        </a:p>
      </dsp:txBody>
      <dsp:txXfrm>
        <a:off x="0" y="938760"/>
        <a:ext cx="2450124" cy="625840"/>
      </dsp:txXfrm>
    </dsp:sp>
    <dsp:sp modelId="{81A1101A-CB20-4EFC-8F8C-17B3B2EF98BC}">
      <dsp:nvSpPr>
        <dsp:cNvPr id="6" name="右箭头 5"/>
        <dsp:cNvSpPr/>
      </dsp:nvSpPr>
      <dsp:spPr bwMode="white">
        <a:xfrm rot="5399999">
          <a:off x="1107717" y="1580246"/>
          <a:ext cx="234690" cy="281628"/>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7717" y="1580246"/>
        <a:ext cx="234690" cy="281628"/>
      </dsp:txXfrm>
    </dsp:sp>
    <dsp:sp modelId="{2238EA99-1518-4531-87B1-3EA373087377}">
      <dsp:nvSpPr>
        <dsp:cNvPr id="7" name="圆角矩形 6"/>
        <dsp:cNvSpPr/>
      </dsp:nvSpPr>
      <dsp:spPr bwMode="white">
        <a:xfrm>
          <a:off x="0" y="1877520"/>
          <a:ext cx="2450124" cy="62584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保护现场</a:t>
          </a:r>
          <a:endParaRPr lang="zh-CN" altLang="en-US" sz="1600" dirty="0"/>
        </a:p>
      </dsp:txBody>
      <dsp:txXfrm>
        <a:off x="0" y="1877520"/>
        <a:ext cx="2450124" cy="625840"/>
      </dsp:txXfrm>
    </dsp:sp>
    <dsp:sp modelId="{3223C6E9-C699-4619-9109-4178FF1A92B1}">
      <dsp:nvSpPr>
        <dsp:cNvPr id="8" name="右箭头 7"/>
        <dsp:cNvSpPr/>
      </dsp:nvSpPr>
      <dsp:spPr bwMode="white">
        <a:xfrm rot="5399999">
          <a:off x="1107717" y="2519006"/>
          <a:ext cx="234690" cy="281628"/>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7717" y="2519006"/>
        <a:ext cx="234690" cy="281628"/>
      </dsp:txXfrm>
    </dsp:sp>
    <dsp:sp modelId="{9A9560C0-37FB-44FD-9EC0-2B5382697354}">
      <dsp:nvSpPr>
        <dsp:cNvPr id="9" name="圆角矩形 8"/>
        <dsp:cNvSpPr/>
      </dsp:nvSpPr>
      <dsp:spPr bwMode="white">
        <a:xfrm>
          <a:off x="0" y="2816280"/>
          <a:ext cx="2450124" cy="62584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跳转到中断服务函数</a:t>
          </a:r>
          <a:endParaRPr lang="zh-CN" altLang="en-US" sz="1600" dirty="0"/>
        </a:p>
      </dsp:txBody>
      <dsp:txXfrm>
        <a:off x="0" y="2816280"/>
        <a:ext cx="2450124" cy="625840"/>
      </dsp:txXfrm>
    </dsp:sp>
    <dsp:sp modelId="{1B8C93B4-5736-4439-8097-2C5897F5DFCF}">
      <dsp:nvSpPr>
        <dsp:cNvPr id="10" name="右箭头 9"/>
        <dsp:cNvSpPr/>
      </dsp:nvSpPr>
      <dsp:spPr bwMode="white">
        <a:xfrm rot="5399999">
          <a:off x="1107717" y="3457766"/>
          <a:ext cx="234690" cy="281628"/>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7717" y="3457766"/>
        <a:ext cx="234690" cy="281628"/>
      </dsp:txXfrm>
    </dsp:sp>
    <dsp:sp modelId="{6863D4D8-162E-44D9-9D4B-5CFB923D0B34}">
      <dsp:nvSpPr>
        <dsp:cNvPr id="11" name="圆角矩形 10"/>
        <dsp:cNvSpPr/>
      </dsp:nvSpPr>
      <dsp:spPr bwMode="white">
        <a:xfrm>
          <a:off x="0" y="3755040"/>
          <a:ext cx="2450124" cy="88547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执行中断服务函数</a:t>
          </a:r>
          <a:endParaRPr lang="zh-CN" altLang="en-US" sz="1600" dirty="0"/>
        </a:p>
        <a:p>
          <a:pPr marL="114300" lvl="1" indent="-114300" algn="ctr">
            <a:lnSpc>
              <a:spcPct val="100000"/>
            </a:lnSpc>
            <a:spcBef>
              <a:spcPct val="0"/>
            </a:spcBef>
            <a:spcAft>
              <a:spcPct val="15000"/>
            </a:spcAft>
            <a:buChar char="•"/>
          </a:pPr>
          <a:r>
            <a:rPr lang="en-US" altLang="zh-CN" sz="1400" dirty="0" err="1" smtClean="0"/>
            <a:t>systemTimeInMs</a:t>
          </a:r>
          <a:r>
            <a:rPr lang="en-US" altLang="zh-CN" sz="1400" dirty="0" smtClean="0"/>
            <a:t>++</a:t>
          </a:r>
          <a:endParaRPr lang="zh-CN" altLang="en-US" sz="1400" dirty="0"/>
        </a:p>
        <a:p>
          <a:pPr marL="114300" lvl="1" indent="-114300" algn="ctr">
            <a:lnSpc>
              <a:spcPct val="100000"/>
            </a:lnSpc>
            <a:spcBef>
              <a:spcPct val="0"/>
            </a:spcBef>
            <a:spcAft>
              <a:spcPct val="15000"/>
            </a:spcAft>
            <a:buChar char="•"/>
          </a:pPr>
          <a:r>
            <a:rPr lang="zh-CN" altLang="en-US" sz="1400" dirty="0" smtClean="0"/>
            <a:t>判断是否需要改变</a:t>
          </a:r>
          <a:r>
            <a:rPr lang="en-US" altLang="zh-CN" sz="1400" dirty="0" smtClean="0"/>
            <a:t>LED</a:t>
          </a:r>
          <a:r>
            <a:rPr lang="zh-CN" altLang="en-US" sz="1400" dirty="0" smtClean="0"/>
            <a:t>状态</a:t>
          </a:r>
          <a:endParaRPr lang="zh-CN" altLang="en-US" sz="1200" dirty="0"/>
        </a:p>
      </dsp:txBody>
      <dsp:txXfrm>
        <a:off x="0" y="3755040"/>
        <a:ext cx="2450124" cy="885470"/>
      </dsp:txXfrm>
    </dsp:sp>
    <dsp:sp modelId="{F09560BC-A31E-48C2-86F5-F29F79C243A4}">
      <dsp:nvSpPr>
        <dsp:cNvPr id="12" name="右箭头 11"/>
        <dsp:cNvSpPr/>
      </dsp:nvSpPr>
      <dsp:spPr bwMode="white">
        <a:xfrm rot="5399999">
          <a:off x="1107717" y="4656156"/>
          <a:ext cx="234690" cy="281628"/>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7717" y="4656156"/>
        <a:ext cx="234690" cy="281628"/>
      </dsp:txXfrm>
    </dsp:sp>
    <dsp:sp modelId="{AAEC9472-F8D8-45B3-80D1-EDBC42552B76}">
      <dsp:nvSpPr>
        <dsp:cNvPr id="13" name="圆角矩形 12"/>
        <dsp:cNvSpPr/>
      </dsp:nvSpPr>
      <dsp:spPr bwMode="white">
        <a:xfrm>
          <a:off x="0" y="4953430"/>
          <a:ext cx="2450124" cy="62584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恢复现场</a:t>
          </a:r>
          <a:endParaRPr lang="zh-CN" altLang="en-US" sz="1600" dirty="0"/>
        </a:p>
      </dsp:txBody>
      <dsp:txXfrm>
        <a:off x="0" y="4953430"/>
        <a:ext cx="2450124" cy="625840"/>
      </dsp:txXfrm>
    </dsp:sp>
    <dsp:sp modelId="{0F2C18FB-3015-4A44-8693-55B2EF32B124}">
      <dsp:nvSpPr>
        <dsp:cNvPr id="14" name="右箭头 13"/>
        <dsp:cNvSpPr/>
      </dsp:nvSpPr>
      <dsp:spPr bwMode="white">
        <a:xfrm rot="5399999">
          <a:off x="1107717" y="5594916"/>
          <a:ext cx="234690" cy="281628"/>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p>
      </dsp:txBody>
      <dsp:txXfrm rot="5399999">
        <a:off x="1107717" y="5594916"/>
        <a:ext cx="234690" cy="281628"/>
      </dsp:txXfrm>
    </dsp:sp>
    <dsp:sp modelId="{5DF3DFE4-A6E1-4ADE-9560-D73B66BCFABB}">
      <dsp:nvSpPr>
        <dsp:cNvPr id="15" name="圆角矩形 14"/>
        <dsp:cNvSpPr/>
      </dsp:nvSpPr>
      <dsp:spPr bwMode="white">
        <a:xfrm>
          <a:off x="0" y="5892190"/>
          <a:ext cx="2450124" cy="62584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0960"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zh-CN" altLang="en-US" sz="1600" dirty="0" smtClean="0"/>
            <a:t>主循环</a:t>
          </a:r>
          <a:endParaRPr lang="zh-CN" altLang="en-US" sz="1600" dirty="0"/>
        </a:p>
      </dsp:txBody>
      <dsp:txXfrm>
        <a:off x="0" y="5892190"/>
        <a:ext cx="2450124" cy="625840"/>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5D10F3-1DA6-46BC-B91B-9E864D3AD65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CE4750-CFE9-4949-932F-4CE10963015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CE4750-CFE9-4949-932F-4CE10963015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4213"/>
            <a:ext cx="4570413"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7703C07-FDDA-44F0-92EA-E0EB8664958E}" type="slidenum">
              <a:rPr lang="zh-CN" altLang="en-US"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4213"/>
            <a:ext cx="4570413"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7703C07-FDDA-44F0-92EA-E0EB8664958E}" type="slidenum">
              <a:rPr lang="zh-CN" altLang="en-US"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在抢占优先级和响应优先级相同时，中断向量表中优先级较低的中断会被优先相应</a:t>
            </a:r>
            <a:endParaRPr lang="en-US" altLang="zh-CN" dirty="0" smtClean="0"/>
          </a:p>
          <a:p>
            <a:r>
              <a:rPr lang="zh-CN" altLang="en-US" dirty="0" smtClean="0"/>
              <a:t>中断向量表最后的地址就是中断服务程序的入口地址</a:t>
            </a:r>
            <a:endParaRPr lang="zh-CN" altLang="en-US" dirty="0"/>
          </a:p>
        </p:txBody>
      </p:sp>
      <p:sp>
        <p:nvSpPr>
          <p:cNvPr id="4" name="灯片编号占位符 3"/>
          <p:cNvSpPr>
            <a:spLocks noGrp="1"/>
          </p:cNvSpPr>
          <p:nvPr>
            <p:ph type="sldNum" sz="quarter" idx="10"/>
          </p:nvPr>
        </p:nvSpPr>
        <p:spPr/>
        <p:txBody>
          <a:bodyPr/>
          <a:lstStyle/>
          <a:p>
            <a:fld id="{B1CE4750-CFE9-4949-932F-4CE10963015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一般不能随意命名中断服务函数，而是将</a:t>
            </a:r>
            <a:r>
              <a:rPr lang="en-US" altLang="zh-CN" dirty="0" smtClean="0"/>
              <a:t>PPP</a:t>
            </a:r>
            <a:r>
              <a:rPr lang="zh-CN" altLang="en-US" dirty="0" smtClean="0"/>
              <a:t>替换为中断向量表中的“名称”，如</a:t>
            </a:r>
            <a:r>
              <a:rPr lang="en-US" altLang="zh-CN" dirty="0" err="1" smtClean="0"/>
              <a:t>EXTI0</a:t>
            </a:r>
            <a:r>
              <a:rPr lang="zh-CN" altLang="en-US" dirty="0" smtClean="0"/>
              <a:t>线的中断服务函数就是</a:t>
            </a:r>
            <a:r>
              <a:rPr lang="en-US" altLang="zh-CN" dirty="0" err="1" smtClean="0"/>
              <a:t>EXTI0_IRQHandler</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B1CE4750-CFE9-4949-932F-4CE10963015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在抢占优先级和响应优先级相同时，中断向量表中优先级较低的中断会被优先相应</a:t>
            </a:r>
            <a:endParaRPr lang="en-US" altLang="zh-CN" dirty="0" smtClean="0"/>
          </a:p>
          <a:p>
            <a:r>
              <a:rPr lang="zh-CN" altLang="en-US" dirty="0" smtClean="0"/>
              <a:t>中断向量表最后的地址就是中断服务程序的入口地址</a:t>
            </a:r>
            <a:endParaRPr lang="zh-CN" altLang="en-US" dirty="0"/>
          </a:p>
        </p:txBody>
      </p:sp>
      <p:sp>
        <p:nvSpPr>
          <p:cNvPr id="4" name="灯片编号占位符 3"/>
          <p:cNvSpPr>
            <a:spLocks noGrp="1"/>
          </p:cNvSpPr>
          <p:nvPr>
            <p:ph type="sldNum" sz="quarter" idx="10"/>
          </p:nvPr>
        </p:nvSpPr>
        <p:spPr/>
        <p:txBody>
          <a:bodyPr/>
          <a:lstStyle/>
          <a:p>
            <a:fld id="{B1CE4750-CFE9-4949-932F-4CE10963015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为</a:t>
            </a:r>
            <a:r>
              <a:rPr lang="en-US" altLang="zh-CN" dirty="0" err="1" smtClean="0"/>
              <a:t>EXTI0~EXTI18</a:t>
            </a:r>
            <a:endParaRPr lang="zh-CN" altLang="en-US" dirty="0"/>
          </a:p>
        </p:txBody>
      </p:sp>
      <p:sp>
        <p:nvSpPr>
          <p:cNvPr id="4" name="灯片编号占位符 3"/>
          <p:cNvSpPr>
            <a:spLocks noGrp="1"/>
          </p:cNvSpPr>
          <p:nvPr>
            <p:ph type="sldNum" sz="quarter" idx="10"/>
          </p:nvPr>
        </p:nvSpPr>
        <p:spPr/>
        <p:txBody>
          <a:bodyPr/>
          <a:lstStyle/>
          <a:p>
            <a:fld id="{B1CE4750-CFE9-4949-932F-4CE10963015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EXTI0</a:t>
            </a:r>
            <a:r>
              <a:rPr lang="en-US" altLang="zh-CN" dirty="0" smtClean="0"/>
              <a:t>-&gt;</a:t>
            </a:r>
            <a:r>
              <a:rPr lang="en-US" altLang="zh-CN" dirty="0" err="1" smtClean="0"/>
              <a:t>PA~PG.0</a:t>
            </a:r>
            <a:r>
              <a:rPr lang="zh-CN" altLang="en-US" dirty="0" smtClean="0"/>
              <a:t>，</a:t>
            </a:r>
            <a:r>
              <a:rPr lang="en-US" altLang="zh-CN" dirty="0" smtClean="0"/>
              <a:t>……</a:t>
            </a:r>
            <a:r>
              <a:rPr lang="zh-CN" altLang="en-US" dirty="0" smtClean="0"/>
              <a:t>，</a:t>
            </a:r>
            <a:r>
              <a:rPr lang="en-US" altLang="zh-CN" dirty="0" err="1" smtClean="0"/>
              <a:t>EXTI15</a:t>
            </a:r>
            <a:r>
              <a:rPr lang="en-US" altLang="zh-CN" dirty="0" smtClean="0"/>
              <a:t>-&gt;</a:t>
            </a:r>
            <a:r>
              <a:rPr lang="en-US" altLang="zh-CN" dirty="0" err="1" smtClean="0"/>
              <a:t>PA~PG.15</a:t>
            </a:r>
            <a:endParaRPr lang="zh-CN" altLang="en-US" dirty="0"/>
          </a:p>
        </p:txBody>
      </p:sp>
      <p:sp>
        <p:nvSpPr>
          <p:cNvPr id="4" name="灯片编号占位符 3"/>
          <p:cNvSpPr>
            <a:spLocks noGrp="1"/>
          </p:cNvSpPr>
          <p:nvPr>
            <p:ph type="sldNum" sz="quarter" idx="10"/>
          </p:nvPr>
        </p:nvSpPr>
        <p:spPr/>
        <p:txBody>
          <a:bodyPr/>
          <a:lstStyle/>
          <a:p>
            <a:fld id="{B1CE4750-CFE9-4949-932F-4CE10963015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APB</a:t>
            </a:r>
            <a:r>
              <a:rPr lang="zh-CN" altLang="en-US" sz="1200" b="0" i="0" kern="1200" dirty="0" smtClean="0">
                <a:solidFill>
                  <a:schemeClr val="tx1"/>
                </a:solidFill>
                <a:effectLst/>
                <a:latin typeface="+mn-lt"/>
                <a:ea typeface="+mn-ea"/>
                <a:cs typeface="+mn-cs"/>
              </a:rPr>
              <a:t>总线：用于外设接口的数据传输；</a:t>
            </a:r>
            <a:r>
              <a:rPr lang="en-US" altLang="zh-CN" sz="1200" b="0" i="0" kern="1200" dirty="0" smtClean="0">
                <a:solidFill>
                  <a:schemeClr val="tx1"/>
                </a:solidFill>
                <a:effectLst/>
                <a:latin typeface="+mn-lt"/>
                <a:ea typeface="+mn-ea"/>
                <a:cs typeface="+mn-cs"/>
              </a:rPr>
              <a:t>ARM</a:t>
            </a:r>
            <a:r>
              <a:rPr lang="zh-CN" altLang="en-US" sz="1200" b="0" i="0" kern="1200" dirty="0" smtClean="0">
                <a:solidFill>
                  <a:schemeClr val="tx1"/>
                </a:solidFill>
                <a:effectLst/>
                <a:latin typeface="+mn-lt"/>
                <a:ea typeface="+mn-ea"/>
                <a:cs typeface="+mn-cs"/>
              </a:rPr>
              <a:t>公司推出</a:t>
            </a:r>
            <a:r>
              <a:rPr lang="en-US" altLang="zh-CN" sz="1200" b="0" i="0" kern="1200" dirty="0" err="1" smtClean="0">
                <a:solidFill>
                  <a:schemeClr val="tx1"/>
                </a:solidFill>
                <a:effectLst/>
                <a:latin typeface="+mn-lt"/>
                <a:ea typeface="+mn-ea"/>
                <a:cs typeface="+mn-cs"/>
              </a:rPr>
              <a:t>AMBA</a:t>
            </a:r>
            <a:r>
              <a:rPr lang="zh-CN" altLang="en-US" sz="1200" b="0" i="0" kern="1200" dirty="0" smtClean="0">
                <a:solidFill>
                  <a:schemeClr val="tx1"/>
                </a:solidFill>
                <a:effectLst/>
                <a:latin typeface="+mn-lt"/>
                <a:ea typeface="+mn-ea"/>
                <a:cs typeface="+mn-cs"/>
              </a:rPr>
              <a:t>片上总线结构，该总线主要包含先进高速总线（</a:t>
            </a:r>
            <a:r>
              <a:rPr lang="en-US" altLang="zh-CN" sz="1200" b="0" i="0" kern="1200" dirty="0" smtClean="0">
                <a:solidFill>
                  <a:schemeClr val="tx1"/>
                </a:solidFill>
                <a:effectLst/>
                <a:latin typeface="+mn-lt"/>
                <a:ea typeface="+mn-ea"/>
                <a:cs typeface="+mn-cs"/>
              </a:rPr>
              <a:t>Advanced High-speed Bus</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AHB</a:t>
            </a:r>
            <a:r>
              <a:rPr lang="zh-CN" altLang="en-US" sz="1200" b="0" i="0" kern="1200" dirty="0" smtClean="0">
                <a:solidFill>
                  <a:schemeClr val="tx1"/>
                </a:solidFill>
                <a:effectLst/>
                <a:latin typeface="+mn-lt"/>
                <a:ea typeface="+mn-ea"/>
                <a:cs typeface="+mn-cs"/>
              </a:rPr>
              <a:t>）和先进外设总线（</a:t>
            </a:r>
            <a:r>
              <a:rPr lang="en-US" altLang="zh-CN" sz="1200" b="0" i="0" kern="1200" dirty="0" smtClean="0">
                <a:solidFill>
                  <a:schemeClr val="tx1"/>
                </a:solidFill>
                <a:effectLst/>
                <a:latin typeface="+mn-lt"/>
                <a:ea typeface="+mn-ea"/>
                <a:cs typeface="+mn-cs"/>
              </a:rPr>
              <a:t>Advanced Peripheral Bus</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APB</a:t>
            </a:r>
            <a:r>
              <a:rPr lang="zh-CN" altLang="en-US" sz="1200" b="0" i="0" kern="1200" dirty="0" smtClean="0">
                <a:solidFill>
                  <a:schemeClr val="tx1"/>
                </a:solidFill>
                <a:effectLst/>
                <a:latin typeface="+mn-lt"/>
                <a:ea typeface="+mn-ea"/>
                <a:cs typeface="+mn-cs"/>
              </a:rPr>
              <a:t>），分别连接高速设备和低速设备。基于这个总线结构，</a:t>
            </a:r>
            <a:r>
              <a:rPr lang="en-US" altLang="zh-CN" sz="1200" b="0" i="0" kern="1200" dirty="0" err="1" smtClean="0">
                <a:solidFill>
                  <a:schemeClr val="tx1"/>
                </a:solidFill>
                <a:effectLst/>
                <a:latin typeface="+mn-lt"/>
                <a:ea typeface="+mn-ea"/>
                <a:cs typeface="+mn-cs"/>
              </a:rPr>
              <a:t>ICode</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Dcode</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System Bus</a:t>
            </a:r>
            <a:r>
              <a:rPr lang="zh-CN" altLang="en-US" sz="1200" b="0" i="0" kern="1200" dirty="0" smtClean="0">
                <a:solidFill>
                  <a:schemeClr val="tx1"/>
                </a:solidFill>
                <a:effectLst/>
                <a:latin typeface="+mn-lt"/>
                <a:ea typeface="+mn-ea"/>
                <a:cs typeface="+mn-cs"/>
              </a:rPr>
              <a:t>都是</a:t>
            </a:r>
            <a:r>
              <a:rPr lang="en-US" altLang="zh-CN" sz="1200" b="0" i="0" kern="1200" dirty="0" err="1" smtClean="0">
                <a:solidFill>
                  <a:schemeClr val="tx1"/>
                </a:solidFill>
                <a:effectLst/>
                <a:latin typeface="+mn-lt"/>
                <a:ea typeface="+mn-ea"/>
                <a:cs typeface="+mn-cs"/>
              </a:rPr>
              <a:t>AHB</a:t>
            </a:r>
            <a:r>
              <a:rPr lang="zh-CN" altLang="en-US" sz="1200" b="0" i="0" kern="1200" dirty="0" smtClean="0">
                <a:solidFill>
                  <a:schemeClr val="tx1"/>
                </a:solidFill>
                <a:effectLst/>
                <a:latin typeface="+mn-lt"/>
                <a:ea typeface="+mn-ea"/>
                <a:cs typeface="+mn-cs"/>
              </a:rPr>
              <a:t>总线。这里</a:t>
            </a:r>
            <a:r>
              <a:rPr lang="en-US" altLang="zh-CN" sz="1200" b="0" i="0" kern="1200" dirty="0" err="1" smtClean="0">
                <a:solidFill>
                  <a:schemeClr val="tx1"/>
                </a:solidFill>
                <a:effectLst/>
                <a:latin typeface="+mn-lt"/>
                <a:ea typeface="+mn-ea"/>
                <a:cs typeface="+mn-cs"/>
              </a:rPr>
              <a:t>AHB</a:t>
            </a:r>
            <a:r>
              <a:rPr lang="zh-CN" altLang="en-US" sz="1200" b="0" i="0" kern="1200" dirty="0" smtClean="0">
                <a:solidFill>
                  <a:schemeClr val="tx1"/>
                </a:solidFill>
                <a:effectLst/>
                <a:latin typeface="+mn-lt"/>
                <a:ea typeface="+mn-ea"/>
                <a:cs typeface="+mn-cs"/>
              </a:rPr>
              <a:t>系统总线经过两个</a:t>
            </a:r>
            <a:r>
              <a:rPr lang="en-US" altLang="zh-CN" sz="1200" b="0" i="0" kern="1200" dirty="0" err="1" smtClean="0">
                <a:solidFill>
                  <a:schemeClr val="tx1"/>
                </a:solidFill>
                <a:effectLst/>
                <a:latin typeface="+mn-lt"/>
                <a:ea typeface="+mn-ea"/>
                <a:cs typeface="+mn-cs"/>
              </a:rPr>
              <a:t>AHB</a:t>
            </a:r>
            <a:r>
              <a:rPr lang="en-US" altLang="zh-CN" sz="1200" b="0" i="0" kern="1200" dirty="0" smtClean="0">
                <a:solidFill>
                  <a:schemeClr val="tx1"/>
                </a:solidFill>
                <a:effectLst/>
                <a:latin typeface="+mn-lt"/>
                <a:ea typeface="+mn-ea"/>
                <a:cs typeface="+mn-cs"/>
              </a:rPr>
              <a:t>-APB</a:t>
            </a:r>
            <a:r>
              <a:rPr lang="zh-CN" altLang="en-US" sz="1200" b="0" i="0" kern="1200" dirty="0" smtClean="0">
                <a:solidFill>
                  <a:schemeClr val="tx1"/>
                </a:solidFill>
                <a:effectLst/>
                <a:latin typeface="+mn-lt"/>
                <a:ea typeface="+mn-ea"/>
                <a:cs typeface="+mn-cs"/>
              </a:rPr>
              <a:t>桥转换成了两个</a:t>
            </a:r>
            <a:r>
              <a:rPr lang="en-US" altLang="zh-CN" sz="1200" b="0" i="0" kern="1200" dirty="0" smtClean="0">
                <a:solidFill>
                  <a:schemeClr val="tx1"/>
                </a:solidFill>
                <a:effectLst/>
                <a:latin typeface="+mn-lt"/>
                <a:ea typeface="+mn-ea"/>
                <a:cs typeface="+mn-cs"/>
              </a:rPr>
              <a:t>APB</a:t>
            </a:r>
            <a:r>
              <a:rPr lang="zh-CN" altLang="en-US" sz="1200" b="0" i="0" kern="1200" dirty="0" smtClean="0">
                <a:solidFill>
                  <a:schemeClr val="tx1"/>
                </a:solidFill>
                <a:effectLst/>
                <a:latin typeface="+mn-lt"/>
                <a:ea typeface="+mn-ea"/>
                <a:cs typeface="+mn-cs"/>
              </a:rPr>
              <a:t>总线。</a:t>
            </a:r>
            <a:r>
              <a:rPr lang="en-US" altLang="zh-CN" sz="1200" b="0" i="0" kern="1200" dirty="0" err="1" smtClean="0">
                <a:solidFill>
                  <a:schemeClr val="tx1"/>
                </a:solidFill>
                <a:effectLst/>
                <a:latin typeface="+mn-lt"/>
                <a:ea typeface="+mn-ea"/>
                <a:cs typeface="+mn-cs"/>
              </a:rPr>
              <a:t>APB1</a:t>
            </a:r>
            <a:r>
              <a:rPr lang="zh-CN" altLang="en-US" sz="1200" b="0" i="0" kern="1200" dirty="0" smtClean="0">
                <a:solidFill>
                  <a:schemeClr val="tx1"/>
                </a:solidFill>
                <a:effectLst/>
                <a:latin typeface="+mn-lt"/>
                <a:ea typeface="+mn-ea"/>
                <a:cs typeface="+mn-cs"/>
              </a:rPr>
              <a:t>上挂接有</a:t>
            </a:r>
            <a:r>
              <a:rPr lang="en-US" altLang="zh-CN" sz="1200" b="0" i="0" kern="1200" dirty="0" smtClean="0">
                <a:solidFill>
                  <a:schemeClr val="tx1"/>
                </a:solidFill>
                <a:effectLst/>
                <a:latin typeface="+mn-lt"/>
                <a:ea typeface="+mn-ea"/>
                <a:cs typeface="+mn-cs"/>
              </a:rPr>
              <a:t>DAC</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UART</a:t>
            </a:r>
            <a:r>
              <a:rPr lang="zh-CN" altLang="en-US" sz="1200" b="0" i="0" kern="1200" dirty="0" smtClean="0">
                <a:solidFill>
                  <a:schemeClr val="tx1"/>
                </a:solidFill>
                <a:effectLst/>
                <a:latin typeface="+mn-lt"/>
                <a:ea typeface="+mn-ea"/>
                <a:cs typeface="+mn-cs"/>
              </a:rPr>
              <a:t>等外设，其最高频率可达</a:t>
            </a:r>
            <a:r>
              <a:rPr lang="en-US" altLang="zh-CN" sz="1200" b="0" i="0" kern="1200" dirty="0" err="1" smtClean="0">
                <a:solidFill>
                  <a:schemeClr val="tx1"/>
                </a:solidFill>
                <a:effectLst/>
                <a:latin typeface="+mn-lt"/>
                <a:ea typeface="+mn-ea"/>
                <a:cs typeface="+mn-cs"/>
              </a:rPr>
              <a:t>36MHz</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APB2</a:t>
            </a:r>
            <a:r>
              <a:rPr lang="zh-CN" altLang="en-US" sz="1200" b="0" i="0" kern="1200" dirty="0" smtClean="0">
                <a:solidFill>
                  <a:schemeClr val="tx1"/>
                </a:solidFill>
                <a:effectLst/>
                <a:latin typeface="+mn-lt"/>
                <a:ea typeface="+mn-ea"/>
                <a:cs typeface="+mn-cs"/>
              </a:rPr>
              <a:t>上挂接有</a:t>
            </a:r>
            <a:r>
              <a:rPr lang="en-US" altLang="zh-CN" sz="1200" b="0" i="0" kern="1200" dirty="0" smtClean="0">
                <a:solidFill>
                  <a:schemeClr val="tx1"/>
                </a:solidFill>
                <a:effectLst/>
                <a:latin typeface="+mn-lt"/>
                <a:ea typeface="+mn-ea"/>
                <a:cs typeface="+mn-cs"/>
              </a:rPr>
              <a:t>ADC</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GPIO</a:t>
            </a:r>
            <a:r>
              <a:rPr lang="zh-CN" altLang="en-US" sz="1200" b="0" i="0" kern="1200" dirty="0" smtClean="0">
                <a:solidFill>
                  <a:schemeClr val="tx1"/>
                </a:solidFill>
                <a:effectLst/>
                <a:latin typeface="+mn-lt"/>
                <a:ea typeface="+mn-ea"/>
                <a:cs typeface="+mn-cs"/>
              </a:rPr>
              <a:t>等外设，其最高频率可达</a:t>
            </a:r>
            <a:r>
              <a:rPr lang="en-US" altLang="zh-CN" sz="1200" b="0" i="0" kern="1200" dirty="0" err="1" smtClean="0">
                <a:solidFill>
                  <a:schemeClr val="tx1"/>
                </a:solidFill>
                <a:effectLst/>
                <a:latin typeface="+mn-lt"/>
                <a:ea typeface="+mn-ea"/>
                <a:cs typeface="+mn-cs"/>
              </a:rPr>
              <a:t>72MHz</a:t>
            </a:r>
            <a:r>
              <a:rPr lang="zh-CN" altLang="en-US" sz="1200" b="0" i="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B1CE4750-CFE9-4949-932F-4CE10963015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CE4750-CFE9-4949-932F-4CE10963015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4213"/>
            <a:ext cx="4570413"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7703C07-FDDA-44F0-92EA-E0EB8664958E}"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FB560D25-DAFE-43AB-B6A9-7B7CC89ED89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6A77625-7015-4E98-A1F0-89C656A37569}"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B560D25-DAFE-43AB-B6A9-7B7CC89ED89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6A77625-7015-4E98-A1F0-89C656A37569}" type="slidenum">
              <a:rPr lang="zh-CN" altLang="en-US" smtClean="0"/>
            </a:fld>
            <a:endParaRPr lang="zh-CN" alt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smtClean="0"/>
              <a:t>编辑母版文本样式</a:t>
            </a:r>
            <a:endParaRPr lang="zh-CN" altLang="en-US" dirty="0" smtClean="0"/>
          </a:p>
        </p:txBody>
      </p:sp>
      <p:sp>
        <p:nvSpPr>
          <p:cNvPr id="4" name="Date Placeholder 3"/>
          <p:cNvSpPr>
            <a:spLocks noGrp="1"/>
          </p:cNvSpPr>
          <p:nvPr>
            <p:ph type="dt" sz="half" idx="10"/>
          </p:nvPr>
        </p:nvSpPr>
        <p:spPr/>
        <p:txBody>
          <a:bodyPr/>
          <a:lstStyle/>
          <a:p>
            <a:fld id="{FB560D25-DAFE-43AB-B6A9-7B7CC89ED89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6A77625-7015-4E98-A1F0-89C656A37569}"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FB560D25-DAFE-43AB-B6A9-7B7CC89ED89D}"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6A77625-7015-4E98-A1F0-89C656A37569}"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FB560D25-DAFE-43AB-B6A9-7B7CC89ED89D}"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6A77625-7015-4E98-A1F0-89C656A37569}"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FB560D25-DAFE-43AB-B6A9-7B7CC89ED89D}"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6A77625-7015-4E98-A1F0-89C656A37569}"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560D25-DAFE-43AB-B6A9-7B7CC89ED89D}"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6A77625-7015-4E98-A1F0-89C656A37569}"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FB560D25-DAFE-43AB-B6A9-7B7CC89ED89D}"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6A77625-7015-4E98-A1F0-89C656A37569}"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FB560D25-DAFE-43AB-B6A9-7B7CC89ED89D}"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6A77625-7015-4E98-A1F0-89C656A37569}"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B560D25-DAFE-43AB-B6A9-7B7CC89ED89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6A77625-7015-4E98-A1F0-89C656A37569}"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B560D25-DAFE-43AB-B6A9-7B7CC89ED89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6A77625-7015-4E98-A1F0-89C656A37569}"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560D25-DAFE-43AB-B6A9-7B7CC89ED89D}" type="datetimeFigureOut">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A77625-7015-4E98-A1F0-89C656A3756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tags" Target="../tags/tag2.xml"/><Relationship Id="rId1" Type="http://schemas.openxmlformats.org/officeDocument/2006/relationships/tags" Target="../tags/tag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11015" y="1122363"/>
            <a:ext cx="8686800" cy="2387600"/>
          </a:xfrm>
        </p:spPr>
        <p:txBody>
          <a:bodyPr/>
          <a:lstStyle/>
          <a:p>
            <a:r>
              <a:rPr lang="zh-CN" altLang="en-US" dirty="0"/>
              <a:t>中断系统与基本应用</a:t>
            </a:r>
            <a:endParaRPr lang="zh-CN" altLang="en-US" dirty="0"/>
          </a:p>
        </p:txBody>
      </p:sp>
      <p:sp>
        <p:nvSpPr>
          <p:cNvPr id="3" name="副标题 2"/>
          <p:cNvSpPr>
            <a:spLocks noGrp="1"/>
          </p:cNvSpPr>
          <p:nvPr>
            <p:ph type="subTitle" idx="1"/>
          </p:nvPr>
        </p:nvSpPr>
        <p:spPr/>
        <p:txBody>
          <a:bodyPr/>
          <a:lstStyle/>
          <a:p>
            <a:pPr algn="r"/>
            <a:r>
              <a:rPr lang="zh-CN" altLang="en-US" dirty="0" smtClean="0"/>
              <a:t>王  萌</a:t>
            </a:r>
            <a:endParaRPr lang="en-US" altLang="zh-CN" dirty="0" smtClean="0"/>
          </a:p>
          <a:p>
            <a:pPr algn="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894"/>
    </mc:Choice>
    <mc:Fallback>
      <p:transition spd="slow" advTm="894"/>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2"/>
          <p:cNvSpPr>
            <a:spLocks noChangeArrowheads="1"/>
          </p:cNvSpPr>
          <p:nvPr/>
        </p:nvSpPr>
        <p:spPr bwMode="auto">
          <a:xfrm>
            <a:off x="2322513" y="3154363"/>
            <a:ext cx="5584825"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1" hangingPunct="1">
              <a:buFont typeface="Arial" panose="020B0604020202020204" pitchFamily="34" charset="0"/>
              <a:buNone/>
            </a:pPr>
            <a:r>
              <a:rPr lang="zh-CN" altLang="en-US" sz="2200" b="1">
                <a:solidFill>
                  <a:schemeClr val="bg1"/>
                </a:solidFill>
                <a:latin typeface="Verdana" panose="020B0604030504040204" pitchFamily="34" charset="0"/>
                <a:ea typeface="Gulim" pitchFamily="34" charset="-127"/>
              </a:rPr>
              <a:t>二传输网络介绍</a:t>
            </a:r>
            <a:endParaRPr lang="zh-CN" altLang="en-US" sz="2200" b="1">
              <a:solidFill>
                <a:schemeClr val="bg1"/>
              </a:solidFill>
              <a:latin typeface="Verdana" panose="020B0604030504040204" pitchFamily="34" charset="0"/>
              <a:ea typeface="Gulim" pitchFamily="34" charset="-127"/>
            </a:endParaRPr>
          </a:p>
        </p:txBody>
      </p:sp>
      <p:sp>
        <p:nvSpPr>
          <p:cNvPr id="5125" name="内容占位符 2"/>
          <p:cNvSpPr/>
          <p:nvPr/>
        </p:nvSpPr>
        <p:spPr bwMode="auto">
          <a:xfrm>
            <a:off x="554038" y="1487483"/>
            <a:ext cx="8032750" cy="4303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200000"/>
              </a:lnSpc>
              <a:buFont typeface="Wingdings" panose="05000000000000000000" pitchFamily="2" charset="2"/>
              <a:buChar char="Ø"/>
            </a:pPr>
            <a:r>
              <a:rPr lang="zh-CN" altLang="en-US" sz="2400" dirty="0" smtClean="0"/>
              <a:t>掌握</a:t>
            </a:r>
            <a:r>
              <a:rPr lang="zh-CN" altLang="en-US" sz="2400" dirty="0"/>
              <a:t>中断的基本概念</a:t>
            </a:r>
            <a:endParaRPr lang="zh-CN" altLang="en-US" sz="2400" dirty="0"/>
          </a:p>
          <a:p>
            <a:pPr marL="342900" indent="-342900">
              <a:lnSpc>
                <a:spcPct val="200000"/>
              </a:lnSpc>
              <a:buFont typeface="Wingdings" panose="05000000000000000000" pitchFamily="2" charset="2"/>
              <a:buChar char="Ø"/>
            </a:pPr>
            <a:r>
              <a:rPr lang="zh-CN" altLang="en-US" sz="2400" dirty="0" smtClean="0"/>
              <a:t>掌握</a:t>
            </a:r>
            <a:r>
              <a:rPr lang="en-US" altLang="zh-CN" sz="2400" dirty="0"/>
              <a:t>STM32F103</a:t>
            </a:r>
            <a:r>
              <a:rPr lang="zh-CN" altLang="en-US" sz="2400" dirty="0"/>
              <a:t>中断系统</a:t>
            </a:r>
            <a:endParaRPr lang="zh-CN" altLang="en-US" sz="2400" dirty="0"/>
          </a:p>
          <a:p>
            <a:pPr marL="342900" indent="-342900">
              <a:lnSpc>
                <a:spcPct val="200000"/>
              </a:lnSpc>
              <a:buFont typeface="Wingdings" panose="05000000000000000000" pitchFamily="2" charset="2"/>
              <a:buChar char="Ø"/>
            </a:pPr>
            <a:r>
              <a:rPr lang="en-US" altLang="zh-CN" sz="2400" dirty="0" smtClean="0"/>
              <a:t>STM32F103</a:t>
            </a:r>
            <a:r>
              <a:rPr lang="zh-CN" altLang="en-US" sz="2400" dirty="0"/>
              <a:t>外部中断</a:t>
            </a:r>
            <a:r>
              <a:rPr lang="en-US" altLang="zh-CN" sz="2400" dirty="0"/>
              <a:t>/</a:t>
            </a:r>
            <a:r>
              <a:rPr lang="zh-CN" altLang="en-US" sz="2400" dirty="0"/>
              <a:t>事件控制器</a:t>
            </a:r>
            <a:r>
              <a:rPr lang="en-US" altLang="zh-CN" sz="2400" dirty="0"/>
              <a:t>EXTI</a:t>
            </a:r>
            <a:endParaRPr lang="en-US" altLang="zh-CN" sz="2400" dirty="0"/>
          </a:p>
          <a:p>
            <a:pPr marL="342900" indent="-342900">
              <a:lnSpc>
                <a:spcPct val="200000"/>
              </a:lnSpc>
              <a:buFont typeface="Wingdings" panose="05000000000000000000" pitchFamily="2" charset="2"/>
              <a:buChar char="Ø"/>
            </a:pPr>
            <a:r>
              <a:rPr lang="en-US" altLang="zh-CN" sz="2400" dirty="0" smtClean="0"/>
              <a:t>STM32</a:t>
            </a:r>
            <a:r>
              <a:rPr lang="zh-CN" altLang="en-US" sz="2400" dirty="0"/>
              <a:t>中断相关库函数，包括</a:t>
            </a:r>
            <a:r>
              <a:rPr lang="en-US" altLang="zh-CN" sz="2400" dirty="0"/>
              <a:t>NVIC</a:t>
            </a:r>
            <a:r>
              <a:rPr lang="zh-CN" altLang="en-US" sz="2400" dirty="0"/>
              <a:t>和</a:t>
            </a:r>
            <a:r>
              <a:rPr lang="en-US" altLang="zh-CN" sz="2400" dirty="0"/>
              <a:t>EXTI</a:t>
            </a:r>
            <a:r>
              <a:rPr lang="zh-CN" altLang="en-US" sz="2400" dirty="0"/>
              <a:t>两部分</a:t>
            </a:r>
            <a:endParaRPr lang="zh-CN" altLang="en-US" sz="2400" dirty="0"/>
          </a:p>
          <a:p>
            <a:pPr marL="342900" indent="-342900">
              <a:lnSpc>
                <a:spcPct val="200000"/>
              </a:lnSpc>
              <a:buFont typeface="Wingdings" panose="05000000000000000000" pitchFamily="2" charset="2"/>
              <a:buChar char="Ø"/>
            </a:pPr>
            <a:r>
              <a:rPr lang="zh-CN" altLang="en-US" sz="2400" dirty="0" smtClean="0"/>
              <a:t>完成</a:t>
            </a:r>
            <a:r>
              <a:rPr lang="en-US" altLang="zh-CN" sz="2400" dirty="0"/>
              <a:t>EXTI</a:t>
            </a:r>
            <a:r>
              <a:rPr lang="zh-CN" altLang="en-US" sz="2400" dirty="0"/>
              <a:t>项目实例，利用外部中断调节</a:t>
            </a:r>
            <a:r>
              <a:rPr lang="zh-CN" altLang="en-US" sz="2400" dirty="0" smtClean="0"/>
              <a:t>时间</a:t>
            </a:r>
            <a:endParaRPr lang="zh-CN" altLang="en-US" sz="2400" dirty="0"/>
          </a:p>
        </p:txBody>
      </p:sp>
      <p:sp>
        <p:nvSpPr>
          <p:cNvPr id="2" name="矩形 1"/>
          <p:cNvSpPr/>
          <p:nvPr/>
        </p:nvSpPr>
        <p:spPr>
          <a:xfrm>
            <a:off x="603477" y="541547"/>
            <a:ext cx="2967479" cy="923330"/>
          </a:xfrm>
          <a:prstGeom prst="rect">
            <a:avLst/>
          </a:prstGeom>
          <a:noFill/>
        </p:spPr>
        <p:txBody>
          <a:bodyPr wrap="none" lIns="91440" tIns="45720" rIns="91440" bIns="45720">
            <a:spAutoFit/>
          </a:bodyPr>
          <a:lstStyle/>
          <a:p>
            <a:pPr algn="ctr"/>
            <a:r>
              <a:rPr lang="zh-CN" altLang="en-US" sz="5400" b="1" dirty="0">
                <a:ln w="12700">
                  <a:solidFill>
                    <a:schemeClr val="tx2">
                      <a:satMod val="155000"/>
                    </a:schemeClr>
                  </a:solidFill>
                  <a:prstDash val="solid"/>
                </a:ln>
                <a:solidFill>
                  <a:srgbClr val="FF33CC"/>
                </a:solidFill>
                <a:effectLst>
                  <a:outerShdw blurRad="41275" dist="20320" dir="1800000" algn="tl" rotWithShape="0">
                    <a:srgbClr val="000000">
                      <a:alpha val="40000"/>
                    </a:srgbClr>
                  </a:outerShdw>
                </a:effectLst>
              </a:rPr>
              <a:t>本章</a:t>
            </a:r>
            <a:r>
              <a:rPr lang="zh-CN" altLang="en-US" sz="5400" b="1" dirty="0" smtClean="0">
                <a:ln w="12700">
                  <a:solidFill>
                    <a:schemeClr val="tx2">
                      <a:satMod val="155000"/>
                    </a:schemeClr>
                  </a:solidFill>
                  <a:prstDash val="solid"/>
                </a:ln>
                <a:solidFill>
                  <a:srgbClr val="FF33CC"/>
                </a:solidFill>
                <a:effectLst>
                  <a:outerShdw blurRad="41275" dist="20320" dir="1800000" algn="tl" rotWithShape="0">
                    <a:srgbClr val="000000">
                      <a:alpha val="40000"/>
                    </a:srgbClr>
                  </a:outerShdw>
                </a:effectLst>
              </a:rPr>
              <a:t>概要</a:t>
            </a:r>
            <a:endParaRPr lang="zh-CN" altLang="en-US" sz="5400" b="1" dirty="0">
              <a:ln w="12700">
                <a:solidFill>
                  <a:schemeClr val="tx2">
                    <a:satMod val="155000"/>
                  </a:schemeClr>
                </a:solidFill>
                <a:prstDash val="solid"/>
              </a:ln>
              <a:solidFill>
                <a:srgbClr val="FF33CC"/>
              </a:solidFill>
              <a:effectLst>
                <a:outerShdw blurRad="41275" dist="20320" dir="1800000" algn="tl" rotWithShape="0">
                  <a:srgbClr val="000000">
                    <a:alpha val="40000"/>
                  </a:srgbClr>
                </a:outerShdw>
              </a:effectLs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606" y="506327"/>
            <a:ext cx="5669005" cy="646331"/>
          </a:xfrm>
          <a:prstGeom prst="rect">
            <a:avLst/>
          </a:prstGeom>
          <a:noFill/>
        </p:spPr>
        <p:txBody>
          <a:bodyPr>
            <a:spAutoFit/>
          </a:bodyPr>
          <a:lstStyle/>
          <a:p>
            <a:pPr>
              <a:defRPr/>
            </a:pPr>
            <a:r>
              <a:rPr lang="en-US" altLang="zh-CN" sz="3600" b="1" dirty="0">
                <a:ln w="10541" cmpd="sng">
                  <a:solidFill>
                    <a:schemeClr val="accent1">
                      <a:shade val="88000"/>
                      <a:satMod val="110000"/>
                    </a:schemeClr>
                  </a:solidFill>
                  <a:prstDash val="solid"/>
                </a:ln>
                <a:solidFill>
                  <a:srgbClr val="66FF33"/>
                </a:solidFill>
                <a:latin typeface="Arial" panose="020B0604020202020204" pitchFamily="34" charset="0"/>
              </a:rPr>
              <a:t> </a:t>
            </a:r>
            <a:r>
              <a:rPr lang="zh-CN" altLang="en-US" sz="3600" b="1" dirty="0" smtClean="0">
                <a:ln w="10541" cmpd="sng">
                  <a:solidFill>
                    <a:schemeClr val="accent1">
                      <a:shade val="88000"/>
                      <a:satMod val="110000"/>
                    </a:schemeClr>
                  </a:solidFill>
                  <a:prstDash val="solid"/>
                </a:ln>
                <a:solidFill>
                  <a:srgbClr val="66FF33"/>
                </a:solidFill>
                <a:latin typeface="Arial" panose="020B0604020202020204" pitchFamily="34" charset="0"/>
              </a:rPr>
              <a:t>中断</a:t>
            </a:r>
            <a:r>
              <a:rPr lang="zh-CN" altLang="en-US" sz="3600" b="1" dirty="0">
                <a:ln w="10541" cmpd="sng">
                  <a:solidFill>
                    <a:schemeClr val="accent1">
                      <a:shade val="88000"/>
                      <a:satMod val="110000"/>
                    </a:schemeClr>
                  </a:solidFill>
                  <a:prstDash val="solid"/>
                </a:ln>
                <a:solidFill>
                  <a:srgbClr val="66FF33"/>
                </a:solidFill>
                <a:latin typeface="Arial" panose="020B0604020202020204" pitchFamily="34" charset="0"/>
              </a:rPr>
              <a:t>的基本概念</a:t>
            </a:r>
            <a:endParaRPr lang="zh-CN" altLang="en-US" sz="3600" b="1" dirty="0">
              <a:ln w="10541" cmpd="sng">
                <a:solidFill>
                  <a:schemeClr val="accent1">
                    <a:shade val="88000"/>
                    <a:satMod val="110000"/>
                  </a:schemeClr>
                </a:solidFill>
                <a:prstDash val="solid"/>
              </a:ln>
              <a:solidFill>
                <a:srgbClr val="66FF33"/>
              </a:solidFill>
              <a:latin typeface="Arial" panose="020B0604020202020204" pitchFamily="34" charset="0"/>
            </a:endParaRPr>
          </a:p>
        </p:txBody>
      </p:sp>
      <p:sp>
        <p:nvSpPr>
          <p:cNvPr id="4" name="矩形 3"/>
          <p:cNvSpPr/>
          <p:nvPr/>
        </p:nvSpPr>
        <p:spPr>
          <a:xfrm>
            <a:off x="223802" y="1217513"/>
            <a:ext cx="7468769" cy="553998"/>
          </a:xfrm>
          <a:prstGeom prst="rect">
            <a:avLst/>
          </a:prstGeom>
          <a:noFill/>
        </p:spPr>
        <p:txBody>
          <a:bodyPr wrap="square">
            <a:spAutoFit/>
          </a:bodyPr>
          <a:lstStyle/>
          <a:p>
            <a:pPr>
              <a:defRPr/>
            </a:pPr>
            <a:r>
              <a:rPr lang="zh-CN" altLang="en-US" sz="3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什么</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叫中断</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矩形 1"/>
          <p:cNvSpPr/>
          <p:nvPr/>
        </p:nvSpPr>
        <p:spPr>
          <a:xfrm>
            <a:off x="377373" y="1944911"/>
            <a:ext cx="8287658" cy="3739485"/>
          </a:xfrm>
          <a:prstGeom prst="rect">
            <a:avLst/>
          </a:prstGeom>
        </p:spPr>
        <p:txBody>
          <a:bodyPr wrap="square">
            <a:spAutoFit/>
          </a:bodyPr>
          <a:lstStyle/>
          <a:p>
            <a:pPr>
              <a:lnSpc>
                <a:spcPct val="150000"/>
              </a:lnSpc>
            </a:pPr>
            <a:r>
              <a:rPr lang="zh-CN" altLang="en-US" sz="2400" b="1" dirty="0" smtClean="0">
                <a:solidFill>
                  <a:srgbClr val="33CC33"/>
                </a:solidFill>
                <a:latin typeface="宋体" panose="02010600030101010101" pitchFamily="2" charset="-122"/>
                <a:ea typeface="宋体" panose="02010600030101010101" pitchFamily="2" charset="-122"/>
              </a:rPr>
              <a:t>生活实例：</a:t>
            </a:r>
            <a:endParaRPr lang="en-US" altLang="zh-CN" sz="2400" b="1" dirty="0" smtClean="0">
              <a:solidFill>
                <a:srgbClr val="33CC33"/>
              </a:solidFill>
              <a:latin typeface="宋体" panose="02010600030101010101" pitchFamily="2" charset="-122"/>
              <a:ea typeface="宋体" panose="02010600030101010101" pitchFamily="2" charset="-122"/>
            </a:endParaRPr>
          </a:p>
          <a:p>
            <a:pPr indent="457200">
              <a:lnSpc>
                <a:spcPct val="150000"/>
              </a:lnSpc>
            </a:pPr>
            <a:r>
              <a:rPr lang="zh-CN" altLang="en-US" sz="2200" dirty="0" smtClean="0">
                <a:latin typeface="宋体" panose="02010600030101010101" pitchFamily="2" charset="-122"/>
                <a:ea typeface="宋体" panose="02010600030101010101" pitchFamily="2" charset="-122"/>
              </a:rPr>
              <a:t>假如</a:t>
            </a:r>
            <a:r>
              <a:rPr lang="zh-CN" altLang="en-US" sz="2200" dirty="0">
                <a:latin typeface="宋体" panose="02010600030101010101" pitchFamily="2" charset="-122"/>
                <a:ea typeface="宋体" panose="02010600030101010101" pitchFamily="2" charset="-122"/>
              </a:rPr>
              <a:t>你有朋友下午要来拜访，可又不知道他具体什么时候到。为了提高效率，你就边看书边等。在看书过程中，门铃响了</a:t>
            </a:r>
            <a:r>
              <a:rPr lang="zh-CN" altLang="en-US" sz="2200" dirty="0" smtClean="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pPr>
              <a:lnSpc>
                <a:spcPct val="150000"/>
              </a:lnSpc>
            </a:pPr>
            <a:r>
              <a:rPr lang="zh-CN" altLang="en-US" sz="2400" b="1" dirty="0" smtClean="0">
                <a:solidFill>
                  <a:srgbClr val="33CC33"/>
                </a:solidFill>
                <a:latin typeface="宋体" panose="02010600030101010101" pitchFamily="2" charset="-122"/>
                <a:ea typeface="宋体" panose="02010600030101010101" pitchFamily="2" charset="-122"/>
              </a:rPr>
              <a:t>中断定义：</a:t>
            </a:r>
            <a:endParaRPr lang="en-US" altLang="zh-CN" sz="2400" b="1" dirty="0" smtClean="0">
              <a:solidFill>
                <a:srgbClr val="33CC33"/>
              </a:solidFill>
              <a:latin typeface="宋体" panose="02010600030101010101" pitchFamily="2" charset="-122"/>
              <a:ea typeface="宋体" panose="02010600030101010101" pitchFamily="2" charset="-122"/>
            </a:endParaRPr>
          </a:p>
          <a:p>
            <a:pPr indent="457200">
              <a:lnSpc>
                <a:spcPct val="150000"/>
              </a:lnSpc>
            </a:pPr>
            <a:r>
              <a:rPr lang="en-US" altLang="zh-CN" sz="2200" dirty="0" smtClean="0">
                <a:latin typeface="宋体" panose="02010600030101010101" pitchFamily="2" charset="-122"/>
                <a:ea typeface="宋体" panose="02010600030101010101" pitchFamily="2" charset="-122"/>
              </a:rPr>
              <a:t>CPU</a:t>
            </a:r>
            <a:r>
              <a:rPr lang="zh-CN" altLang="en-US" sz="2200" dirty="0">
                <a:latin typeface="宋体" panose="02010600030101010101" pitchFamily="2" charset="-122"/>
                <a:ea typeface="宋体" panose="02010600030101010101" pitchFamily="2" charset="-122"/>
              </a:rPr>
              <a:t>暂时中止其正在执行的程序，转去执行请求中断的那个外设或事件的服务程序，等处理完毕后再返回执行原来中止的程序，叫做中断。</a:t>
            </a:r>
            <a:endParaRPr lang="zh-CN" altLang="en-US" sz="22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8953" y="98501"/>
            <a:ext cx="7468769" cy="553998"/>
          </a:xfrm>
          <a:prstGeom prst="rect">
            <a:avLst/>
          </a:prstGeom>
          <a:noFill/>
        </p:spPr>
        <p:txBody>
          <a:bodyPr wrap="square">
            <a:spAutoFit/>
          </a:bodyPr>
          <a:lstStyle/>
          <a:p>
            <a:pPr>
              <a:defRPr/>
            </a:pPr>
            <a:r>
              <a:rPr lang="zh-CN" altLang="en-US" sz="3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什么</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叫中断</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内容占位符 2"/>
          <p:cNvSpPr txBox="1"/>
          <p:nvPr/>
        </p:nvSpPr>
        <p:spPr>
          <a:xfrm>
            <a:off x="422030" y="914401"/>
            <a:ext cx="4302369" cy="5732584"/>
          </a:xfrm>
          <a:prstGeom prst="rect">
            <a:avLst/>
          </a:prstGeom>
          <a:ln>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dirty="0" smtClean="0"/>
              <a:t>普通延时</a:t>
            </a:r>
            <a:endParaRPr lang="en-US" altLang="zh-CN" sz="2000" dirty="0" smtClean="0"/>
          </a:p>
          <a:p>
            <a:pPr marL="0" indent="0">
              <a:buNone/>
            </a:pPr>
            <a:r>
              <a:rPr lang="en-US" altLang="zh-CN" sz="2000" dirty="0" smtClean="0"/>
              <a:t>void </a:t>
            </a:r>
            <a:r>
              <a:rPr lang="en-US" altLang="zh-CN" sz="2000" dirty="0" err="1"/>
              <a:t>delay_ms_normal</a:t>
            </a:r>
            <a:r>
              <a:rPr lang="en-US" altLang="zh-CN" sz="2000" dirty="0"/>
              <a:t>(</a:t>
            </a:r>
            <a:r>
              <a:rPr lang="en-US" altLang="zh-CN" sz="2000" dirty="0" err="1"/>
              <a:t>u32</a:t>
            </a:r>
            <a:r>
              <a:rPr lang="en-US" altLang="zh-CN" sz="2000" dirty="0"/>
              <a:t> </a:t>
            </a:r>
            <a:r>
              <a:rPr lang="en-US" altLang="zh-CN" sz="2000" dirty="0" err="1"/>
              <a:t>nms</a:t>
            </a:r>
            <a:r>
              <a:rPr lang="en-US" altLang="zh-CN" sz="2000" dirty="0"/>
              <a:t>)</a:t>
            </a:r>
            <a:endParaRPr lang="en-US" altLang="zh-CN" sz="2000" dirty="0"/>
          </a:p>
          <a:p>
            <a:pPr marL="0" indent="0">
              <a:buNone/>
            </a:pPr>
            <a:r>
              <a:rPr lang="en-US" altLang="zh-CN" sz="2000" dirty="0"/>
              <a:t>{</a:t>
            </a:r>
            <a:endParaRPr lang="en-US" altLang="zh-CN" sz="2000" dirty="0"/>
          </a:p>
          <a:p>
            <a:pPr marL="0" indent="0">
              <a:buNone/>
            </a:pPr>
            <a:r>
              <a:rPr lang="en-US" altLang="zh-CN" sz="2000" dirty="0"/>
              <a:t>    </a:t>
            </a:r>
            <a:r>
              <a:rPr lang="en-US" altLang="zh-CN" sz="2000" dirty="0" err="1"/>
              <a:t>u32</a:t>
            </a:r>
            <a:r>
              <a:rPr lang="en-US" altLang="zh-CN" sz="2000" dirty="0"/>
              <a:t> </a:t>
            </a:r>
            <a:r>
              <a:rPr lang="en-US" altLang="zh-CN" sz="2000" dirty="0" err="1"/>
              <a:t>i</a:t>
            </a:r>
            <a:r>
              <a:rPr lang="en-US" altLang="zh-CN" sz="2000" dirty="0"/>
              <a:t> = 0;</a:t>
            </a:r>
            <a:endParaRPr lang="en-US" altLang="zh-CN" sz="2000" dirty="0"/>
          </a:p>
          <a:p>
            <a:pPr marL="0" indent="0">
              <a:buNone/>
            </a:pPr>
            <a:r>
              <a:rPr lang="en-US" altLang="zh-CN" sz="2000" dirty="0"/>
              <a:t>    </a:t>
            </a:r>
            <a:r>
              <a:rPr lang="en-US" altLang="zh-CN" sz="2000" dirty="0" err="1"/>
              <a:t>i</a:t>
            </a:r>
            <a:r>
              <a:rPr lang="en-US" altLang="zh-CN" sz="2000" dirty="0"/>
              <a:t> = </a:t>
            </a:r>
            <a:r>
              <a:rPr lang="en-US" altLang="zh-CN" sz="2000" dirty="0" err="1"/>
              <a:t>nms</a:t>
            </a:r>
            <a:r>
              <a:rPr lang="en-US" altLang="zh-CN" sz="2000" dirty="0"/>
              <a:t> * 14400;</a:t>
            </a:r>
            <a:endParaRPr lang="en-US" altLang="zh-CN" sz="2000" dirty="0"/>
          </a:p>
          <a:p>
            <a:pPr marL="0" indent="0">
              <a:buNone/>
            </a:pPr>
            <a:r>
              <a:rPr lang="en-US" altLang="zh-CN" sz="2000" dirty="0"/>
              <a:t>    while(</a:t>
            </a:r>
            <a:r>
              <a:rPr lang="en-US" altLang="zh-CN" sz="2000" dirty="0" err="1"/>
              <a:t>i</a:t>
            </a:r>
            <a:r>
              <a:rPr lang="en-US" altLang="zh-CN" sz="2000" dirty="0"/>
              <a:t>--) ;</a:t>
            </a:r>
            <a:endParaRPr lang="en-US" altLang="zh-CN" sz="2000" dirty="0"/>
          </a:p>
          <a:p>
            <a:pPr marL="0" indent="0">
              <a:buNone/>
            </a:pPr>
            <a:r>
              <a:rPr lang="en-US" altLang="zh-CN" sz="2000" dirty="0" smtClean="0"/>
              <a:t>}</a:t>
            </a:r>
            <a:endParaRPr lang="en-US" altLang="zh-CN" sz="2000" dirty="0" smtClean="0"/>
          </a:p>
          <a:p>
            <a:pPr marL="0" indent="0">
              <a:buNone/>
            </a:pPr>
            <a:r>
              <a:rPr lang="en-US" altLang="zh-CN" sz="2000" dirty="0" err="1"/>
              <a:t>int</a:t>
            </a:r>
            <a:r>
              <a:rPr lang="en-US" altLang="zh-CN" sz="2000" dirty="0"/>
              <a:t> main(void)</a:t>
            </a:r>
            <a:endParaRPr lang="en-US" altLang="zh-CN" sz="2000" dirty="0"/>
          </a:p>
          <a:p>
            <a:pPr marL="0" indent="0">
              <a:buNone/>
            </a:pPr>
            <a:r>
              <a:rPr lang="en-US" altLang="zh-CN" sz="2000" dirty="0"/>
              <a:t>{</a:t>
            </a:r>
            <a:endParaRPr lang="en-US" altLang="zh-CN" sz="2000" dirty="0"/>
          </a:p>
          <a:p>
            <a:pPr marL="0" indent="0">
              <a:buNone/>
            </a:pPr>
            <a:r>
              <a:rPr lang="en-US" altLang="zh-CN" sz="2000" dirty="0" smtClean="0"/>
              <a:t>while(1</a:t>
            </a:r>
            <a:r>
              <a:rPr lang="en-US" altLang="zh-CN" sz="2000" dirty="0"/>
              <a:t>)</a:t>
            </a:r>
            <a:endParaRPr lang="en-US" altLang="zh-CN" sz="2000" dirty="0"/>
          </a:p>
          <a:p>
            <a:pPr marL="0" indent="0">
              <a:buNone/>
            </a:pPr>
            <a:r>
              <a:rPr lang="en-US" altLang="zh-CN" sz="2000" dirty="0" smtClean="0"/>
              <a:t>    {</a:t>
            </a:r>
            <a:endParaRPr lang="en-US" altLang="zh-CN" sz="2000" dirty="0"/>
          </a:p>
          <a:p>
            <a:pPr marL="0" indent="0">
              <a:buNone/>
            </a:pPr>
            <a:r>
              <a:rPr lang="en-US" altLang="zh-CN" sz="2000" dirty="0" smtClean="0"/>
              <a:t>        </a:t>
            </a:r>
            <a:r>
              <a:rPr lang="en-US" altLang="zh-CN" sz="2000" dirty="0" err="1" smtClean="0"/>
              <a:t>GPIO_SetBits</a:t>
            </a:r>
            <a:r>
              <a:rPr lang="en-US" altLang="zh-CN" sz="2000" dirty="0" smtClean="0"/>
              <a:t>(</a:t>
            </a:r>
            <a:r>
              <a:rPr lang="en-US" altLang="zh-CN" sz="2000" dirty="0" err="1" smtClean="0"/>
              <a:t>GPIOE,GPIO_Pin_5</a:t>
            </a:r>
            <a:r>
              <a:rPr lang="en-US" altLang="zh-CN" sz="2000" dirty="0" smtClean="0"/>
              <a:t>); </a:t>
            </a:r>
            <a:endParaRPr lang="zh-CN" altLang="en-US" sz="2000" dirty="0" smtClean="0"/>
          </a:p>
          <a:p>
            <a:pPr marL="0" indent="0">
              <a:buNone/>
            </a:pPr>
            <a:r>
              <a:rPr lang="zh-CN" altLang="en-US" sz="2000" dirty="0" smtClean="0"/>
              <a:t>        </a:t>
            </a:r>
            <a:r>
              <a:rPr lang="en-US" altLang="zh-CN" sz="2000" dirty="0" err="1" smtClean="0"/>
              <a:t>delay_ms_normal</a:t>
            </a:r>
            <a:r>
              <a:rPr lang="en-US" altLang="zh-CN" sz="2000" dirty="0" smtClean="0"/>
              <a:t>(500);</a:t>
            </a:r>
            <a:endParaRPr lang="en-US" altLang="zh-CN" sz="2000" dirty="0" smtClean="0"/>
          </a:p>
          <a:p>
            <a:pPr marL="0" indent="0">
              <a:buNone/>
            </a:pPr>
            <a:r>
              <a:rPr lang="en-US" altLang="zh-CN" sz="2000" dirty="0" smtClean="0"/>
              <a:t>        </a:t>
            </a:r>
            <a:r>
              <a:rPr lang="en-US" altLang="zh-CN" sz="2000" dirty="0" err="1" smtClean="0"/>
              <a:t>GPIO_ResetBits</a:t>
            </a:r>
            <a:r>
              <a:rPr lang="en-US" altLang="zh-CN" sz="2000" dirty="0" smtClean="0"/>
              <a:t>(</a:t>
            </a:r>
            <a:r>
              <a:rPr lang="en-US" altLang="zh-CN" sz="2000" dirty="0" err="1" smtClean="0"/>
              <a:t>GPIOE,GPIO_Pin_5</a:t>
            </a:r>
            <a:r>
              <a:rPr lang="en-US" altLang="zh-CN" sz="2000" dirty="0" smtClean="0"/>
              <a:t>);</a:t>
            </a:r>
            <a:endParaRPr lang="zh-CN" altLang="en-US" sz="2000" dirty="0"/>
          </a:p>
          <a:p>
            <a:pPr marL="0" indent="0">
              <a:buNone/>
            </a:pPr>
            <a:r>
              <a:rPr lang="zh-CN" altLang="en-US" sz="2000" dirty="0"/>
              <a:t>        </a:t>
            </a:r>
            <a:r>
              <a:rPr lang="en-US" altLang="zh-CN" sz="2000" dirty="0" err="1"/>
              <a:t>delay_ms_normal</a:t>
            </a:r>
            <a:r>
              <a:rPr lang="en-US" altLang="zh-CN" sz="2000" dirty="0"/>
              <a:t>(500</a:t>
            </a:r>
            <a:r>
              <a:rPr lang="en-US" altLang="zh-CN" sz="2000" dirty="0" smtClean="0"/>
              <a:t>);</a:t>
            </a:r>
            <a:endParaRPr lang="en-US" altLang="zh-CN" sz="2000" dirty="0"/>
          </a:p>
          <a:p>
            <a:pPr marL="0" indent="0">
              <a:buNone/>
            </a:pPr>
            <a:r>
              <a:rPr lang="en-US" altLang="zh-CN" sz="2000" dirty="0"/>
              <a:t>    }</a:t>
            </a:r>
            <a:endParaRPr lang="en-US" altLang="zh-CN" sz="2000" dirty="0"/>
          </a:p>
          <a:p>
            <a:pPr marL="0" indent="0">
              <a:buNone/>
            </a:pPr>
            <a:r>
              <a:rPr lang="en-US" altLang="zh-CN" sz="2000" dirty="0"/>
              <a:t>}</a:t>
            </a:r>
            <a:endParaRPr lang="zh-CN" altLang="en-US" sz="2000" dirty="0" smtClean="0"/>
          </a:p>
        </p:txBody>
      </p:sp>
      <p:sp>
        <p:nvSpPr>
          <p:cNvPr id="5" name="矩形 4"/>
          <p:cNvSpPr/>
          <p:nvPr/>
        </p:nvSpPr>
        <p:spPr>
          <a:xfrm>
            <a:off x="867508" y="4829908"/>
            <a:ext cx="2520461" cy="3282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44771" y="2520462"/>
            <a:ext cx="1184030" cy="35169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曲线连接符 9"/>
          <p:cNvCxnSpPr>
            <a:stCxn id="5" idx="0"/>
          </p:cNvCxnSpPr>
          <p:nvPr/>
        </p:nvCxnSpPr>
        <p:spPr>
          <a:xfrm rot="16200000" flipV="1">
            <a:off x="677007" y="3379175"/>
            <a:ext cx="1957755" cy="943711"/>
          </a:xfrm>
          <a:prstGeom prst="curvedConnector3">
            <a:avLst>
              <a:gd name="adj1" fmla="val 50000"/>
            </a:avLst>
          </a:prstGeom>
          <a:ln w="38100">
            <a:solidFill>
              <a:srgbClr val="FF0000"/>
            </a:solidFill>
            <a:prstDash val="sysDash"/>
            <a:headEnd type="oval" w="lg" len="lg"/>
            <a:tailEnd type="stealth" w="lg" len="lg"/>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390524" y="620602"/>
            <a:ext cx="3614149" cy="2333863"/>
          </a:xfrm>
          <a:prstGeom prst="irregularSeal1">
            <a:avLst/>
          </a:prstGeom>
          <a:noFill/>
          <a:ln w="38100">
            <a:solidFill>
              <a:schemeClr val="tx1"/>
            </a:solidFill>
          </a:ln>
        </p:spPr>
        <p:txBody>
          <a:bodyPr wrap="square" rtlCol="0">
            <a:spAutoFit/>
          </a:bodyPr>
          <a:lstStyle/>
          <a:p>
            <a:r>
              <a:rPr lang="zh-CN" altLang="en-US" sz="2400" b="1" dirty="0" smtClean="0">
                <a:solidFill>
                  <a:srgbClr val="FF0000"/>
                </a:solidFill>
              </a:rPr>
              <a:t>延时中无法处理其他任务！</a:t>
            </a:r>
            <a:endParaRPr lang="zh-CN" altLang="en-US" sz="2400" b="1" dirty="0">
              <a:solidFill>
                <a:srgbClr val="FF0000"/>
              </a:solidFill>
            </a:endParaRPr>
          </a:p>
        </p:txBody>
      </p:sp>
      <p:sp>
        <p:nvSpPr>
          <p:cNvPr id="8" name="矩形 7"/>
          <p:cNvSpPr/>
          <p:nvPr/>
        </p:nvSpPr>
        <p:spPr>
          <a:xfrm>
            <a:off x="128953" y="98501"/>
            <a:ext cx="7468769" cy="553998"/>
          </a:xfrm>
          <a:prstGeom prst="rect">
            <a:avLst/>
          </a:prstGeom>
          <a:noFill/>
        </p:spPr>
        <p:txBody>
          <a:bodyPr wrap="square">
            <a:spAutoFit/>
          </a:bodyPr>
          <a:lstStyle/>
          <a:p>
            <a:pPr>
              <a:defRPr/>
            </a:pPr>
            <a:r>
              <a:rPr lang="zh-CN" altLang="en-US" sz="3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什么</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叫中断</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内容占位符 2"/>
          <p:cNvSpPr txBox="1"/>
          <p:nvPr/>
        </p:nvSpPr>
        <p:spPr>
          <a:xfrm>
            <a:off x="422030" y="914401"/>
            <a:ext cx="4302369" cy="5732584"/>
          </a:xfrm>
          <a:prstGeom prst="rect">
            <a:avLst/>
          </a:prstGeom>
          <a:ln>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dirty="0" smtClean="0"/>
              <a:t>普通延时</a:t>
            </a:r>
            <a:endParaRPr lang="en-US" altLang="zh-CN" sz="2000" dirty="0" smtClean="0"/>
          </a:p>
          <a:p>
            <a:pPr marL="0" indent="0">
              <a:buNone/>
            </a:pPr>
            <a:r>
              <a:rPr lang="en-US" altLang="zh-CN" sz="2000" dirty="0" smtClean="0"/>
              <a:t>void </a:t>
            </a:r>
            <a:r>
              <a:rPr lang="en-US" altLang="zh-CN" sz="2000" dirty="0" err="1"/>
              <a:t>delay_ms_normal</a:t>
            </a:r>
            <a:r>
              <a:rPr lang="en-US" altLang="zh-CN" sz="2000" dirty="0"/>
              <a:t>(</a:t>
            </a:r>
            <a:r>
              <a:rPr lang="en-US" altLang="zh-CN" sz="2000" dirty="0" err="1"/>
              <a:t>u32</a:t>
            </a:r>
            <a:r>
              <a:rPr lang="en-US" altLang="zh-CN" sz="2000" dirty="0"/>
              <a:t> </a:t>
            </a:r>
            <a:r>
              <a:rPr lang="en-US" altLang="zh-CN" sz="2000" dirty="0" err="1"/>
              <a:t>nms</a:t>
            </a:r>
            <a:r>
              <a:rPr lang="en-US" altLang="zh-CN" sz="2000" dirty="0"/>
              <a:t>)</a:t>
            </a:r>
            <a:endParaRPr lang="en-US" altLang="zh-CN" sz="2000" dirty="0"/>
          </a:p>
          <a:p>
            <a:pPr marL="0" indent="0">
              <a:buNone/>
            </a:pPr>
            <a:r>
              <a:rPr lang="en-US" altLang="zh-CN" sz="2000" dirty="0"/>
              <a:t>{</a:t>
            </a:r>
            <a:endParaRPr lang="en-US" altLang="zh-CN" sz="2000" dirty="0"/>
          </a:p>
          <a:p>
            <a:pPr marL="0" indent="0">
              <a:buNone/>
            </a:pPr>
            <a:r>
              <a:rPr lang="en-US" altLang="zh-CN" sz="2000" dirty="0"/>
              <a:t>    </a:t>
            </a:r>
            <a:r>
              <a:rPr lang="en-US" altLang="zh-CN" sz="2000" dirty="0" err="1"/>
              <a:t>u32</a:t>
            </a:r>
            <a:r>
              <a:rPr lang="en-US" altLang="zh-CN" sz="2000" dirty="0"/>
              <a:t> </a:t>
            </a:r>
            <a:r>
              <a:rPr lang="en-US" altLang="zh-CN" sz="2000" dirty="0" err="1"/>
              <a:t>i</a:t>
            </a:r>
            <a:r>
              <a:rPr lang="en-US" altLang="zh-CN" sz="2000" dirty="0"/>
              <a:t> = 0;</a:t>
            </a:r>
            <a:endParaRPr lang="en-US" altLang="zh-CN" sz="2000" dirty="0"/>
          </a:p>
          <a:p>
            <a:pPr marL="0" indent="0">
              <a:buNone/>
            </a:pPr>
            <a:r>
              <a:rPr lang="en-US" altLang="zh-CN" sz="2000" dirty="0"/>
              <a:t>    </a:t>
            </a:r>
            <a:r>
              <a:rPr lang="en-US" altLang="zh-CN" sz="2000" dirty="0" err="1"/>
              <a:t>i</a:t>
            </a:r>
            <a:r>
              <a:rPr lang="en-US" altLang="zh-CN" sz="2000" dirty="0"/>
              <a:t> = </a:t>
            </a:r>
            <a:r>
              <a:rPr lang="en-US" altLang="zh-CN" sz="2000" dirty="0" err="1"/>
              <a:t>nms</a:t>
            </a:r>
            <a:r>
              <a:rPr lang="en-US" altLang="zh-CN" sz="2000" dirty="0"/>
              <a:t> * 14400;</a:t>
            </a:r>
            <a:endParaRPr lang="en-US" altLang="zh-CN" sz="2000" dirty="0"/>
          </a:p>
          <a:p>
            <a:pPr marL="0" indent="0">
              <a:buNone/>
            </a:pPr>
            <a:r>
              <a:rPr lang="en-US" altLang="zh-CN" sz="2000" dirty="0"/>
              <a:t>    while(</a:t>
            </a:r>
            <a:r>
              <a:rPr lang="en-US" altLang="zh-CN" sz="2000" dirty="0" err="1"/>
              <a:t>i</a:t>
            </a:r>
            <a:r>
              <a:rPr lang="en-US" altLang="zh-CN" sz="2000" dirty="0"/>
              <a:t>--) ;</a:t>
            </a:r>
            <a:endParaRPr lang="en-US" altLang="zh-CN" sz="2000" dirty="0"/>
          </a:p>
          <a:p>
            <a:pPr marL="0" indent="0">
              <a:buNone/>
            </a:pPr>
            <a:r>
              <a:rPr lang="en-US" altLang="zh-CN" sz="2000" dirty="0" smtClean="0"/>
              <a:t>}</a:t>
            </a:r>
            <a:endParaRPr lang="en-US" altLang="zh-CN" sz="2000" dirty="0" smtClean="0"/>
          </a:p>
          <a:p>
            <a:pPr marL="0" indent="0">
              <a:buNone/>
            </a:pPr>
            <a:r>
              <a:rPr lang="en-US" altLang="zh-CN" sz="2000" dirty="0" err="1"/>
              <a:t>int</a:t>
            </a:r>
            <a:r>
              <a:rPr lang="en-US" altLang="zh-CN" sz="2000" dirty="0"/>
              <a:t> main(void)</a:t>
            </a:r>
            <a:endParaRPr lang="en-US" altLang="zh-CN" sz="2000" dirty="0"/>
          </a:p>
          <a:p>
            <a:pPr marL="0" indent="0">
              <a:buNone/>
            </a:pPr>
            <a:r>
              <a:rPr lang="en-US" altLang="zh-CN" sz="2000" dirty="0"/>
              <a:t>{</a:t>
            </a:r>
            <a:endParaRPr lang="en-US" altLang="zh-CN" sz="2000" dirty="0"/>
          </a:p>
          <a:p>
            <a:pPr marL="0" indent="0">
              <a:buNone/>
            </a:pPr>
            <a:r>
              <a:rPr lang="en-US" altLang="zh-CN" sz="2000" dirty="0" smtClean="0"/>
              <a:t>while(1</a:t>
            </a:r>
            <a:r>
              <a:rPr lang="en-US" altLang="zh-CN" sz="2000" dirty="0"/>
              <a:t>)</a:t>
            </a:r>
            <a:endParaRPr lang="en-US" altLang="zh-CN" sz="2000" dirty="0"/>
          </a:p>
          <a:p>
            <a:pPr marL="0" indent="0">
              <a:buNone/>
            </a:pPr>
            <a:r>
              <a:rPr lang="en-US" altLang="zh-CN" sz="2000" dirty="0" smtClean="0"/>
              <a:t>    {</a:t>
            </a:r>
            <a:endParaRPr lang="en-US" altLang="zh-CN" sz="2000" dirty="0"/>
          </a:p>
          <a:p>
            <a:pPr marL="0" indent="0">
              <a:buNone/>
            </a:pPr>
            <a:r>
              <a:rPr lang="en-US" altLang="zh-CN" sz="2000" dirty="0" smtClean="0"/>
              <a:t>        </a:t>
            </a:r>
            <a:r>
              <a:rPr lang="en-US" altLang="zh-CN" sz="2000" dirty="0" err="1" smtClean="0"/>
              <a:t>GPIO_SetBits</a:t>
            </a:r>
            <a:r>
              <a:rPr lang="en-US" altLang="zh-CN" sz="2000" dirty="0" smtClean="0"/>
              <a:t>(</a:t>
            </a:r>
            <a:r>
              <a:rPr lang="en-US" altLang="zh-CN" sz="2000" dirty="0" err="1" smtClean="0"/>
              <a:t>GPIOE,GPIO_Pin_5</a:t>
            </a:r>
            <a:r>
              <a:rPr lang="en-US" altLang="zh-CN" sz="2000" dirty="0" smtClean="0"/>
              <a:t>); </a:t>
            </a:r>
            <a:endParaRPr lang="zh-CN" altLang="en-US" sz="2000" dirty="0" smtClean="0"/>
          </a:p>
          <a:p>
            <a:pPr marL="0" indent="0">
              <a:buNone/>
            </a:pPr>
            <a:r>
              <a:rPr lang="zh-CN" altLang="en-US" sz="2000" dirty="0" smtClean="0"/>
              <a:t>        </a:t>
            </a:r>
            <a:r>
              <a:rPr lang="en-US" altLang="zh-CN" sz="2000" dirty="0" err="1" smtClean="0"/>
              <a:t>delay_ms_normal</a:t>
            </a:r>
            <a:r>
              <a:rPr lang="en-US" altLang="zh-CN" sz="2000" dirty="0" smtClean="0"/>
              <a:t>(500);</a:t>
            </a:r>
            <a:endParaRPr lang="en-US" altLang="zh-CN" sz="2000" dirty="0" smtClean="0"/>
          </a:p>
          <a:p>
            <a:pPr marL="0" indent="0">
              <a:buNone/>
            </a:pPr>
            <a:r>
              <a:rPr lang="en-US" altLang="zh-CN" sz="2000" dirty="0" smtClean="0"/>
              <a:t>        </a:t>
            </a:r>
            <a:r>
              <a:rPr lang="en-US" altLang="zh-CN" sz="2000" dirty="0" err="1" smtClean="0"/>
              <a:t>GPIO_ResetBits</a:t>
            </a:r>
            <a:r>
              <a:rPr lang="en-US" altLang="zh-CN" sz="2000" dirty="0" smtClean="0"/>
              <a:t>(</a:t>
            </a:r>
            <a:r>
              <a:rPr lang="en-US" altLang="zh-CN" sz="2000" dirty="0" err="1" smtClean="0"/>
              <a:t>GPIOE,GPIO_Pin_5</a:t>
            </a:r>
            <a:r>
              <a:rPr lang="en-US" altLang="zh-CN" sz="2000" dirty="0" smtClean="0"/>
              <a:t>);</a:t>
            </a:r>
            <a:endParaRPr lang="zh-CN" altLang="en-US" sz="2000" dirty="0"/>
          </a:p>
          <a:p>
            <a:pPr marL="0" indent="0">
              <a:buNone/>
            </a:pPr>
            <a:r>
              <a:rPr lang="zh-CN" altLang="en-US" sz="2000" dirty="0"/>
              <a:t>        </a:t>
            </a:r>
            <a:r>
              <a:rPr lang="en-US" altLang="zh-CN" sz="2000" dirty="0" err="1"/>
              <a:t>delay_ms_normal</a:t>
            </a:r>
            <a:r>
              <a:rPr lang="en-US" altLang="zh-CN" sz="2000" dirty="0"/>
              <a:t>(500</a:t>
            </a:r>
            <a:r>
              <a:rPr lang="en-US" altLang="zh-CN" sz="2000" dirty="0" smtClean="0"/>
              <a:t>);</a:t>
            </a:r>
            <a:endParaRPr lang="en-US" altLang="zh-CN" sz="2000" dirty="0"/>
          </a:p>
          <a:p>
            <a:pPr marL="0" indent="0">
              <a:buNone/>
            </a:pPr>
            <a:r>
              <a:rPr lang="en-US" altLang="zh-CN" sz="2000" dirty="0"/>
              <a:t>    }</a:t>
            </a:r>
            <a:endParaRPr lang="en-US" altLang="zh-CN" sz="2000" dirty="0"/>
          </a:p>
          <a:p>
            <a:pPr marL="0" indent="0">
              <a:buNone/>
            </a:pPr>
            <a:r>
              <a:rPr lang="en-US" altLang="zh-CN" sz="2000" dirty="0"/>
              <a:t>}</a:t>
            </a:r>
            <a:endParaRPr lang="zh-CN" altLang="en-US" sz="2000" dirty="0" smtClean="0"/>
          </a:p>
        </p:txBody>
      </p:sp>
      <p:sp>
        <p:nvSpPr>
          <p:cNvPr id="5" name="矩形 4"/>
          <p:cNvSpPr/>
          <p:nvPr/>
        </p:nvSpPr>
        <p:spPr>
          <a:xfrm>
            <a:off x="867508" y="4829908"/>
            <a:ext cx="2520461" cy="3282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44771" y="2520462"/>
            <a:ext cx="1184030" cy="35169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曲线连接符 9"/>
          <p:cNvCxnSpPr>
            <a:stCxn id="5" idx="0"/>
          </p:cNvCxnSpPr>
          <p:nvPr/>
        </p:nvCxnSpPr>
        <p:spPr>
          <a:xfrm rot="16200000" flipV="1">
            <a:off x="677007" y="3379175"/>
            <a:ext cx="1957755" cy="943711"/>
          </a:xfrm>
          <a:prstGeom prst="curvedConnector3">
            <a:avLst>
              <a:gd name="adj1" fmla="val 50000"/>
            </a:avLst>
          </a:prstGeom>
          <a:ln w="38100">
            <a:solidFill>
              <a:srgbClr val="FF0000"/>
            </a:solidFill>
            <a:prstDash val="sysDash"/>
            <a:headEnd type="oval"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20" name="曲线连接符 19"/>
          <p:cNvCxnSpPr>
            <a:endCxn id="3" idx="1"/>
          </p:cNvCxnSpPr>
          <p:nvPr/>
        </p:nvCxnSpPr>
        <p:spPr>
          <a:xfrm flipV="1">
            <a:off x="1850154" y="1551446"/>
            <a:ext cx="3540370" cy="1163626"/>
          </a:xfrm>
          <a:prstGeom prst="curvedConnector3">
            <a:avLst>
              <a:gd name="adj1" fmla="val 50000"/>
            </a:avLst>
          </a:prstGeom>
          <a:ln w="38100">
            <a:solidFill>
              <a:srgbClr val="FF0000"/>
            </a:solidFill>
            <a:prstDash val="sysDash"/>
            <a:headEnd type="oval" w="lg" len="lg"/>
            <a:tailEnd type="stealth" w="lg" len="lg"/>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8953" y="98501"/>
            <a:ext cx="7468769" cy="553998"/>
          </a:xfrm>
          <a:prstGeom prst="rect">
            <a:avLst/>
          </a:prstGeom>
          <a:noFill/>
        </p:spPr>
        <p:txBody>
          <a:bodyPr wrap="square">
            <a:spAutoFit/>
          </a:bodyPr>
          <a:lstStyle/>
          <a:p>
            <a:pPr>
              <a:defRPr/>
            </a:pPr>
            <a:r>
              <a:rPr lang="zh-CN" altLang="en-US" sz="3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什么</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叫中断</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内容占位符 2"/>
          <p:cNvSpPr txBox="1"/>
          <p:nvPr/>
        </p:nvSpPr>
        <p:spPr>
          <a:xfrm>
            <a:off x="422030" y="914401"/>
            <a:ext cx="4302369" cy="5732584"/>
          </a:xfrm>
          <a:prstGeom prst="rect">
            <a:avLst/>
          </a:prstGeom>
          <a:ln>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dirty="0" smtClean="0"/>
              <a:t>普通延时</a:t>
            </a:r>
            <a:endParaRPr lang="en-US" altLang="zh-CN" sz="2000" dirty="0" smtClean="0"/>
          </a:p>
          <a:p>
            <a:pPr marL="0" indent="0">
              <a:buNone/>
            </a:pPr>
            <a:r>
              <a:rPr lang="en-US" altLang="zh-CN" sz="2000" dirty="0" smtClean="0"/>
              <a:t>void </a:t>
            </a:r>
            <a:r>
              <a:rPr lang="en-US" altLang="zh-CN" sz="2000" dirty="0" err="1"/>
              <a:t>delay_ms_normal</a:t>
            </a:r>
            <a:r>
              <a:rPr lang="en-US" altLang="zh-CN" sz="2000" dirty="0"/>
              <a:t>(</a:t>
            </a:r>
            <a:r>
              <a:rPr lang="en-US" altLang="zh-CN" sz="2000" dirty="0" err="1"/>
              <a:t>u32</a:t>
            </a:r>
            <a:r>
              <a:rPr lang="en-US" altLang="zh-CN" sz="2000" dirty="0"/>
              <a:t> </a:t>
            </a:r>
            <a:r>
              <a:rPr lang="en-US" altLang="zh-CN" sz="2000" dirty="0" err="1"/>
              <a:t>nms</a:t>
            </a:r>
            <a:r>
              <a:rPr lang="en-US" altLang="zh-CN" sz="2000" dirty="0"/>
              <a:t>)</a:t>
            </a:r>
            <a:endParaRPr lang="en-US" altLang="zh-CN" sz="2000" dirty="0"/>
          </a:p>
          <a:p>
            <a:pPr marL="0" indent="0">
              <a:buNone/>
            </a:pPr>
            <a:r>
              <a:rPr lang="en-US" altLang="zh-CN" sz="2000" dirty="0"/>
              <a:t>{</a:t>
            </a:r>
            <a:endParaRPr lang="en-US" altLang="zh-CN" sz="2000" dirty="0"/>
          </a:p>
          <a:p>
            <a:pPr marL="0" indent="0">
              <a:buNone/>
            </a:pPr>
            <a:r>
              <a:rPr lang="en-US" altLang="zh-CN" sz="2000" dirty="0"/>
              <a:t>    </a:t>
            </a:r>
            <a:r>
              <a:rPr lang="en-US" altLang="zh-CN" sz="2000" dirty="0" err="1"/>
              <a:t>u32</a:t>
            </a:r>
            <a:r>
              <a:rPr lang="en-US" altLang="zh-CN" sz="2000" dirty="0"/>
              <a:t> </a:t>
            </a:r>
            <a:r>
              <a:rPr lang="en-US" altLang="zh-CN" sz="2000" dirty="0" err="1"/>
              <a:t>i</a:t>
            </a:r>
            <a:r>
              <a:rPr lang="en-US" altLang="zh-CN" sz="2000" dirty="0"/>
              <a:t> = 0;</a:t>
            </a:r>
            <a:endParaRPr lang="en-US" altLang="zh-CN" sz="2000" dirty="0"/>
          </a:p>
          <a:p>
            <a:pPr marL="0" indent="0">
              <a:buNone/>
            </a:pPr>
            <a:r>
              <a:rPr lang="en-US" altLang="zh-CN" sz="2000" dirty="0"/>
              <a:t>    </a:t>
            </a:r>
            <a:r>
              <a:rPr lang="en-US" altLang="zh-CN" sz="2000" dirty="0" err="1"/>
              <a:t>i</a:t>
            </a:r>
            <a:r>
              <a:rPr lang="en-US" altLang="zh-CN" sz="2000" dirty="0"/>
              <a:t> = </a:t>
            </a:r>
            <a:r>
              <a:rPr lang="en-US" altLang="zh-CN" sz="2000" dirty="0" err="1"/>
              <a:t>nms</a:t>
            </a:r>
            <a:r>
              <a:rPr lang="en-US" altLang="zh-CN" sz="2000" dirty="0"/>
              <a:t> * 14400;</a:t>
            </a:r>
            <a:endParaRPr lang="en-US" altLang="zh-CN" sz="2000" dirty="0"/>
          </a:p>
          <a:p>
            <a:pPr marL="0" indent="0">
              <a:buNone/>
            </a:pPr>
            <a:r>
              <a:rPr lang="en-US" altLang="zh-CN" sz="2000" dirty="0"/>
              <a:t>    while(</a:t>
            </a:r>
            <a:r>
              <a:rPr lang="en-US" altLang="zh-CN" sz="2000" dirty="0" err="1"/>
              <a:t>i</a:t>
            </a:r>
            <a:r>
              <a:rPr lang="en-US" altLang="zh-CN" sz="2000" dirty="0"/>
              <a:t>--) ;</a:t>
            </a:r>
            <a:endParaRPr lang="en-US" altLang="zh-CN" sz="2000" dirty="0"/>
          </a:p>
          <a:p>
            <a:pPr marL="0" indent="0">
              <a:buNone/>
            </a:pPr>
            <a:r>
              <a:rPr lang="en-US" altLang="zh-CN" sz="2000" dirty="0" smtClean="0"/>
              <a:t>}</a:t>
            </a:r>
            <a:endParaRPr lang="en-US" altLang="zh-CN" sz="2000" dirty="0" smtClean="0"/>
          </a:p>
          <a:p>
            <a:pPr marL="0" indent="0">
              <a:buNone/>
            </a:pPr>
            <a:r>
              <a:rPr lang="en-US" altLang="zh-CN" sz="2000" dirty="0" err="1"/>
              <a:t>int</a:t>
            </a:r>
            <a:r>
              <a:rPr lang="en-US" altLang="zh-CN" sz="2000" dirty="0"/>
              <a:t> main(void)</a:t>
            </a:r>
            <a:endParaRPr lang="en-US" altLang="zh-CN" sz="2000" dirty="0"/>
          </a:p>
          <a:p>
            <a:pPr marL="0" indent="0">
              <a:buNone/>
            </a:pPr>
            <a:r>
              <a:rPr lang="en-US" altLang="zh-CN" sz="2000" dirty="0"/>
              <a:t>{</a:t>
            </a:r>
            <a:endParaRPr lang="en-US" altLang="zh-CN" sz="2000" dirty="0"/>
          </a:p>
          <a:p>
            <a:pPr marL="0" indent="0">
              <a:buNone/>
            </a:pPr>
            <a:r>
              <a:rPr lang="en-US" altLang="zh-CN" sz="2000" dirty="0" smtClean="0"/>
              <a:t>while(1</a:t>
            </a:r>
            <a:r>
              <a:rPr lang="en-US" altLang="zh-CN" sz="2000" dirty="0"/>
              <a:t>)</a:t>
            </a:r>
            <a:endParaRPr lang="en-US" altLang="zh-CN" sz="2000" dirty="0"/>
          </a:p>
          <a:p>
            <a:pPr marL="0" indent="0">
              <a:buNone/>
            </a:pPr>
            <a:r>
              <a:rPr lang="en-US" altLang="zh-CN" sz="2000" dirty="0" smtClean="0"/>
              <a:t>    {</a:t>
            </a:r>
            <a:endParaRPr lang="en-US" altLang="zh-CN" sz="2000" dirty="0"/>
          </a:p>
          <a:p>
            <a:pPr marL="0" indent="0">
              <a:buNone/>
            </a:pPr>
            <a:r>
              <a:rPr lang="en-US" altLang="zh-CN" sz="2000" dirty="0" smtClean="0"/>
              <a:t>        </a:t>
            </a:r>
            <a:r>
              <a:rPr lang="en-US" altLang="zh-CN" sz="2000" dirty="0" err="1" smtClean="0"/>
              <a:t>GPIO_SetBits</a:t>
            </a:r>
            <a:r>
              <a:rPr lang="en-US" altLang="zh-CN" sz="2000" dirty="0" smtClean="0"/>
              <a:t>(</a:t>
            </a:r>
            <a:r>
              <a:rPr lang="en-US" altLang="zh-CN" sz="2000" dirty="0" err="1" smtClean="0"/>
              <a:t>GPIOE,GPIO_Pin_5</a:t>
            </a:r>
            <a:r>
              <a:rPr lang="en-US" altLang="zh-CN" sz="2000" dirty="0" smtClean="0"/>
              <a:t>); </a:t>
            </a:r>
            <a:endParaRPr lang="zh-CN" altLang="en-US" sz="2000" dirty="0" smtClean="0"/>
          </a:p>
          <a:p>
            <a:pPr marL="0" indent="0">
              <a:buNone/>
            </a:pPr>
            <a:r>
              <a:rPr lang="zh-CN" altLang="en-US" sz="2000" dirty="0" smtClean="0"/>
              <a:t>        </a:t>
            </a:r>
            <a:r>
              <a:rPr lang="en-US" altLang="zh-CN" sz="2000" dirty="0" err="1" smtClean="0"/>
              <a:t>delay_ms_normal</a:t>
            </a:r>
            <a:r>
              <a:rPr lang="en-US" altLang="zh-CN" sz="2000" dirty="0" smtClean="0"/>
              <a:t>(500);</a:t>
            </a:r>
            <a:endParaRPr lang="en-US" altLang="zh-CN" sz="2000" dirty="0" smtClean="0"/>
          </a:p>
          <a:p>
            <a:pPr marL="0" indent="0">
              <a:buNone/>
            </a:pPr>
            <a:r>
              <a:rPr lang="en-US" altLang="zh-CN" sz="2000" dirty="0" smtClean="0"/>
              <a:t>        </a:t>
            </a:r>
            <a:r>
              <a:rPr lang="en-US" altLang="zh-CN" sz="2000" dirty="0" err="1" smtClean="0"/>
              <a:t>GPIO_ResetBits</a:t>
            </a:r>
            <a:r>
              <a:rPr lang="en-US" altLang="zh-CN" sz="2000" dirty="0" smtClean="0"/>
              <a:t>(</a:t>
            </a:r>
            <a:r>
              <a:rPr lang="en-US" altLang="zh-CN" sz="2000" dirty="0" err="1" smtClean="0"/>
              <a:t>GPIOE,GPIO_Pin_5</a:t>
            </a:r>
            <a:r>
              <a:rPr lang="en-US" altLang="zh-CN" sz="2000" dirty="0" smtClean="0"/>
              <a:t>);</a:t>
            </a:r>
            <a:endParaRPr lang="zh-CN" altLang="en-US" sz="2000" dirty="0"/>
          </a:p>
          <a:p>
            <a:pPr marL="0" indent="0">
              <a:buNone/>
            </a:pPr>
            <a:r>
              <a:rPr lang="zh-CN" altLang="en-US" sz="2000" dirty="0"/>
              <a:t>        </a:t>
            </a:r>
            <a:r>
              <a:rPr lang="en-US" altLang="zh-CN" sz="2000" dirty="0" err="1"/>
              <a:t>delay_ms_normal</a:t>
            </a:r>
            <a:r>
              <a:rPr lang="en-US" altLang="zh-CN" sz="2000" dirty="0"/>
              <a:t>(500</a:t>
            </a:r>
            <a:r>
              <a:rPr lang="en-US" altLang="zh-CN" sz="2000" dirty="0" smtClean="0"/>
              <a:t>);</a:t>
            </a:r>
            <a:endParaRPr lang="en-US" altLang="zh-CN" sz="2000" dirty="0"/>
          </a:p>
          <a:p>
            <a:pPr marL="0" indent="0">
              <a:buNone/>
            </a:pPr>
            <a:r>
              <a:rPr lang="en-US" altLang="zh-CN" sz="2000" dirty="0"/>
              <a:t>    }</a:t>
            </a:r>
            <a:endParaRPr lang="en-US" altLang="zh-CN" sz="2000" dirty="0"/>
          </a:p>
          <a:p>
            <a:pPr marL="0" indent="0">
              <a:buNone/>
            </a:pPr>
            <a:r>
              <a:rPr lang="en-US" altLang="zh-CN" sz="2000" dirty="0"/>
              <a:t>}</a:t>
            </a:r>
            <a:endParaRPr lang="zh-CN" altLang="en-US" sz="2000" dirty="0" smtClean="0"/>
          </a:p>
        </p:txBody>
      </p:sp>
      <p:sp>
        <p:nvSpPr>
          <p:cNvPr id="5" name="矩形 4"/>
          <p:cNvSpPr/>
          <p:nvPr/>
        </p:nvSpPr>
        <p:spPr>
          <a:xfrm>
            <a:off x="867508" y="4829908"/>
            <a:ext cx="2520461" cy="3282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44771" y="2520462"/>
            <a:ext cx="1184030" cy="35169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曲线连接符 9"/>
          <p:cNvCxnSpPr>
            <a:stCxn id="5" idx="0"/>
          </p:cNvCxnSpPr>
          <p:nvPr/>
        </p:nvCxnSpPr>
        <p:spPr>
          <a:xfrm rot="16200000" flipV="1">
            <a:off x="677007" y="3379175"/>
            <a:ext cx="1957755" cy="943711"/>
          </a:xfrm>
          <a:prstGeom prst="curvedConnector3">
            <a:avLst>
              <a:gd name="adj1" fmla="val 50000"/>
            </a:avLst>
          </a:prstGeom>
          <a:ln w="38100">
            <a:solidFill>
              <a:srgbClr val="FF0000"/>
            </a:solidFill>
            <a:prstDash val="sysDash"/>
            <a:headEnd type="oval"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20" name="曲线连接符 19"/>
          <p:cNvCxnSpPr>
            <a:endCxn id="12" idx="1"/>
          </p:cNvCxnSpPr>
          <p:nvPr/>
        </p:nvCxnSpPr>
        <p:spPr>
          <a:xfrm flipV="1">
            <a:off x="1850154" y="1551446"/>
            <a:ext cx="3540370" cy="1163626"/>
          </a:xfrm>
          <a:prstGeom prst="curvedConnector3">
            <a:avLst>
              <a:gd name="adj1" fmla="val 50000"/>
            </a:avLst>
          </a:prstGeom>
          <a:ln w="38100">
            <a:solidFill>
              <a:srgbClr val="FF0000"/>
            </a:solidFill>
            <a:prstDash val="sysDash"/>
            <a:headEnd type="oval" w="lg" len="lg"/>
            <a:tailEnd type="stealth" w="lg" len="lg"/>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4935415" y="3851030"/>
            <a:ext cx="4069258" cy="2389406"/>
          </a:xfrm>
          <a:prstGeom prst="cloudCallout">
            <a:avLst>
              <a:gd name="adj1" fmla="val -40711"/>
              <a:gd name="adj2" fmla="val -84688"/>
            </a:avLst>
          </a:prstGeom>
          <a:noFill/>
          <a:ln w="38100">
            <a:solidFill>
              <a:schemeClr val="tx1"/>
            </a:solidFill>
          </a:ln>
        </p:spPr>
        <p:txBody>
          <a:bodyPr wrap="square" rtlCol="0">
            <a:spAutoFit/>
          </a:bodyPr>
          <a:lstStyle/>
          <a:p>
            <a:r>
              <a:rPr lang="zh-CN" altLang="en-US" sz="2400" b="1" dirty="0" smtClean="0">
                <a:solidFill>
                  <a:srgbClr val="FF0000"/>
                </a:solidFill>
              </a:rPr>
              <a:t>如果</a:t>
            </a:r>
            <a:r>
              <a:rPr lang="en-US" altLang="zh-CN" sz="2400" b="1" dirty="0" smtClean="0">
                <a:solidFill>
                  <a:srgbClr val="FF0000"/>
                </a:solidFill>
              </a:rPr>
              <a:t>LED</a:t>
            </a:r>
            <a:r>
              <a:rPr lang="zh-CN" altLang="en-US" sz="2400" b="1" dirty="0" smtClean="0">
                <a:solidFill>
                  <a:srgbClr val="FF0000"/>
                </a:solidFill>
              </a:rPr>
              <a:t>闪烁仅用于指示系统正在运行，还有其他重要任务要做，怎么办？</a:t>
            </a:r>
            <a:endParaRPr lang="zh-CN" altLang="en-US" sz="2400" b="1" dirty="0">
              <a:solidFill>
                <a:srgbClr val="FF0000"/>
              </a:solidFill>
            </a:endParaRPr>
          </a:p>
        </p:txBody>
      </p:sp>
      <p:sp>
        <p:nvSpPr>
          <p:cNvPr id="12" name="文本框 11"/>
          <p:cNvSpPr txBox="1"/>
          <p:nvPr/>
        </p:nvSpPr>
        <p:spPr>
          <a:xfrm>
            <a:off x="5390524" y="620602"/>
            <a:ext cx="3614149" cy="2333863"/>
          </a:xfrm>
          <a:prstGeom prst="irregularSeal1">
            <a:avLst/>
          </a:prstGeom>
          <a:noFill/>
          <a:ln w="38100">
            <a:solidFill>
              <a:schemeClr val="tx1"/>
            </a:solidFill>
          </a:ln>
        </p:spPr>
        <p:txBody>
          <a:bodyPr wrap="square" rtlCol="0">
            <a:spAutoFit/>
          </a:bodyPr>
          <a:lstStyle/>
          <a:p>
            <a:r>
              <a:rPr lang="zh-CN" altLang="en-US" sz="2400" b="1" dirty="0" smtClean="0">
                <a:solidFill>
                  <a:srgbClr val="FF0000"/>
                </a:solidFill>
              </a:rPr>
              <a:t>延时中无法处理其他任务！</a:t>
            </a:r>
            <a:endParaRPr lang="zh-CN" altLang="en-US" sz="24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09288" y="491813"/>
            <a:ext cx="7468769" cy="553998"/>
          </a:xfrm>
          <a:prstGeom prst="rect">
            <a:avLst/>
          </a:prstGeom>
          <a:noFill/>
        </p:spPr>
        <p:txBody>
          <a:bodyPr wrap="square">
            <a:spAutoFit/>
          </a:bodyPr>
          <a:lstStyle/>
          <a:p>
            <a:pPr>
              <a:defRPr/>
            </a:pPr>
            <a:r>
              <a:rPr lang="zh-CN" altLang="en-US" sz="3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为什么</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要设置中断</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377709" y="1546163"/>
            <a:ext cx="8113148" cy="2677656"/>
          </a:xfrm>
          <a:prstGeom prst="rect">
            <a:avLst/>
          </a:prstGeom>
        </p:spPr>
        <p:txBody>
          <a:bodyPr wrap="square">
            <a:spAutoFit/>
          </a:bodyPr>
          <a:lstStyle/>
          <a:p>
            <a:pPr marL="342900" indent="-342900">
              <a:buFont typeface="Wingdings" panose="05000000000000000000" pitchFamily="2" charset="2"/>
              <a:buChar char="u"/>
            </a:pPr>
            <a:r>
              <a:rPr lang="zh-CN" altLang="en-US" sz="2400" dirty="0" smtClean="0">
                <a:latin typeface="宋体" panose="02010600030101010101" pitchFamily="2" charset="-122"/>
                <a:ea typeface="宋体" panose="02010600030101010101" pitchFamily="2" charset="-122"/>
              </a:rPr>
              <a:t>提高</a:t>
            </a:r>
            <a:r>
              <a:rPr lang="en-US" altLang="zh-CN" sz="2400" dirty="0" smtClean="0">
                <a:latin typeface="宋体" panose="02010600030101010101" pitchFamily="2" charset="-122"/>
                <a:ea typeface="宋体" panose="02010600030101010101" pitchFamily="2" charset="-122"/>
              </a:rPr>
              <a:t>CPU</a:t>
            </a:r>
            <a:r>
              <a:rPr lang="zh-CN" altLang="en-US" sz="2400" dirty="0" smtClean="0">
                <a:latin typeface="宋体" panose="02010600030101010101" pitchFamily="2" charset="-122"/>
                <a:ea typeface="宋体" panose="02010600030101010101" pitchFamily="2" charset="-122"/>
              </a:rPr>
              <a:t>工作效率</a:t>
            </a:r>
            <a:endParaRPr lang="en-US" altLang="zh-CN" sz="2400" dirty="0" smtClean="0">
              <a:latin typeface="宋体" panose="02010600030101010101" pitchFamily="2" charset="-122"/>
              <a:ea typeface="宋体" panose="02010600030101010101" pitchFamily="2" charset="-122"/>
            </a:endParaRPr>
          </a:p>
          <a:p>
            <a:r>
              <a:rPr lang="en-US" altLang="zh-CN" sz="2400" dirty="0">
                <a:latin typeface="宋体" panose="02010600030101010101" pitchFamily="2" charset="-122"/>
                <a:ea typeface="宋体" panose="02010600030101010101" pitchFamily="2" charset="-122"/>
              </a:rPr>
              <a:t> </a:t>
            </a:r>
            <a:r>
              <a:rPr lang="en-US" altLang="zh-CN" sz="2400" dirty="0" smtClean="0">
                <a:latin typeface="宋体" panose="02010600030101010101" pitchFamily="2" charset="-122"/>
                <a:ea typeface="宋体" panose="02010600030101010101" pitchFamily="2" charset="-122"/>
              </a:rPr>
              <a:t>  </a:t>
            </a:r>
            <a:endParaRPr lang="en-US" altLang="zh-CN" sz="2400" dirty="0" smtClean="0">
              <a:latin typeface="宋体" panose="02010600030101010101" pitchFamily="2" charset="-122"/>
              <a:ea typeface="宋体" panose="02010600030101010101" pitchFamily="2" charset="-122"/>
            </a:endParaRPr>
          </a:p>
          <a:p>
            <a:pPr marL="342900" indent="-342900">
              <a:buFont typeface="Wingdings" panose="05000000000000000000" pitchFamily="2" charset="2"/>
              <a:buChar char="u"/>
            </a:pPr>
            <a:r>
              <a:rPr lang="zh-CN" altLang="en-US" sz="2400" dirty="0" smtClean="0">
                <a:latin typeface="宋体" panose="02010600030101010101" pitchFamily="2" charset="-122"/>
                <a:ea typeface="宋体" panose="02010600030101010101" pitchFamily="2" charset="-122"/>
              </a:rPr>
              <a:t>具有实时处理功能</a:t>
            </a:r>
            <a:endParaRPr lang="en-US" altLang="zh-CN" sz="2400" dirty="0" smtClean="0">
              <a:latin typeface="宋体" panose="02010600030101010101" pitchFamily="2" charset="-122"/>
              <a:ea typeface="宋体" panose="02010600030101010101" pitchFamily="2" charset="-122"/>
            </a:endParaRPr>
          </a:p>
          <a:p>
            <a:pPr marL="342900" indent="-342900">
              <a:buFont typeface="Wingdings" panose="05000000000000000000" pitchFamily="2" charset="2"/>
              <a:buChar char="u"/>
            </a:pPr>
            <a:endParaRPr lang="en-US" altLang="zh-CN" sz="2400" dirty="0" smtClean="0">
              <a:latin typeface="宋体" panose="02010600030101010101" pitchFamily="2" charset="-122"/>
              <a:ea typeface="宋体" panose="02010600030101010101" pitchFamily="2" charset="-122"/>
            </a:endParaRPr>
          </a:p>
          <a:p>
            <a:pPr marL="342900" indent="-342900">
              <a:buFont typeface="Wingdings" panose="05000000000000000000" pitchFamily="2" charset="2"/>
              <a:buChar char="u"/>
            </a:pPr>
            <a:r>
              <a:rPr lang="zh-CN" altLang="en-US" sz="2400" dirty="0" smtClean="0">
                <a:latin typeface="宋体" panose="02010600030101010101" pitchFamily="2" charset="-122"/>
                <a:ea typeface="宋体" panose="02010600030101010101" pitchFamily="2" charset="-122"/>
              </a:rPr>
              <a:t>具有故障处理功能</a:t>
            </a:r>
            <a:endParaRPr lang="en-US" altLang="zh-CN" sz="2400" dirty="0" smtClean="0">
              <a:latin typeface="宋体" panose="02010600030101010101" pitchFamily="2" charset="-122"/>
              <a:ea typeface="宋体" panose="02010600030101010101" pitchFamily="2" charset="-122"/>
            </a:endParaRPr>
          </a:p>
          <a:p>
            <a:pPr marL="342900" indent="-342900">
              <a:buFont typeface="Wingdings" panose="05000000000000000000" pitchFamily="2" charset="2"/>
              <a:buChar char="u"/>
            </a:pPr>
            <a:endParaRPr lang="en-US" altLang="zh-CN" sz="2400" dirty="0" smtClean="0">
              <a:latin typeface="宋体" panose="02010600030101010101" pitchFamily="2" charset="-122"/>
              <a:ea typeface="宋体" panose="02010600030101010101" pitchFamily="2" charset="-122"/>
            </a:endParaRPr>
          </a:p>
          <a:p>
            <a:pPr marL="342900" indent="-342900">
              <a:buFont typeface="Wingdings" panose="05000000000000000000" pitchFamily="2" charset="2"/>
              <a:buChar char="u"/>
            </a:pPr>
            <a:r>
              <a:rPr lang="zh-CN" altLang="en-US" sz="2400" dirty="0" smtClean="0">
                <a:latin typeface="宋体" panose="02010600030101010101" pitchFamily="2" charset="-122"/>
                <a:ea typeface="宋体" panose="02010600030101010101" pitchFamily="2" charset="-122"/>
              </a:rPr>
              <a:t>实现分时操作</a:t>
            </a:r>
            <a:endParaRPr lang="en-US" altLang="zh-CN" sz="2400" dirty="0" smtClean="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09287" y="492595"/>
            <a:ext cx="7468769" cy="553998"/>
          </a:xfrm>
          <a:prstGeom prst="rect">
            <a:avLst/>
          </a:prstGeom>
          <a:noFill/>
        </p:spPr>
        <p:txBody>
          <a:bodyPr wrap="square">
            <a:spAutoFit/>
          </a:bodyPr>
          <a:lstStyle/>
          <a:p>
            <a:pPr>
              <a:defRPr/>
            </a:pPr>
            <a:r>
              <a:rPr lang="zh-CN" altLang="en-US" sz="3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中断</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源与中断屏蔽</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矩形 3"/>
          <p:cNvSpPr/>
          <p:nvPr/>
        </p:nvSpPr>
        <p:spPr>
          <a:xfrm>
            <a:off x="317358" y="1097005"/>
            <a:ext cx="1890261" cy="492443"/>
          </a:xfrm>
          <a:prstGeom prst="rect">
            <a:avLst/>
          </a:prstGeom>
        </p:spPr>
        <p:txBody>
          <a:bodyPr wrap="none">
            <a:spAutoFit/>
          </a:bodyPr>
          <a:lstStyle/>
          <a:p>
            <a:r>
              <a:rPr lang="en-US" altLang="zh-CN" sz="2600" dirty="0">
                <a:ln w="10541" cmpd="sng">
                  <a:solidFill>
                    <a:srgbClr val="7030A0"/>
                  </a:solidFill>
                  <a:prstDash val="solid"/>
                </a:ln>
                <a:solidFill>
                  <a:srgbClr val="C00000"/>
                </a:solidFill>
                <a:latin typeface="Arial" panose="020B0604020202020204" pitchFamily="34" charset="0"/>
              </a:rPr>
              <a:t>1. </a:t>
            </a:r>
            <a:r>
              <a:rPr lang="zh-CN" altLang="en-US" sz="2600" dirty="0">
                <a:ln w="10541" cmpd="sng">
                  <a:solidFill>
                    <a:srgbClr val="7030A0"/>
                  </a:solidFill>
                  <a:prstDash val="solid"/>
                </a:ln>
                <a:solidFill>
                  <a:srgbClr val="C00000"/>
                </a:solidFill>
                <a:latin typeface="Arial" panose="020B0604020202020204" pitchFamily="34" charset="0"/>
              </a:rPr>
              <a:t>中断源：</a:t>
            </a:r>
            <a:endParaRPr lang="zh-CN" altLang="en-US" sz="2600" dirty="0">
              <a:ln w="10541" cmpd="sng">
                <a:solidFill>
                  <a:srgbClr val="7030A0"/>
                </a:solidFill>
                <a:prstDash val="solid"/>
              </a:ln>
              <a:solidFill>
                <a:srgbClr val="C00000"/>
              </a:solidFill>
              <a:latin typeface="Arial" panose="020B0604020202020204" pitchFamily="34" charset="0"/>
            </a:endParaRPr>
          </a:p>
        </p:txBody>
      </p:sp>
      <p:sp>
        <p:nvSpPr>
          <p:cNvPr id="5" name="矩形 4"/>
          <p:cNvSpPr/>
          <p:nvPr/>
        </p:nvSpPr>
        <p:spPr>
          <a:xfrm>
            <a:off x="317357" y="1648048"/>
            <a:ext cx="8666985" cy="3970318"/>
          </a:xfrm>
          <a:prstGeom prst="rect">
            <a:avLst/>
          </a:prstGeom>
        </p:spPr>
        <p:txBody>
          <a:bodyPr wrap="square">
            <a:spAutoFit/>
          </a:bodyPr>
          <a:lstStyle/>
          <a:p>
            <a:pPr>
              <a:lnSpc>
                <a:spcPct val="150000"/>
              </a:lnSpc>
            </a:pPr>
            <a:r>
              <a:rPr lang="zh-CN" altLang="en-US" sz="2400" b="1" dirty="0" smtClean="0">
                <a:latin typeface="宋体" panose="02010600030101010101" pitchFamily="2" charset="-122"/>
                <a:ea typeface="宋体" panose="02010600030101010101" pitchFamily="2" charset="-122"/>
              </a:rPr>
              <a:t>中断源：能</a:t>
            </a:r>
            <a:r>
              <a:rPr lang="zh-CN" altLang="en-US" sz="2400" b="1" dirty="0">
                <a:latin typeface="宋体" panose="02010600030101010101" pitchFamily="2" charset="-122"/>
                <a:ea typeface="宋体" panose="02010600030101010101" pitchFamily="2" charset="-122"/>
              </a:rPr>
              <a:t>引发中断的事件。通常，中断源都与外设有关</a:t>
            </a:r>
            <a:r>
              <a:rPr lang="zh-CN" altLang="en-US" sz="2400" b="1" dirty="0" smtClean="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在生活中，门铃的铃声是一个中断源，它由门铃这个外设发出。</a:t>
            </a:r>
            <a:endParaRPr lang="zh-CN" altLang="en-US"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在嵌入式系统中，常见的中断源有按键按下和释放、定时器溢出、串口收到数据等，与此相关的外设有键盘、定时器和串口等</a:t>
            </a:r>
            <a:r>
              <a:rPr lang="zh-CN" altLang="en-US" sz="2000" dirty="0" smtClean="0">
                <a:latin typeface="宋体" panose="02010600030101010101" pitchFamily="2" charset="-122"/>
                <a:ea typeface="宋体" panose="02010600030101010101" pitchFamily="2" charset="-122"/>
              </a:rPr>
              <a:t>。</a:t>
            </a:r>
            <a:endParaRPr lang="en-US" altLang="zh-CN" sz="2000" dirty="0" smtClean="0">
              <a:latin typeface="宋体" panose="02010600030101010101" pitchFamily="2" charset="-122"/>
              <a:ea typeface="宋体" panose="02010600030101010101" pitchFamily="2" charset="-122"/>
            </a:endParaRPr>
          </a:p>
          <a:p>
            <a:pPr>
              <a:lnSpc>
                <a:spcPct val="150000"/>
              </a:lnSpc>
            </a:pPr>
            <a:r>
              <a:rPr lang="zh-CN" altLang="en-US" sz="2400" b="1" dirty="0" smtClean="0">
                <a:latin typeface="宋体" panose="02010600030101010101" pitchFamily="2" charset="-122"/>
                <a:ea typeface="宋体" panose="02010600030101010101" pitchFamily="2" charset="-122"/>
              </a:rPr>
              <a:t>中断请求标志位：每个中断源都有它对应的中断标志位。</a:t>
            </a:r>
            <a:endParaRPr lang="zh-CN" altLang="en-US" sz="2400" b="1" dirty="0" smtClean="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l"/>
            </a:pPr>
            <a:r>
              <a:rPr lang="zh-CN" altLang="en-US" sz="2000" dirty="0" smtClean="0">
                <a:latin typeface="宋体" panose="02010600030101010101" pitchFamily="2" charset="-122"/>
                <a:ea typeface="宋体" panose="02010600030101010101" pitchFamily="2" charset="-122"/>
              </a:rPr>
              <a:t>一旦</a:t>
            </a:r>
            <a:r>
              <a:rPr lang="zh-CN" altLang="en-US" sz="2000" dirty="0">
                <a:latin typeface="宋体" panose="02010600030101010101" pitchFamily="2" charset="-122"/>
                <a:ea typeface="宋体" panose="02010600030101010101" pitchFamily="2" charset="-122"/>
              </a:rPr>
              <a:t>该中断发生，它的中断标志位就会被置位。如果中断标志位被清除，那么它所对应的中断便不会再被响应。因此，一般在中断服务程序最后要将对应的中断标志位清零</a:t>
            </a:r>
            <a:r>
              <a:rPr lang="zh-CN" altLang="en-US" sz="2000" dirty="0" smtClean="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357" y="429348"/>
            <a:ext cx="1851789" cy="492443"/>
          </a:xfrm>
          <a:prstGeom prst="rect">
            <a:avLst/>
          </a:prstGeom>
        </p:spPr>
        <p:txBody>
          <a:bodyPr wrap="none">
            <a:spAutoFit/>
          </a:bodyPr>
          <a:lstStyle/>
          <a:p>
            <a:r>
              <a:rPr lang="zh-CN" altLang="en-US" sz="2600" dirty="0" smtClean="0">
                <a:ln w="10541" cmpd="sng">
                  <a:solidFill>
                    <a:srgbClr val="7030A0"/>
                  </a:solidFill>
                  <a:prstDash val="solid"/>
                </a:ln>
                <a:solidFill>
                  <a:srgbClr val="C00000"/>
                </a:solidFill>
                <a:latin typeface="Arial" panose="020B0604020202020204" pitchFamily="34" charset="0"/>
              </a:rPr>
              <a:t>中断屏蔽</a:t>
            </a:r>
            <a:r>
              <a:rPr lang="zh-CN" altLang="en-US" sz="2600" dirty="0">
                <a:ln w="10541" cmpd="sng">
                  <a:solidFill>
                    <a:srgbClr val="7030A0"/>
                  </a:solidFill>
                  <a:prstDash val="solid"/>
                </a:ln>
                <a:solidFill>
                  <a:srgbClr val="C00000"/>
                </a:solidFill>
                <a:latin typeface="Arial" panose="020B0604020202020204" pitchFamily="34" charset="0"/>
              </a:rPr>
              <a:t>：</a:t>
            </a:r>
            <a:endParaRPr lang="zh-CN" altLang="en-US" sz="2600" dirty="0">
              <a:ln w="10541" cmpd="sng">
                <a:solidFill>
                  <a:srgbClr val="7030A0"/>
                </a:solidFill>
                <a:prstDash val="solid"/>
              </a:ln>
              <a:solidFill>
                <a:srgbClr val="C00000"/>
              </a:solidFill>
              <a:latin typeface="Arial" panose="020B0604020202020204" pitchFamily="34" charset="0"/>
            </a:endParaRPr>
          </a:p>
        </p:txBody>
      </p:sp>
      <p:sp>
        <p:nvSpPr>
          <p:cNvPr id="3" name="矩形 2"/>
          <p:cNvSpPr/>
          <p:nvPr/>
        </p:nvSpPr>
        <p:spPr>
          <a:xfrm>
            <a:off x="399144" y="1192909"/>
            <a:ext cx="8222343" cy="3970318"/>
          </a:xfrm>
          <a:prstGeom prst="rect">
            <a:avLst/>
          </a:prstGeom>
        </p:spPr>
        <p:txBody>
          <a:bodyPr wrap="square">
            <a:spAutoFit/>
          </a:bodyPr>
          <a:lstStyle/>
          <a:p>
            <a:pPr>
              <a:lnSpc>
                <a:spcPct val="150000"/>
              </a:lnSpc>
            </a:pPr>
            <a:r>
              <a:rPr lang="zh-CN" altLang="en-US" sz="2400" b="1" dirty="0" smtClean="0">
                <a:latin typeface="宋体" panose="02010600030101010101" pitchFamily="2" charset="-122"/>
                <a:ea typeface="宋体" panose="02010600030101010101" pitchFamily="2" charset="-122"/>
              </a:rPr>
              <a:t>可以</a:t>
            </a:r>
            <a:r>
              <a:rPr lang="zh-CN" altLang="en-US" sz="2400" b="1" dirty="0">
                <a:latin typeface="宋体" panose="02010600030101010101" pitchFamily="2" charset="-122"/>
                <a:ea typeface="宋体" panose="02010600030101010101" pitchFamily="2" charset="-122"/>
              </a:rPr>
              <a:t>通过设置相应的中断屏蔽位，禁止</a:t>
            </a:r>
            <a:r>
              <a:rPr lang="en-US" altLang="zh-CN" sz="2400" b="1" dirty="0">
                <a:latin typeface="宋体" panose="02010600030101010101" pitchFamily="2" charset="-122"/>
                <a:ea typeface="宋体" panose="02010600030101010101" pitchFamily="2" charset="-122"/>
              </a:rPr>
              <a:t>CPU</a:t>
            </a:r>
            <a:r>
              <a:rPr lang="zh-CN" altLang="en-US" sz="2400" b="1" dirty="0">
                <a:latin typeface="宋体" panose="02010600030101010101" pitchFamily="2" charset="-122"/>
                <a:ea typeface="宋体" panose="02010600030101010101" pitchFamily="2" charset="-122"/>
              </a:rPr>
              <a:t>响应某个中断，从而实现中断屏蔽。</a:t>
            </a:r>
            <a:endParaRPr lang="zh-CN" altLang="en-US" sz="2400" b="1"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可屏蔽中断</a:t>
            </a:r>
            <a:endParaRPr lang="zh-CN" altLang="en-US" sz="2400" dirty="0">
              <a:latin typeface="宋体" panose="02010600030101010101" pitchFamily="2" charset="-122"/>
              <a:ea typeface="宋体" panose="02010600030101010101" pitchFamily="2" charset="-122"/>
            </a:endParaRPr>
          </a:p>
          <a:p>
            <a:pPr>
              <a:lnSpc>
                <a:spcPct val="150000"/>
              </a:lnSpc>
            </a:pPr>
            <a:r>
              <a:rPr lang="zh-CN" altLang="en-US" sz="2400" dirty="0" smtClean="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在生活中，门铃的铃声是一个可屏蔽中断。</a:t>
            </a:r>
            <a:endParaRPr lang="zh-CN" altLang="en-US" sz="24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不可屏蔽中断</a:t>
            </a:r>
            <a:endParaRPr lang="zh-CN" altLang="en-US" sz="2400" dirty="0">
              <a:latin typeface="宋体" panose="02010600030101010101" pitchFamily="2" charset="-122"/>
              <a:ea typeface="宋体" panose="02010600030101010101" pitchFamily="2" charset="-122"/>
            </a:endParaRPr>
          </a:p>
          <a:p>
            <a:pPr>
              <a:lnSpc>
                <a:spcPct val="150000"/>
              </a:lnSpc>
            </a:pPr>
            <a:r>
              <a:rPr lang="zh-CN" altLang="en-US" sz="2400" dirty="0">
                <a:latin typeface="宋体" panose="02010600030101010101" pitchFamily="2" charset="-122"/>
                <a:ea typeface="宋体" panose="02010600030101010101" pitchFamily="2" charset="-122"/>
              </a:rPr>
              <a:t>  在计算机系统中，电源故障、内存出错、总线出错等是不可屏蔽中断。</a:t>
            </a:r>
            <a:endParaRPr lang="zh-CN" altLang="en-US" sz="24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09288" y="491813"/>
            <a:ext cx="7468769" cy="553998"/>
          </a:xfrm>
          <a:prstGeom prst="rect">
            <a:avLst/>
          </a:prstGeom>
          <a:noFill/>
        </p:spPr>
        <p:txBody>
          <a:bodyPr wrap="square">
            <a:spAutoFit/>
          </a:bodyPr>
          <a:lstStyle/>
          <a:p>
            <a:pPr>
              <a:defRPr/>
            </a:pPr>
            <a:r>
              <a:rPr lang="zh-CN" altLang="en-US" sz="3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中断处理</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过程</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矩形 4"/>
          <p:cNvSpPr/>
          <p:nvPr/>
        </p:nvSpPr>
        <p:spPr>
          <a:xfrm>
            <a:off x="2650408" y="1087049"/>
            <a:ext cx="6377476" cy="5493812"/>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b="1" dirty="0">
                <a:latin typeface="宋体" panose="02010600030101010101" pitchFamily="2" charset="-122"/>
                <a:ea typeface="宋体" panose="02010600030101010101" pitchFamily="2" charset="-122"/>
              </a:rPr>
              <a:t>中断响应（硬件自动实现）</a:t>
            </a:r>
            <a:endParaRPr lang="zh-CN" altLang="en-US" b="1"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ü"/>
            </a:pPr>
            <a:r>
              <a:rPr lang="zh-CN" altLang="en-US" dirty="0" smtClean="0">
                <a:latin typeface="宋体" panose="02010600030101010101" pitchFamily="2" charset="-122"/>
                <a:ea typeface="宋体" panose="02010600030101010101" pitchFamily="2" charset="-122"/>
              </a:rPr>
              <a:t>   保护</a:t>
            </a:r>
            <a:r>
              <a:rPr lang="zh-CN" altLang="en-US" dirty="0">
                <a:latin typeface="宋体" panose="02010600030101010101" pitchFamily="2" charset="-122"/>
                <a:ea typeface="宋体" panose="02010600030101010101" pitchFamily="2" charset="-122"/>
              </a:rPr>
              <a:t>现场</a:t>
            </a:r>
            <a:endParaRPr lang="zh-CN" altLang="en-US"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ü"/>
            </a:pPr>
            <a:r>
              <a:rPr lang="zh-CN" altLang="en-US" dirty="0" smtClean="0">
                <a:latin typeface="宋体" panose="02010600030101010101" pitchFamily="2" charset="-122"/>
                <a:ea typeface="宋体" panose="02010600030101010101" pitchFamily="2" charset="-122"/>
              </a:rPr>
              <a:t>   找到</a:t>
            </a:r>
            <a:r>
              <a:rPr lang="zh-CN" altLang="en-US" dirty="0">
                <a:latin typeface="宋体" panose="02010600030101010101" pitchFamily="2" charset="-122"/>
                <a:ea typeface="宋体" panose="02010600030101010101" pitchFamily="2" charset="-122"/>
              </a:rPr>
              <a:t>该中断对应的中断服务程序的地址</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中断向量表</a:t>
            </a:r>
            <a:endParaRPr lang="zh-CN" altLang="en-US"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l"/>
            </a:pPr>
            <a:r>
              <a:rPr lang="zh-CN" altLang="en-US" b="1" dirty="0">
                <a:latin typeface="宋体" panose="02010600030101010101" pitchFamily="2" charset="-122"/>
                <a:ea typeface="宋体" panose="02010600030101010101" pitchFamily="2" charset="-122"/>
              </a:rPr>
              <a:t>执行中断服务程序（用户编程）</a:t>
            </a:r>
            <a:endParaRPr lang="zh-CN" altLang="en-US" b="1"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  </a:t>
            </a:r>
            <a:r>
              <a:rPr lang="zh-CN" altLang="en-US" dirty="0" smtClean="0">
                <a:latin typeface="宋体" panose="02010600030101010101" pitchFamily="2" charset="-122"/>
                <a:ea typeface="宋体" panose="02010600030101010101" pitchFamily="2" charset="-122"/>
              </a:rPr>
              <a:t> </a:t>
            </a:r>
            <a:r>
              <a:rPr lang="zh-CN" altLang="en-US" b="1" u="sng" dirty="0" smtClean="0">
                <a:latin typeface="宋体" panose="02010600030101010101" pitchFamily="2" charset="-122"/>
                <a:ea typeface="宋体" panose="02010600030101010101" pitchFamily="2" charset="-122"/>
              </a:rPr>
              <a:t>中断服务程序</a:t>
            </a:r>
            <a:r>
              <a:rPr lang="zh-CN" altLang="en-US" b="1" u="sng" dirty="0">
                <a:latin typeface="宋体" panose="02010600030101010101" pitchFamily="2" charset="-122"/>
                <a:ea typeface="宋体" panose="02010600030101010101" pitchFamily="2" charset="-122"/>
              </a:rPr>
              <a:t>通常是由用户使用</a:t>
            </a:r>
            <a:r>
              <a:rPr lang="en-US" altLang="zh-CN" b="1" u="sng" dirty="0">
                <a:latin typeface="宋体" panose="02010600030101010101" pitchFamily="2" charset="-122"/>
                <a:ea typeface="宋体" panose="02010600030101010101" pitchFamily="2" charset="-122"/>
              </a:rPr>
              <a:t>C</a:t>
            </a:r>
            <a:r>
              <a:rPr lang="zh-CN" altLang="en-US" b="1" u="sng" dirty="0">
                <a:latin typeface="宋体" panose="02010600030101010101" pitchFamily="2" charset="-122"/>
                <a:ea typeface="宋体" panose="02010600030101010101" pitchFamily="2" charset="-122"/>
              </a:rPr>
              <a:t>语言编写的特殊函数，用来实现对该中断真正的处理操作，具有以下特点</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ü"/>
            </a:pPr>
            <a:r>
              <a:rPr lang="zh-CN" altLang="en-US" dirty="0">
                <a:latin typeface="宋体" panose="02010600030101010101" pitchFamily="2" charset="-122"/>
                <a:ea typeface="宋体" panose="02010600030101010101" pitchFamily="2" charset="-122"/>
              </a:rPr>
              <a:t>中断服务程序既没有参数，也没有返回值，更不由用户调用，而是当某个事件产生一个中断时由硬件自动调用。</a:t>
            </a:r>
            <a:endParaRPr lang="zh-CN" altLang="en-US"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ü"/>
            </a:pPr>
            <a:r>
              <a:rPr lang="zh-CN" altLang="en-US" dirty="0">
                <a:latin typeface="宋体" panose="02010600030101010101" pitchFamily="2" charset="-122"/>
                <a:ea typeface="宋体" panose="02010600030101010101" pitchFamily="2" charset="-122"/>
              </a:rPr>
              <a:t>在中断服务程序中修改、在其他程序中访问的变量，在其定义和声明时要在前面加上</a:t>
            </a:r>
            <a:r>
              <a:rPr lang="en-US" altLang="zh-CN" dirty="0">
                <a:latin typeface="宋体" panose="02010600030101010101" pitchFamily="2" charset="-122"/>
                <a:ea typeface="宋体" panose="02010600030101010101" pitchFamily="2" charset="-122"/>
              </a:rPr>
              <a:t>volatile</a:t>
            </a:r>
            <a:r>
              <a:rPr lang="zh-CN" altLang="en-US" dirty="0">
                <a:latin typeface="宋体" panose="02010600030101010101" pitchFamily="2" charset="-122"/>
                <a:ea typeface="宋体" panose="02010600030101010101" pitchFamily="2" charset="-122"/>
              </a:rPr>
              <a:t>修饰词。</a:t>
            </a:r>
            <a:endParaRPr lang="zh-CN" altLang="en-US"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ü"/>
            </a:pPr>
            <a:r>
              <a:rPr lang="zh-CN" altLang="en-US" dirty="0">
                <a:latin typeface="宋体" panose="02010600030101010101" pitchFamily="2" charset="-122"/>
                <a:ea typeface="宋体" panose="02010600030101010101" pitchFamily="2" charset="-122"/>
              </a:rPr>
              <a:t>中断服务程序要求应当尽量的简短。</a:t>
            </a:r>
            <a:endParaRPr lang="zh-CN" altLang="en-US"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l"/>
            </a:pPr>
            <a:r>
              <a:rPr lang="zh-CN" altLang="en-US" b="1" dirty="0">
                <a:latin typeface="宋体" panose="02010600030101010101" pitchFamily="2" charset="-122"/>
                <a:ea typeface="宋体" panose="02010600030101010101" pitchFamily="2" charset="-122"/>
              </a:rPr>
              <a:t>中断返回（硬件自动实现）</a:t>
            </a:r>
            <a:endParaRPr lang="zh-CN" altLang="en-US" b="1" dirty="0">
              <a:latin typeface="宋体" panose="02010600030101010101" pitchFamily="2" charset="-122"/>
              <a:ea typeface="宋体" panose="02010600030101010101" pitchFamily="2" charset="-122"/>
            </a:endParaRPr>
          </a:p>
          <a:p>
            <a:pPr>
              <a:lnSpc>
                <a:spcPct val="150000"/>
              </a:lnSpc>
            </a:pPr>
            <a:r>
              <a:rPr lang="zh-CN" altLang="en-US" dirty="0" smtClean="0">
                <a:latin typeface="宋体" panose="02010600030101010101" pitchFamily="2" charset="-122"/>
                <a:ea typeface="宋体" panose="02010600030101010101" pitchFamily="2" charset="-122"/>
              </a:rPr>
              <a:t>   恢复现场</a:t>
            </a:r>
            <a:endParaRPr lang="zh-CN" altLang="en-US" dirty="0" smtClean="0">
              <a:latin typeface="宋体" panose="02010600030101010101" pitchFamily="2" charset="-122"/>
              <a:ea typeface="宋体" panose="02010600030101010101" pitchFamily="2" charset="-122"/>
            </a:endParaRPr>
          </a:p>
        </p:txBody>
      </p:sp>
      <p:sp>
        <p:nvSpPr>
          <p:cNvPr id="6" name="TextBox 5"/>
          <p:cNvSpPr txBox="1"/>
          <p:nvPr/>
        </p:nvSpPr>
        <p:spPr>
          <a:xfrm>
            <a:off x="522517" y="1264483"/>
            <a:ext cx="1407885" cy="369332"/>
          </a:xfrm>
          <a:prstGeom prst="rect">
            <a:avLst/>
          </a:prstGeom>
          <a:noFill/>
        </p:spPr>
        <p:txBody>
          <a:bodyPr wrap="square" rtlCol="0">
            <a:spAutoFit/>
          </a:bodyPr>
          <a:lstStyle/>
          <a:p>
            <a:pPr algn="ct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主程序</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7" name="直接箭头连接符 6"/>
          <p:cNvCxnSpPr/>
          <p:nvPr/>
        </p:nvCxnSpPr>
        <p:spPr bwMode="auto">
          <a:xfrm flipH="1">
            <a:off x="1236758" y="1662843"/>
            <a:ext cx="0" cy="1259493"/>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8" name="TextBox 7"/>
          <p:cNvSpPr txBox="1"/>
          <p:nvPr/>
        </p:nvSpPr>
        <p:spPr>
          <a:xfrm>
            <a:off x="43542" y="2365831"/>
            <a:ext cx="1168404" cy="369332"/>
          </a:xfrm>
          <a:prstGeom prst="rect">
            <a:avLst/>
          </a:prstGeom>
          <a:noFill/>
        </p:spPr>
        <p:txBody>
          <a:bodyPr wrap="square" rtlCol="0">
            <a:spAutoFit/>
          </a:bodyPr>
          <a:lstStyle/>
          <a:p>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中断请求</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0" name="直接箭头连接符 9"/>
          <p:cNvCxnSpPr/>
          <p:nvPr/>
        </p:nvCxnSpPr>
        <p:spPr bwMode="auto">
          <a:xfrm>
            <a:off x="43542" y="2735163"/>
            <a:ext cx="1168403" cy="0"/>
          </a:xfrm>
          <a:prstGeom prst="straightConnector1">
            <a:avLst/>
          </a:prstGeom>
          <a:solidFill>
            <a:schemeClr val="accent1"/>
          </a:solidFill>
          <a:ln w="9525" cap="flat" cmpd="sng" algn="ctr">
            <a:solidFill>
              <a:schemeClr val="tx1"/>
            </a:solidFill>
            <a:prstDash val="sysDash"/>
            <a:round/>
            <a:headEnd type="none" w="med" len="med"/>
            <a:tailEnd type="arrow"/>
          </a:ln>
          <a:effectLst>
            <a:outerShdw dist="17961" dir="2700000" algn="ctr" rotWithShape="0">
              <a:schemeClr val="tx1">
                <a:gamma/>
                <a:shade val="60000"/>
                <a:invGamma/>
              </a:schemeClr>
            </a:outerShdw>
          </a:effectLst>
        </p:spPr>
      </p:cxnSp>
      <p:sp>
        <p:nvSpPr>
          <p:cNvPr id="13" name="TextBox 12"/>
          <p:cNvSpPr txBox="1"/>
          <p:nvPr/>
        </p:nvSpPr>
        <p:spPr>
          <a:xfrm>
            <a:off x="798286" y="2723156"/>
            <a:ext cx="435426" cy="369332"/>
          </a:xfrm>
          <a:prstGeom prst="rect">
            <a:avLst/>
          </a:prstGeom>
          <a:noFill/>
        </p:spPr>
        <p:txBody>
          <a:bodyPr wrap="square" rtlCol="0">
            <a:spAutoFit/>
          </a:bodyPr>
          <a:lstStyle/>
          <a:p>
            <a:pPr algn="ct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k</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4" name="直接箭头连接符 13"/>
          <p:cNvCxnSpPr/>
          <p:nvPr/>
        </p:nvCxnSpPr>
        <p:spPr bwMode="auto">
          <a:xfrm flipH="1">
            <a:off x="1236758" y="3092488"/>
            <a:ext cx="0" cy="1259493"/>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15" name="TextBox 14"/>
          <p:cNvSpPr txBox="1"/>
          <p:nvPr/>
        </p:nvSpPr>
        <p:spPr>
          <a:xfrm>
            <a:off x="624115" y="3122294"/>
            <a:ext cx="689427" cy="369332"/>
          </a:xfrm>
          <a:prstGeom prst="rect">
            <a:avLst/>
          </a:prstGeom>
          <a:noFill/>
        </p:spPr>
        <p:txBody>
          <a:bodyPr wrap="square" rtlCol="0">
            <a:spAutoFit/>
          </a:bodyPr>
          <a:lstStyle/>
          <a:p>
            <a:pPr algn="ct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K+1</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6" name="直接箭头连接符 15"/>
          <p:cNvCxnSpPr/>
          <p:nvPr/>
        </p:nvCxnSpPr>
        <p:spPr bwMode="auto">
          <a:xfrm flipV="1">
            <a:off x="1328055" y="2278075"/>
            <a:ext cx="1050423" cy="583896"/>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17" name="直接箭头连接符 16"/>
          <p:cNvCxnSpPr/>
          <p:nvPr/>
        </p:nvCxnSpPr>
        <p:spPr bwMode="auto">
          <a:xfrm>
            <a:off x="2363964" y="2315734"/>
            <a:ext cx="0" cy="1406500"/>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18" name="直接箭头连接符 17"/>
          <p:cNvCxnSpPr/>
          <p:nvPr/>
        </p:nvCxnSpPr>
        <p:spPr bwMode="auto">
          <a:xfrm flipH="1" flipV="1">
            <a:off x="1284514" y="3083313"/>
            <a:ext cx="1035908" cy="609893"/>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30" name="TextBox 29"/>
          <p:cNvSpPr txBox="1"/>
          <p:nvPr/>
        </p:nvSpPr>
        <p:spPr>
          <a:xfrm>
            <a:off x="1374295" y="1894229"/>
            <a:ext cx="1407885" cy="369332"/>
          </a:xfrm>
          <a:prstGeom prst="rect">
            <a:avLst/>
          </a:prstGeom>
          <a:noFill/>
        </p:spPr>
        <p:txBody>
          <a:bodyPr wrap="square" rtlCol="0">
            <a:spAutoFit/>
          </a:bodyPr>
          <a:lstStyle/>
          <a:p>
            <a:pPr algn="ct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中断响应</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 name="TextBox 30"/>
          <p:cNvSpPr txBox="1"/>
          <p:nvPr/>
        </p:nvSpPr>
        <p:spPr>
          <a:xfrm>
            <a:off x="1297164" y="3725586"/>
            <a:ext cx="1407885" cy="369332"/>
          </a:xfrm>
          <a:prstGeom prst="rect">
            <a:avLst/>
          </a:prstGeom>
          <a:noFill/>
        </p:spPr>
        <p:txBody>
          <a:bodyPr wrap="square" rtlCol="0">
            <a:spAutoFit/>
          </a:bodyPr>
          <a:lstStyle/>
          <a:p>
            <a:pPr algn="ct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中断返回</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1000"/>
                                        <p:tgtEl>
                                          <p:spTgt spid="6"/>
                                        </p:tgtEl>
                                      </p:cBhvr>
                                    </p:animEffect>
                                  </p:childTnLst>
                                </p:cTn>
                              </p:par>
                            </p:childTnLst>
                          </p:cTn>
                        </p:par>
                        <p:par>
                          <p:cTn id="8" fill="hold">
                            <p:stCondLst>
                              <p:cond delay="1000"/>
                            </p:stCondLst>
                            <p:childTnLst>
                              <p:par>
                                <p:cTn id="9" presetID="6" presetClass="entr" presetSubtype="16"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circle(in)">
                                      <p:cBhvr>
                                        <p:cTn id="11" dur="1000"/>
                                        <p:tgtEl>
                                          <p:spTgt spid="7"/>
                                        </p:tgtEl>
                                      </p:cBhvr>
                                    </p:animEffect>
                                  </p:childTnLst>
                                </p:cTn>
                              </p:par>
                            </p:childTnLst>
                          </p:cTn>
                        </p:par>
                        <p:par>
                          <p:cTn id="12" fill="hold">
                            <p:stCondLst>
                              <p:cond delay="2000"/>
                            </p:stCondLst>
                            <p:childTnLst>
                              <p:par>
                                <p:cTn id="13" presetID="42"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anim calcmode="lin" valueType="num">
                                      <p:cBhvr>
                                        <p:cTn id="16" dur="1000" fill="hold"/>
                                        <p:tgtEl>
                                          <p:spTgt spid="10"/>
                                        </p:tgtEl>
                                        <p:attrNameLst>
                                          <p:attrName>ppt_x</p:attrName>
                                        </p:attrNameLst>
                                      </p:cBhvr>
                                      <p:tavLst>
                                        <p:tav tm="0">
                                          <p:val>
                                            <p:strVal val="#ppt_x"/>
                                          </p:val>
                                        </p:tav>
                                        <p:tav tm="100000">
                                          <p:val>
                                            <p:strVal val="#ppt_x"/>
                                          </p:val>
                                        </p:tav>
                                      </p:tavLst>
                                    </p:anim>
                                    <p:anim calcmode="lin" valueType="num">
                                      <p:cBhvr>
                                        <p:cTn id="17" dur="1000" fill="hold"/>
                                        <p:tgtEl>
                                          <p:spTgt spid="10"/>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anim calcmode="lin" valueType="num">
                                      <p:cBhvr>
                                        <p:cTn id="21" dur="1000" fill="hold"/>
                                        <p:tgtEl>
                                          <p:spTgt spid="8"/>
                                        </p:tgtEl>
                                        <p:attrNameLst>
                                          <p:attrName>ppt_x</p:attrName>
                                        </p:attrNameLst>
                                      </p:cBhvr>
                                      <p:tavLst>
                                        <p:tav tm="0">
                                          <p:val>
                                            <p:strVal val="#ppt_x"/>
                                          </p:val>
                                        </p:tav>
                                        <p:tav tm="100000">
                                          <p:val>
                                            <p:strVal val="#ppt_x"/>
                                          </p:val>
                                        </p:tav>
                                      </p:tavLst>
                                    </p:anim>
                                    <p:anim calcmode="lin" valueType="num">
                                      <p:cBhvr>
                                        <p:cTn id="22" dur="1000" fill="hold"/>
                                        <p:tgtEl>
                                          <p:spTgt spid="8"/>
                                        </p:tgtEl>
                                        <p:attrNameLst>
                                          <p:attrName>ppt_y</p:attrName>
                                        </p:attrNameLst>
                                      </p:cBhvr>
                                      <p:tavLst>
                                        <p:tav tm="0">
                                          <p:val>
                                            <p:strVal val="#ppt_y+.1"/>
                                          </p:val>
                                        </p:tav>
                                        <p:tav tm="100000">
                                          <p:val>
                                            <p:strVal val="#ppt_y"/>
                                          </p:val>
                                        </p:tav>
                                      </p:tavLst>
                                    </p:anim>
                                  </p:childTnLst>
                                </p:cTn>
                              </p:par>
                            </p:childTnLst>
                          </p:cTn>
                        </p:par>
                        <p:par>
                          <p:cTn id="23" fill="hold">
                            <p:stCondLst>
                              <p:cond delay="3000"/>
                            </p:stCondLst>
                            <p:childTnLst>
                              <p:par>
                                <p:cTn id="24" presetID="22" presetClass="entr" presetSubtype="4"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down)">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circle(in)">
                                      <p:cBhvr>
                                        <p:cTn id="31" dur="1000"/>
                                        <p:tgtEl>
                                          <p:spTgt spid="16"/>
                                        </p:tgtEl>
                                      </p:cBhvr>
                                    </p:animEffect>
                                  </p:childTnLst>
                                </p:cTn>
                              </p:par>
                            </p:childTnLst>
                          </p:cTn>
                        </p:par>
                        <p:par>
                          <p:cTn id="32" fill="hold">
                            <p:stCondLst>
                              <p:cond delay="1000"/>
                            </p:stCondLst>
                            <p:childTnLst>
                              <p:par>
                                <p:cTn id="33" presetID="6" presetClass="entr" presetSubtype="16"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circle(in)">
                                      <p:cBhvr>
                                        <p:cTn id="35" dur="1000"/>
                                        <p:tgtEl>
                                          <p:spTgt spid="30"/>
                                        </p:tgtEl>
                                      </p:cBhvr>
                                    </p:animEffect>
                                  </p:childTnLst>
                                </p:cTn>
                              </p:par>
                            </p:childTnLst>
                          </p:cTn>
                        </p:par>
                        <p:par>
                          <p:cTn id="36" fill="hold">
                            <p:stCondLst>
                              <p:cond delay="2000"/>
                            </p:stCondLst>
                            <p:childTnLst>
                              <p:par>
                                <p:cTn id="37" presetID="6" presetClass="entr" presetSubtype="16" fill="hold"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circle(in)">
                                      <p:cBhvr>
                                        <p:cTn id="39" dur="1000"/>
                                        <p:tgtEl>
                                          <p:spTgt spid="17"/>
                                        </p:tgtEl>
                                      </p:cBhvr>
                                    </p:animEffect>
                                  </p:childTnLst>
                                </p:cTn>
                              </p:par>
                            </p:childTnLst>
                          </p:cTn>
                        </p:par>
                        <p:par>
                          <p:cTn id="40" fill="hold">
                            <p:stCondLst>
                              <p:cond delay="3000"/>
                            </p:stCondLst>
                            <p:childTnLst>
                              <p:par>
                                <p:cTn id="41" presetID="6" presetClass="entr" presetSubtype="16" fill="hold" grpId="0" nodeType="after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circle(in)">
                                      <p:cBhvr>
                                        <p:cTn id="43" dur="1000"/>
                                        <p:tgtEl>
                                          <p:spTgt spid="3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wipe(down)">
                                      <p:cBhvr>
                                        <p:cTn id="48" dur="500"/>
                                        <p:tgtEl>
                                          <p:spTgt spid="18"/>
                                        </p:tgtEl>
                                      </p:cBhvr>
                                    </p:animEffect>
                                  </p:childTnLst>
                                </p:cTn>
                              </p:par>
                            </p:childTnLst>
                          </p:cTn>
                        </p:par>
                        <p:par>
                          <p:cTn id="49" fill="hold">
                            <p:stCondLst>
                              <p:cond delay="500"/>
                            </p:stCondLst>
                            <p:childTnLst>
                              <p:par>
                                <p:cTn id="50" presetID="16" presetClass="entr" presetSubtype="21"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barn(inVertical)">
                                      <p:cBhvr>
                                        <p:cTn id="52" dur="500"/>
                                        <p:tgtEl>
                                          <p:spTgt spid="15"/>
                                        </p:tgtEl>
                                      </p:cBhvr>
                                    </p:animEffect>
                                  </p:childTnLst>
                                </p:cTn>
                              </p:par>
                              <p:par>
                                <p:cTn id="53" presetID="16" presetClass="entr" presetSubtype="21" fill="hold"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barn(inVertical)">
                                      <p:cBhvr>
                                        <p:cTn id="5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3" grpId="0"/>
      <p:bldP spid="15" grpId="0"/>
      <p:bldP spid="30" grpId="0"/>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3802" y="462785"/>
            <a:ext cx="7468769" cy="553998"/>
          </a:xfrm>
          <a:prstGeom prst="rect">
            <a:avLst/>
          </a:prstGeom>
          <a:noFill/>
        </p:spPr>
        <p:txBody>
          <a:bodyPr wrap="square">
            <a:spAutoFit/>
          </a:bodyPr>
          <a:lstStyle/>
          <a:p>
            <a:pPr>
              <a:defRPr/>
            </a:pPr>
            <a:r>
              <a:rPr lang="zh-CN" altLang="en-US" sz="3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中断优先级</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与中断嵌套</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317358" y="1097005"/>
            <a:ext cx="2185214" cy="492443"/>
          </a:xfrm>
          <a:prstGeom prst="rect">
            <a:avLst/>
          </a:prstGeom>
        </p:spPr>
        <p:txBody>
          <a:bodyPr wrap="none">
            <a:spAutoFit/>
          </a:bodyPr>
          <a:lstStyle/>
          <a:p>
            <a:r>
              <a:rPr lang="zh-CN" altLang="en-US" sz="2600" dirty="0" smtClean="0">
                <a:ln w="10541" cmpd="sng">
                  <a:solidFill>
                    <a:srgbClr val="7030A0"/>
                  </a:solidFill>
                  <a:prstDash val="solid"/>
                </a:ln>
                <a:solidFill>
                  <a:srgbClr val="C00000"/>
                </a:solidFill>
                <a:latin typeface="Arial" panose="020B0604020202020204" pitchFamily="34" charset="0"/>
              </a:rPr>
              <a:t>中断优先级</a:t>
            </a:r>
            <a:r>
              <a:rPr lang="zh-CN" altLang="en-US" sz="2600" dirty="0">
                <a:ln w="10541" cmpd="sng">
                  <a:solidFill>
                    <a:srgbClr val="7030A0"/>
                  </a:solidFill>
                  <a:prstDash val="solid"/>
                </a:ln>
                <a:solidFill>
                  <a:srgbClr val="C00000"/>
                </a:solidFill>
                <a:latin typeface="Arial" panose="020B0604020202020204" pitchFamily="34" charset="0"/>
              </a:rPr>
              <a:t>：</a:t>
            </a:r>
            <a:endParaRPr lang="zh-CN" altLang="en-US" sz="2600" dirty="0">
              <a:ln w="10541" cmpd="sng">
                <a:solidFill>
                  <a:srgbClr val="7030A0"/>
                </a:solidFill>
                <a:prstDash val="solid"/>
              </a:ln>
              <a:solidFill>
                <a:srgbClr val="C00000"/>
              </a:solidFill>
              <a:latin typeface="Arial" panose="020B0604020202020204" pitchFamily="34" charset="0"/>
            </a:endParaRPr>
          </a:p>
        </p:txBody>
      </p:sp>
      <p:sp>
        <p:nvSpPr>
          <p:cNvPr id="4" name="矩形 3"/>
          <p:cNvSpPr/>
          <p:nvPr/>
        </p:nvSpPr>
        <p:spPr>
          <a:xfrm>
            <a:off x="317357" y="1544458"/>
            <a:ext cx="8652472" cy="1405193"/>
          </a:xfrm>
          <a:prstGeom prst="rect">
            <a:avLst/>
          </a:prstGeom>
        </p:spPr>
        <p:txBody>
          <a:bodyPr wrap="square">
            <a:spAutoFit/>
          </a:bodyPr>
          <a:lstStyle/>
          <a:p>
            <a:pPr>
              <a:lnSpc>
                <a:spcPct val="150000"/>
              </a:lnSpc>
            </a:pPr>
            <a:r>
              <a:rPr lang="zh-CN" altLang="en-US" sz="2000" dirty="0">
                <a:latin typeface="宋体" panose="02010600030101010101" pitchFamily="2" charset="-122"/>
                <a:ea typeface="宋体" panose="02010600030101010101" pitchFamily="2" charset="-122"/>
              </a:rPr>
              <a:t>嵌入式系统中的中断往往不止一个，那么，对于多个同时发生的中断或者嵌套发生的中断，</a:t>
            </a:r>
            <a:r>
              <a:rPr lang="en-US" altLang="zh-CN" sz="2000" dirty="0">
                <a:latin typeface="宋体" panose="02010600030101010101" pitchFamily="2" charset="-122"/>
                <a:ea typeface="宋体" panose="02010600030101010101" pitchFamily="2" charset="-122"/>
              </a:rPr>
              <a:t>CPU</a:t>
            </a:r>
            <a:r>
              <a:rPr lang="zh-CN" altLang="en-US" sz="2000" dirty="0">
                <a:latin typeface="宋体" panose="02010600030101010101" pitchFamily="2" charset="-122"/>
                <a:ea typeface="宋体" panose="02010600030101010101" pitchFamily="2" charset="-122"/>
              </a:rPr>
              <a:t>又该如何处理？应该先响应哪一个中断？答案就是</a:t>
            </a:r>
            <a:r>
              <a:rPr lang="zh-CN" altLang="en-US" sz="2000" b="1" dirty="0">
                <a:latin typeface="宋体" panose="02010600030101010101" pitchFamily="2" charset="-122"/>
                <a:ea typeface="宋体" panose="02010600030101010101" pitchFamily="2" charset="-122"/>
              </a:rPr>
              <a:t>中断优先级</a:t>
            </a:r>
            <a:endParaRPr lang="zh-CN" altLang="en-US" sz="2000" b="1" dirty="0">
              <a:latin typeface="宋体" panose="02010600030101010101" pitchFamily="2" charset="-122"/>
              <a:ea typeface="宋体" panose="02010600030101010101" pitchFamily="2" charset="-122"/>
            </a:endParaRPr>
          </a:p>
        </p:txBody>
      </p:sp>
      <p:cxnSp>
        <p:nvCxnSpPr>
          <p:cNvPr id="6" name="直接箭头连接符 5"/>
          <p:cNvCxnSpPr/>
          <p:nvPr/>
        </p:nvCxnSpPr>
        <p:spPr bwMode="auto">
          <a:xfrm flipH="1">
            <a:off x="3958186" y="3341536"/>
            <a:ext cx="0" cy="1259493"/>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8" name="TextBox 7"/>
          <p:cNvSpPr txBox="1"/>
          <p:nvPr/>
        </p:nvSpPr>
        <p:spPr>
          <a:xfrm>
            <a:off x="3265713" y="2630343"/>
            <a:ext cx="1421422"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dirty="0" smtClean="0"/>
              <a:t>看书</a:t>
            </a:r>
            <a:br>
              <a:rPr lang="en-US" altLang="zh-CN" dirty="0" smtClean="0"/>
            </a:br>
            <a:r>
              <a:rPr lang="zh-CN" altLang="en-US" dirty="0" smtClean="0"/>
              <a:t>（主程序</a:t>
            </a:r>
            <a:r>
              <a:rPr lang="zh-CN" altLang="en-US" dirty="0"/>
              <a:t>）</a:t>
            </a:r>
            <a:endParaRPr lang="zh-CN" altLang="en-US" dirty="0"/>
          </a:p>
        </p:txBody>
      </p:sp>
      <p:sp>
        <p:nvSpPr>
          <p:cNvPr id="11" name="圆角矩形标注 10"/>
          <p:cNvSpPr/>
          <p:nvPr/>
        </p:nvSpPr>
        <p:spPr bwMode="auto">
          <a:xfrm>
            <a:off x="1549426" y="3712025"/>
            <a:ext cx="1904977" cy="870858"/>
          </a:xfrm>
          <a:prstGeom prst="wedgeRoundRectCallout">
            <a:avLst>
              <a:gd name="adj1" fmla="val 72553"/>
              <a:gd name="adj2" fmla="val 47500"/>
              <a:gd name="adj3" fmla="val 16667"/>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smtClean="0">
                <a:ln>
                  <a:noFill/>
                </a:ln>
                <a:solidFill>
                  <a:schemeClr val="tx1"/>
                </a:solidFill>
                <a:effectLst/>
                <a:latin typeface="Arial" panose="020B0604020202020204" pitchFamily="34" charset="0"/>
              </a:rPr>
              <a:t>电话铃响</a:t>
            </a:r>
            <a:endParaRPr kumimoji="0" lang="en-US" altLang="zh-CN" sz="1800" b="0" i="0" u="none" strike="noStrike" cap="none" normalizeH="0" baseline="0" dirty="0" smtClean="0">
              <a:ln>
                <a:noFill/>
              </a:ln>
              <a:solidFill>
                <a:schemeClr val="tx1"/>
              </a:solidFill>
              <a:effectLst/>
              <a:latin typeface="Arial" panose="020B0604020202020204" pitchFamily="34" charset="0"/>
            </a:endParaRPr>
          </a:p>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dirty="0" smtClean="0"/>
              <a:t>（中断请求</a:t>
            </a:r>
            <a:r>
              <a:rPr lang="en-US" altLang="zh-CN" dirty="0" smtClean="0"/>
              <a:t>1</a:t>
            </a:r>
            <a:r>
              <a:rPr lang="zh-CN" altLang="en-US" dirty="0" smtClean="0"/>
              <a:t>）</a:t>
            </a:r>
            <a:endParaRPr kumimoji="0" lang="zh-CN"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圆角矩形标注 12"/>
          <p:cNvSpPr/>
          <p:nvPr/>
        </p:nvSpPr>
        <p:spPr bwMode="auto">
          <a:xfrm>
            <a:off x="1549426" y="4855027"/>
            <a:ext cx="1904977" cy="870858"/>
          </a:xfrm>
          <a:prstGeom prst="wedgeRoundRectCallout">
            <a:avLst>
              <a:gd name="adj1" fmla="val 74839"/>
              <a:gd name="adj2" fmla="val -57500"/>
              <a:gd name="adj3" fmla="val 16667"/>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smtClean="0">
                <a:ln>
                  <a:noFill/>
                </a:ln>
                <a:solidFill>
                  <a:schemeClr val="tx1"/>
                </a:solidFill>
                <a:effectLst/>
                <a:latin typeface="Arial" panose="020B0604020202020204" pitchFamily="34" charset="0"/>
              </a:rPr>
              <a:t>门铃响</a:t>
            </a:r>
            <a:endParaRPr kumimoji="0" lang="en-US" altLang="zh-CN" sz="1800" b="0" i="0" u="none" strike="noStrike" cap="none" normalizeH="0" baseline="0" dirty="0" smtClean="0">
              <a:ln>
                <a:noFill/>
              </a:ln>
              <a:solidFill>
                <a:schemeClr val="tx1"/>
              </a:solidFill>
              <a:effectLst/>
              <a:latin typeface="Arial" panose="020B0604020202020204" pitchFamily="34" charset="0"/>
            </a:endParaRPr>
          </a:p>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dirty="0" smtClean="0"/>
              <a:t>（中断请求</a:t>
            </a:r>
            <a:r>
              <a:rPr lang="en-US" altLang="zh-CN" dirty="0" smtClean="0"/>
              <a:t>2</a:t>
            </a:r>
            <a:r>
              <a:rPr lang="zh-CN" altLang="en-US" dirty="0" smtClean="0"/>
              <a:t>）</a:t>
            </a:r>
            <a:endParaRPr kumimoji="0" lang="zh-CN" altLang="en-US" sz="1800" b="0" i="0" u="none" strike="noStrike" cap="none" normalizeH="0" baseline="0" dirty="0" smtClean="0">
              <a:ln>
                <a:noFill/>
              </a:ln>
              <a:solidFill>
                <a:schemeClr val="tx1"/>
              </a:solidFill>
              <a:effectLst/>
              <a:latin typeface="Arial" panose="020B0604020202020204" pitchFamily="34" charset="0"/>
            </a:endParaRPr>
          </a:p>
        </p:txBody>
      </p:sp>
      <p:grpSp>
        <p:nvGrpSpPr>
          <p:cNvPr id="16" name="组合 15"/>
          <p:cNvGrpSpPr/>
          <p:nvPr/>
        </p:nvGrpSpPr>
        <p:grpSpPr>
          <a:xfrm>
            <a:off x="3984852" y="5032206"/>
            <a:ext cx="10300" cy="1685666"/>
            <a:chOff x="3980638" y="4753429"/>
            <a:chExt cx="10300" cy="1685666"/>
          </a:xfrm>
        </p:grpSpPr>
        <p:cxnSp>
          <p:nvCxnSpPr>
            <p:cNvPr id="14" name="直接箭头连接符 13"/>
            <p:cNvCxnSpPr/>
            <p:nvPr/>
          </p:nvCxnSpPr>
          <p:spPr bwMode="auto">
            <a:xfrm flipH="1">
              <a:off x="3980638" y="4753429"/>
              <a:ext cx="0" cy="1259493"/>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15" name="直接连接符 14"/>
            <p:cNvCxnSpPr/>
            <p:nvPr/>
          </p:nvCxnSpPr>
          <p:spPr bwMode="auto">
            <a:xfrm>
              <a:off x="3990938" y="5760931"/>
              <a:ext cx="0" cy="678164"/>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grpSp>
      <p:cxnSp>
        <p:nvCxnSpPr>
          <p:cNvPr id="18" name="直接箭头连接符 17"/>
          <p:cNvCxnSpPr/>
          <p:nvPr/>
        </p:nvCxnSpPr>
        <p:spPr bwMode="auto">
          <a:xfrm flipV="1">
            <a:off x="3980638" y="3276674"/>
            <a:ext cx="1781533" cy="1342497"/>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20" name="直接箭头连接符 19"/>
          <p:cNvCxnSpPr/>
          <p:nvPr/>
        </p:nvCxnSpPr>
        <p:spPr bwMode="auto">
          <a:xfrm>
            <a:off x="5762171" y="3341536"/>
            <a:ext cx="0" cy="736977"/>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22" name="直接箭头连接符 21"/>
          <p:cNvCxnSpPr/>
          <p:nvPr/>
        </p:nvCxnSpPr>
        <p:spPr bwMode="auto">
          <a:xfrm flipH="1">
            <a:off x="3995152" y="4078513"/>
            <a:ext cx="1767020" cy="776514"/>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29" name="直接箭头连接符 28"/>
          <p:cNvCxnSpPr/>
          <p:nvPr/>
        </p:nvCxnSpPr>
        <p:spPr bwMode="auto">
          <a:xfrm>
            <a:off x="3995152" y="4855027"/>
            <a:ext cx="1767020" cy="0"/>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31" name="直接箭头连接符 30"/>
          <p:cNvCxnSpPr/>
          <p:nvPr/>
        </p:nvCxnSpPr>
        <p:spPr bwMode="auto">
          <a:xfrm flipH="1">
            <a:off x="5762171" y="4855027"/>
            <a:ext cx="1" cy="703944"/>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1025" name="直接箭头连接符 1024"/>
          <p:cNvCxnSpPr/>
          <p:nvPr/>
        </p:nvCxnSpPr>
        <p:spPr bwMode="auto">
          <a:xfrm flipH="1" flipV="1">
            <a:off x="3995152" y="5032206"/>
            <a:ext cx="1767019" cy="526765"/>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36" name="TextBox 35"/>
          <p:cNvSpPr txBox="1"/>
          <p:nvPr/>
        </p:nvSpPr>
        <p:spPr>
          <a:xfrm>
            <a:off x="4927604" y="2611829"/>
            <a:ext cx="3606801"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dirty="0" smtClean="0"/>
              <a:t>开门迎客</a:t>
            </a:r>
            <a:br>
              <a:rPr lang="en-US" altLang="zh-CN" dirty="0" smtClean="0"/>
            </a:br>
            <a:r>
              <a:rPr lang="zh-CN" altLang="en-US" dirty="0" smtClean="0"/>
              <a:t>（门铃中断的中断服务程序）</a:t>
            </a:r>
            <a:endParaRPr lang="zh-CN" altLang="en-US" dirty="0"/>
          </a:p>
        </p:txBody>
      </p:sp>
      <p:sp>
        <p:nvSpPr>
          <p:cNvPr id="37" name="TextBox 36"/>
          <p:cNvSpPr txBox="1"/>
          <p:nvPr/>
        </p:nvSpPr>
        <p:spPr>
          <a:xfrm>
            <a:off x="4614565" y="5630854"/>
            <a:ext cx="3606801"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dirty="0" smtClean="0"/>
              <a:t>接听电话</a:t>
            </a:r>
            <a:br>
              <a:rPr lang="en-US" altLang="zh-CN" dirty="0" smtClean="0"/>
            </a:br>
            <a:r>
              <a:rPr lang="zh-CN" altLang="en-US" dirty="0" smtClean="0"/>
              <a:t>（电话铃中断的中断服务程序）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circle(in)">
                                      <p:cBhvr>
                                        <p:cTn id="17" dur="2000"/>
                                        <p:tgtEl>
                                          <p:spTgt spid="11"/>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arn(inVertical)">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down)">
                                      <p:cBhvr>
                                        <p:cTn id="25" dur="500"/>
                                        <p:tgtEl>
                                          <p:spTgt spid="18"/>
                                        </p:tgtEl>
                                      </p:cBhvr>
                                    </p:animEffect>
                                  </p:childTnLst>
                                </p:cTn>
                              </p:par>
                            </p:childTnLst>
                          </p:cTn>
                        </p:par>
                        <p:par>
                          <p:cTn id="26" fill="hold">
                            <p:stCondLst>
                              <p:cond delay="500"/>
                            </p:stCondLst>
                            <p:childTnLst>
                              <p:par>
                                <p:cTn id="27" presetID="22" presetClass="entr" presetSubtype="4" fill="hold"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down)">
                                      <p:cBhvr>
                                        <p:cTn id="29" dur="500"/>
                                        <p:tgtEl>
                                          <p:spTgt spid="20"/>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barn(inVertical)">
                                      <p:cBhvr>
                                        <p:cTn id="32" dur="500"/>
                                        <p:tgtEl>
                                          <p:spTgt spid="36"/>
                                        </p:tgtEl>
                                      </p:cBhvr>
                                    </p:animEffect>
                                  </p:childTnLst>
                                </p:cTn>
                              </p:par>
                            </p:childTnLst>
                          </p:cTn>
                        </p:par>
                        <p:par>
                          <p:cTn id="33" fill="hold">
                            <p:stCondLst>
                              <p:cond delay="1000"/>
                            </p:stCondLst>
                            <p:childTnLst>
                              <p:par>
                                <p:cTn id="34" presetID="42" presetClass="entr" presetSubtype="0" fill="hold" nodeType="after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1000"/>
                                        <p:tgtEl>
                                          <p:spTgt spid="22"/>
                                        </p:tgtEl>
                                      </p:cBhvr>
                                    </p:animEffect>
                                    <p:anim calcmode="lin" valueType="num">
                                      <p:cBhvr>
                                        <p:cTn id="37" dur="1000" fill="hold"/>
                                        <p:tgtEl>
                                          <p:spTgt spid="22"/>
                                        </p:tgtEl>
                                        <p:attrNameLst>
                                          <p:attrName>ppt_x</p:attrName>
                                        </p:attrNameLst>
                                      </p:cBhvr>
                                      <p:tavLst>
                                        <p:tav tm="0">
                                          <p:val>
                                            <p:strVal val="#ppt_x"/>
                                          </p:val>
                                        </p:tav>
                                        <p:tav tm="100000">
                                          <p:val>
                                            <p:strVal val="#ppt_x"/>
                                          </p:val>
                                        </p:tav>
                                      </p:tavLst>
                                    </p:anim>
                                    <p:anim calcmode="lin" valueType="num">
                                      <p:cBhvr>
                                        <p:cTn id="38"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barn(inVertical)">
                                      <p:cBhvr>
                                        <p:cTn id="43" dur="500"/>
                                        <p:tgtEl>
                                          <p:spTgt spid="29"/>
                                        </p:tgtEl>
                                      </p:cBhvr>
                                    </p:animEffect>
                                  </p:childTnLst>
                                </p:cTn>
                              </p:par>
                            </p:childTnLst>
                          </p:cTn>
                        </p:par>
                        <p:par>
                          <p:cTn id="44" fill="hold">
                            <p:stCondLst>
                              <p:cond delay="500"/>
                            </p:stCondLst>
                            <p:childTnLst>
                              <p:par>
                                <p:cTn id="45" presetID="42" presetClass="entr" presetSubtype="0" fill="hold"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1000"/>
                                        <p:tgtEl>
                                          <p:spTgt spid="31"/>
                                        </p:tgtEl>
                                      </p:cBhvr>
                                    </p:animEffect>
                                    <p:anim calcmode="lin" valueType="num">
                                      <p:cBhvr>
                                        <p:cTn id="48" dur="1000" fill="hold"/>
                                        <p:tgtEl>
                                          <p:spTgt spid="31"/>
                                        </p:tgtEl>
                                        <p:attrNameLst>
                                          <p:attrName>ppt_x</p:attrName>
                                        </p:attrNameLst>
                                      </p:cBhvr>
                                      <p:tavLst>
                                        <p:tav tm="0">
                                          <p:val>
                                            <p:strVal val="#ppt_x"/>
                                          </p:val>
                                        </p:tav>
                                        <p:tav tm="100000">
                                          <p:val>
                                            <p:strVal val="#ppt_x"/>
                                          </p:val>
                                        </p:tav>
                                      </p:tavLst>
                                    </p:anim>
                                    <p:anim calcmode="lin" valueType="num">
                                      <p:cBhvr>
                                        <p:cTn id="49" dur="1000" fill="hold"/>
                                        <p:tgtEl>
                                          <p:spTgt spid="31"/>
                                        </p:tgtEl>
                                        <p:attrNameLst>
                                          <p:attrName>ppt_y</p:attrName>
                                        </p:attrNameLst>
                                      </p:cBhvr>
                                      <p:tavLst>
                                        <p:tav tm="0">
                                          <p:val>
                                            <p:strVal val="#ppt_y+.1"/>
                                          </p:val>
                                        </p:tav>
                                        <p:tav tm="100000">
                                          <p:val>
                                            <p:strVal val="#ppt_y"/>
                                          </p:val>
                                        </p:tav>
                                      </p:tavLst>
                                    </p:anim>
                                  </p:childTnLst>
                                </p:cTn>
                              </p:par>
                            </p:childTnLst>
                          </p:cTn>
                        </p:par>
                        <p:par>
                          <p:cTn id="50" fill="hold">
                            <p:stCondLst>
                              <p:cond delay="1500"/>
                            </p:stCondLst>
                            <p:childTnLst>
                              <p:par>
                                <p:cTn id="51" presetID="16" presetClass="entr" presetSubtype="21" fill="hold" nodeType="afterEffect">
                                  <p:stCondLst>
                                    <p:cond delay="0"/>
                                  </p:stCondLst>
                                  <p:childTnLst>
                                    <p:set>
                                      <p:cBhvr>
                                        <p:cTn id="52" dur="1" fill="hold">
                                          <p:stCondLst>
                                            <p:cond delay="0"/>
                                          </p:stCondLst>
                                        </p:cTn>
                                        <p:tgtEl>
                                          <p:spTgt spid="1025"/>
                                        </p:tgtEl>
                                        <p:attrNameLst>
                                          <p:attrName>style.visibility</p:attrName>
                                        </p:attrNameLst>
                                      </p:cBhvr>
                                      <p:to>
                                        <p:strVal val="visible"/>
                                      </p:to>
                                    </p:set>
                                    <p:animEffect transition="in" filter="barn(inVertical)">
                                      <p:cBhvr>
                                        <p:cTn id="53" dur="500"/>
                                        <p:tgtEl>
                                          <p:spTgt spid="1025"/>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barn(inVertical)">
                                      <p:cBhvr>
                                        <p:cTn id="56" dur="500"/>
                                        <p:tgtEl>
                                          <p:spTgt spid="37"/>
                                        </p:tgtEl>
                                      </p:cBhvr>
                                    </p:animEffect>
                                  </p:childTnLst>
                                </p:cTn>
                              </p:par>
                            </p:childTnLst>
                          </p:cTn>
                        </p:par>
                        <p:par>
                          <p:cTn id="57" fill="hold">
                            <p:stCondLst>
                              <p:cond delay="2000"/>
                            </p:stCondLst>
                            <p:childTnLst>
                              <p:par>
                                <p:cTn id="58" presetID="6" presetClass="entr" presetSubtype="16" fill="hold"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circle(in)">
                                      <p:cBhvr>
                                        <p:cTn id="60"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36" grpId="0" animBg="1"/>
      <p:bldP spid="3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5758" y="443862"/>
            <a:ext cx="1851789" cy="492443"/>
          </a:xfrm>
          <a:prstGeom prst="rect">
            <a:avLst/>
          </a:prstGeom>
        </p:spPr>
        <p:txBody>
          <a:bodyPr wrap="none">
            <a:spAutoFit/>
          </a:bodyPr>
          <a:lstStyle/>
          <a:p>
            <a:r>
              <a:rPr lang="zh-CN" altLang="en-US" sz="2600" dirty="0" smtClean="0">
                <a:ln w="10541" cmpd="sng">
                  <a:solidFill>
                    <a:srgbClr val="7030A0"/>
                  </a:solidFill>
                  <a:prstDash val="solid"/>
                </a:ln>
                <a:solidFill>
                  <a:srgbClr val="C00000"/>
                </a:solidFill>
                <a:latin typeface="Arial" panose="020B0604020202020204" pitchFamily="34" charset="0"/>
              </a:rPr>
              <a:t>中断</a:t>
            </a:r>
            <a:r>
              <a:rPr lang="zh-CN" altLang="en-US" sz="2600" dirty="0">
                <a:ln w="10541" cmpd="sng">
                  <a:solidFill>
                    <a:srgbClr val="7030A0"/>
                  </a:solidFill>
                  <a:prstDash val="solid"/>
                </a:ln>
                <a:solidFill>
                  <a:srgbClr val="C00000"/>
                </a:solidFill>
                <a:latin typeface="Arial" panose="020B0604020202020204" pitchFamily="34" charset="0"/>
              </a:rPr>
              <a:t>嵌套：</a:t>
            </a:r>
            <a:endParaRPr lang="zh-CN" altLang="en-US" sz="2600" dirty="0">
              <a:ln w="10541" cmpd="sng">
                <a:solidFill>
                  <a:srgbClr val="7030A0"/>
                </a:solidFill>
                <a:prstDash val="solid"/>
              </a:ln>
              <a:solidFill>
                <a:srgbClr val="C00000"/>
              </a:solidFill>
              <a:latin typeface="Arial" panose="020B0604020202020204" pitchFamily="34" charset="0"/>
            </a:endParaRPr>
          </a:p>
        </p:txBody>
      </p:sp>
      <p:sp>
        <p:nvSpPr>
          <p:cNvPr id="3" name="矩形 2"/>
          <p:cNvSpPr/>
          <p:nvPr/>
        </p:nvSpPr>
        <p:spPr>
          <a:xfrm>
            <a:off x="215757" y="957240"/>
            <a:ext cx="8681499" cy="943528"/>
          </a:xfrm>
          <a:prstGeom prst="rect">
            <a:avLst/>
          </a:prstGeom>
        </p:spPr>
        <p:txBody>
          <a:bodyPr wrap="square">
            <a:spAutoFit/>
          </a:bodyPr>
          <a:lstStyle/>
          <a:p>
            <a:pPr>
              <a:lnSpc>
                <a:spcPct val="150000"/>
              </a:lnSpc>
            </a:pPr>
            <a:r>
              <a:rPr lang="zh-CN" altLang="en-US" sz="2000" dirty="0">
                <a:latin typeface="宋体" panose="02010600030101010101" pitchFamily="2" charset="-122"/>
                <a:ea typeface="宋体" panose="02010600030101010101" pitchFamily="2" charset="-122"/>
              </a:rPr>
              <a:t>在嵌入式系统中，中断嵌套是指当系统正在执行一个中断服务时，又有新的中断事件发生而产生了新的中断请求</a:t>
            </a:r>
            <a:endParaRPr lang="zh-CN" altLang="en-US" sz="2000" dirty="0">
              <a:latin typeface="宋体" panose="02010600030101010101" pitchFamily="2" charset="-122"/>
              <a:ea typeface="宋体" panose="02010600030101010101" pitchFamily="2" charset="-122"/>
            </a:endParaRPr>
          </a:p>
        </p:txBody>
      </p:sp>
      <p:cxnSp>
        <p:nvCxnSpPr>
          <p:cNvPr id="5" name="直接箭头连接符 4"/>
          <p:cNvCxnSpPr/>
          <p:nvPr/>
        </p:nvCxnSpPr>
        <p:spPr bwMode="auto">
          <a:xfrm flipH="1">
            <a:off x="2346641" y="3225796"/>
            <a:ext cx="0" cy="1396800"/>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6" name="TextBox 5"/>
          <p:cNvSpPr txBox="1"/>
          <p:nvPr/>
        </p:nvSpPr>
        <p:spPr>
          <a:xfrm>
            <a:off x="1606902" y="2488305"/>
            <a:ext cx="1421422"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dirty="0" smtClean="0"/>
              <a:t>看书</a:t>
            </a:r>
            <a:br>
              <a:rPr lang="en-US" altLang="zh-CN" dirty="0" smtClean="0"/>
            </a:br>
            <a:r>
              <a:rPr lang="zh-CN" altLang="en-US" dirty="0" smtClean="0"/>
              <a:t>（主程序</a:t>
            </a:r>
            <a:r>
              <a:rPr lang="zh-CN" altLang="en-US" dirty="0"/>
              <a:t>）</a:t>
            </a:r>
            <a:endParaRPr lang="zh-CN" altLang="en-US" dirty="0"/>
          </a:p>
        </p:txBody>
      </p:sp>
      <p:sp>
        <p:nvSpPr>
          <p:cNvPr id="7" name="圆角矩形标注 6"/>
          <p:cNvSpPr/>
          <p:nvPr/>
        </p:nvSpPr>
        <p:spPr bwMode="auto">
          <a:xfrm>
            <a:off x="215757" y="3496630"/>
            <a:ext cx="1830757" cy="870858"/>
          </a:xfrm>
          <a:prstGeom prst="wedgeRoundRectCallout">
            <a:avLst>
              <a:gd name="adj1" fmla="val 60362"/>
              <a:gd name="adj2" fmla="val 64167"/>
              <a:gd name="adj3" fmla="val 16667"/>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smtClean="0">
                <a:ln>
                  <a:noFill/>
                </a:ln>
                <a:solidFill>
                  <a:schemeClr val="tx1"/>
                </a:solidFill>
                <a:effectLst/>
                <a:latin typeface="Arial" panose="020B0604020202020204" pitchFamily="34" charset="0"/>
              </a:rPr>
              <a:t>电话铃响</a:t>
            </a:r>
            <a:endParaRPr kumimoji="0" lang="en-US" altLang="zh-CN" sz="1800" b="0" i="0" u="none" strike="noStrike" cap="none" normalizeH="0" baseline="0" dirty="0" smtClean="0">
              <a:ln>
                <a:noFill/>
              </a:ln>
              <a:solidFill>
                <a:schemeClr val="tx1"/>
              </a:solidFill>
              <a:effectLst/>
              <a:latin typeface="Arial" panose="020B0604020202020204" pitchFamily="34" charset="0"/>
            </a:endParaRPr>
          </a:p>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dirty="0" smtClean="0"/>
              <a:t>（中断请求</a:t>
            </a:r>
            <a:r>
              <a:rPr lang="en-US" altLang="zh-CN" dirty="0" smtClean="0"/>
              <a:t>1</a:t>
            </a:r>
            <a:r>
              <a:rPr lang="zh-CN" altLang="en-US" dirty="0" smtClean="0"/>
              <a:t>）</a:t>
            </a:r>
            <a:endParaRPr kumimoji="0" lang="zh-CN" altLang="en-US" sz="1800" b="0" i="0" u="none" strike="noStrike" cap="none" normalizeH="0" baseline="0" dirty="0" smtClean="0">
              <a:ln>
                <a:noFill/>
              </a:ln>
              <a:solidFill>
                <a:schemeClr val="tx1"/>
              </a:solidFill>
              <a:effectLst/>
              <a:latin typeface="Arial" panose="020B0604020202020204" pitchFamily="34" charset="0"/>
            </a:endParaRPr>
          </a:p>
        </p:txBody>
      </p:sp>
      <p:grpSp>
        <p:nvGrpSpPr>
          <p:cNvPr id="8" name="组合 7"/>
          <p:cNvGrpSpPr/>
          <p:nvPr/>
        </p:nvGrpSpPr>
        <p:grpSpPr>
          <a:xfrm>
            <a:off x="2340065" y="4891689"/>
            <a:ext cx="10300" cy="1685666"/>
            <a:chOff x="3980638" y="4753429"/>
            <a:chExt cx="10300" cy="1685666"/>
          </a:xfrm>
        </p:grpSpPr>
        <p:cxnSp>
          <p:nvCxnSpPr>
            <p:cNvPr id="9" name="直接箭头连接符 8"/>
            <p:cNvCxnSpPr/>
            <p:nvPr/>
          </p:nvCxnSpPr>
          <p:spPr bwMode="auto">
            <a:xfrm flipH="1">
              <a:off x="3980638" y="4753429"/>
              <a:ext cx="0" cy="1259493"/>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10" name="直接连接符 9"/>
            <p:cNvCxnSpPr/>
            <p:nvPr/>
          </p:nvCxnSpPr>
          <p:spPr bwMode="auto">
            <a:xfrm>
              <a:off x="3990938" y="5760931"/>
              <a:ext cx="0" cy="678164"/>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grpSp>
      <p:cxnSp>
        <p:nvCxnSpPr>
          <p:cNvPr id="11" name="直接箭头连接符 10"/>
          <p:cNvCxnSpPr/>
          <p:nvPr/>
        </p:nvCxnSpPr>
        <p:spPr bwMode="auto">
          <a:xfrm flipV="1">
            <a:off x="2349385" y="3124198"/>
            <a:ext cx="2064180" cy="1509488"/>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12" name="直接箭头连接符 11"/>
          <p:cNvCxnSpPr/>
          <p:nvPr/>
        </p:nvCxnSpPr>
        <p:spPr bwMode="auto">
          <a:xfrm>
            <a:off x="4422418" y="3205276"/>
            <a:ext cx="0" cy="1417320"/>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16" name="直接箭头连接符 15"/>
          <p:cNvCxnSpPr/>
          <p:nvPr/>
        </p:nvCxnSpPr>
        <p:spPr bwMode="auto">
          <a:xfrm>
            <a:off x="4433983" y="4778100"/>
            <a:ext cx="0" cy="720000"/>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17" name="直接箭头连接符 16"/>
          <p:cNvCxnSpPr/>
          <p:nvPr/>
        </p:nvCxnSpPr>
        <p:spPr bwMode="auto">
          <a:xfrm flipH="1" flipV="1">
            <a:off x="2332619" y="4866857"/>
            <a:ext cx="2075285" cy="625550"/>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19" name="直接箭头连接符 18"/>
          <p:cNvCxnSpPr/>
          <p:nvPr/>
        </p:nvCxnSpPr>
        <p:spPr bwMode="auto">
          <a:xfrm flipV="1">
            <a:off x="4504112" y="4066564"/>
            <a:ext cx="2361145" cy="530962"/>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21" name="直接箭头连接符 20"/>
          <p:cNvCxnSpPr/>
          <p:nvPr/>
        </p:nvCxnSpPr>
        <p:spPr bwMode="auto">
          <a:xfrm>
            <a:off x="6865257" y="4127902"/>
            <a:ext cx="0" cy="1011568"/>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23" name="直接箭头连接符 22"/>
          <p:cNvCxnSpPr/>
          <p:nvPr/>
        </p:nvCxnSpPr>
        <p:spPr bwMode="auto">
          <a:xfrm flipH="1" flipV="1">
            <a:off x="4434847" y="4810845"/>
            <a:ext cx="2430410" cy="336606"/>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27" name="TextBox 26"/>
          <p:cNvSpPr txBox="1"/>
          <p:nvPr/>
        </p:nvSpPr>
        <p:spPr>
          <a:xfrm>
            <a:off x="3178276" y="2170019"/>
            <a:ext cx="2772582" cy="9233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dirty="0"/>
              <a:t>接听电话</a:t>
            </a:r>
            <a:br>
              <a:rPr lang="en-US" altLang="zh-CN" dirty="0"/>
            </a:br>
            <a:r>
              <a:rPr lang="zh-CN" altLang="en-US" dirty="0"/>
              <a:t>（电话铃中断的中断服务程序）</a:t>
            </a:r>
            <a:endParaRPr lang="zh-CN" altLang="en-US" dirty="0"/>
          </a:p>
        </p:txBody>
      </p:sp>
      <p:sp>
        <p:nvSpPr>
          <p:cNvPr id="29" name="TextBox 28"/>
          <p:cNvSpPr txBox="1"/>
          <p:nvPr/>
        </p:nvSpPr>
        <p:spPr>
          <a:xfrm>
            <a:off x="6538687" y="3063008"/>
            <a:ext cx="2431143" cy="9233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dirty="0" smtClean="0"/>
              <a:t>开门迎客</a:t>
            </a:r>
            <a:br>
              <a:rPr lang="en-US" altLang="zh-CN" dirty="0" smtClean="0"/>
            </a:br>
            <a:r>
              <a:rPr lang="zh-CN" altLang="en-US" dirty="0" smtClean="0"/>
              <a:t>（门铃中断的中断服务程序）</a:t>
            </a:r>
            <a:endParaRPr lang="zh-CN" altLang="en-US" dirty="0"/>
          </a:p>
        </p:txBody>
      </p:sp>
      <p:sp>
        <p:nvSpPr>
          <p:cNvPr id="33" name="圆角矩形标注 32"/>
          <p:cNvSpPr/>
          <p:nvPr/>
        </p:nvSpPr>
        <p:spPr bwMode="auto">
          <a:xfrm>
            <a:off x="4518626" y="3257419"/>
            <a:ext cx="1904977" cy="870858"/>
          </a:xfrm>
          <a:prstGeom prst="wedgeRoundRectCallout">
            <a:avLst>
              <a:gd name="adj1" fmla="val -45543"/>
              <a:gd name="adj2" fmla="val 99167"/>
              <a:gd name="adj3" fmla="val 16667"/>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smtClean="0">
                <a:ln>
                  <a:noFill/>
                </a:ln>
                <a:solidFill>
                  <a:schemeClr val="tx1"/>
                </a:solidFill>
                <a:effectLst/>
                <a:latin typeface="Arial" panose="020B0604020202020204" pitchFamily="34" charset="0"/>
              </a:rPr>
              <a:t>门铃响</a:t>
            </a:r>
            <a:endParaRPr kumimoji="0" lang="en-US" altLang="zh-CN" sz="1800" b="0" i="0" u="none" strike="noStrike" cap="none" normalizeH="0" baseline="0" dirty="0" smtClean="0">
              <a:ln>
                <a:noFill/>
              </a:ln>
              <a:solidFill>
                <a:schemeClr val="tx1"/>
              </a:solidFill>
              <a:effectLst/>
              <a:latin typeface="Arial" panose="020B0604020202020204" pitchFamily="34" charset="0"/>
            </a:endParaRPr>
          </a:p>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dirty="0" smtClean="0"/>
              <a:t>（中断请求</a:t>
            </a:r>
            <a:r>
              <a:rPr lang="en-US" altLang="zh-CN" dirty="0" smtClean="0"/>
              <a:t>2</a:t>
            </a:r>
            <a:r>
              <a:rPr lang="zh-CN" altLang="en-US" dirty="0" smtClean="0"/>
              <a:t>）</a:t>
            </a:r>
            <a:endParaRPr kumimoji="0" lang="zh-CN" altLang="en-US"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par>
                          <p:cTn id="8" fill="hold">
                            <p:stCondLst>
                              <p:cond delay="2000"/>
                            </p:stCondLst>
                            <p:childTnLst>
                              <p:par>
                                <p:cTn id="9" presetID="2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par>
                          <p:cTn id="12" fill="hold">
                            <p:stCondLst>
                              <p:cond delay="2500"/>
                            </p:stCondLst>
                            <p:childTnLst>
                              <p:par>
                                <p:cTn id="13" presetID="6" presetClass="entr" presetSubtype="16"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circle(in)">
                                      <p:cBhvr>
                                        <p:cTn id="15" dur="20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barn(inVertical)">
                                      <p:cBhvr>
                                        <p:cTn id="23" dur="500"/>
                                        <p:tgtEl>
                                          <p:spTgt spid="27"/>
                                        </p:tgtEl>
                                      </p:cBhvr>
                                    </p:animEffect>
                                  </p:childTnLst>
                                </p:cTn>
                              </p:par>
                            </p:childTnLst>
                          </p:cTn>
                        </p:par>
                        <p:par>
                          <p:cTn id="24" fill="hold">
                            <p:stCondLst>
                              <p:cond delay="500"/>
                            </p:stCondLst>
                            <p:childTnLst>
                              <p:par>
                                <p:cTn id="25" presetID="22" presetClass="entr" presetSubtype="4"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barn(inVertical)">
                                      <p:cBhvr>
                                        <p:cTn id="30" dur="500"/>
                                        <p:tgtEl>
                                          <p:spTgt spid="3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down)">
                                      <p:cBhvr>
                                        <p:cTn id="35" dur="500"/>
                                        <p:tgtEl>
                                          <p:spTgt spid="19"/>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barn(inVertical)">
                                      <p:cBhvr>
                                        <p:cTn id="38" dur="500"/>
                                        <p:tgtEl>
                                          <p:spTgt spid="29"/>
                                        </p:tgtEl>
                                      </p:cBhvr>
                                    </p:animEffect>
                                  </p:childTnLst>
                                </p:cTn>
                              </p:par>
                            </p:childTnLst>
                          </p:cTn>
                        </p:par>
                        <p:par>
                          <p:cTn id="39" fill="hold">
                            <p:stCondLst>
                              <p:cond delay="500"/>
                            </p:stCondLst>
                            <p:childTnLst>
                              <p:par>
                                <p:cTn id="40" presetID="22" presetClass="entr" presetSubtype="4" fill="hold" nodeType="after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down)">
                                      <p:cBhvr>
                                        <p:cTn id="42" dur="500"/>
                                        <p:tgtEl>
                                          <p:spTgt spid="21"/>
                                        </p:tgtEl>
                                      </p:cBhvr>
                                    </p:animEffect>
                                  </p:childTnLst>
                                </p:cTn>
                              </p:par>
                            </p:childTnLst>
                          </p:cTn>
                        </p:par>
                        <p:par>
                          <p:cTn id="43" fill="hold">
                            <p:stCondLst>
                              <p:cond delay="1000"/>
                            </p:stCondLst>
                            <p:childTnLst>
                              <p:par>
                                <p:cTn id="44" presetID="16" presetClass="entr" presetSubtype="21" fill="hold" nodeType="after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barn(inVertical)">
                                      <p:cBhvr>
                                        <p:cTn id="46" dur="500"/>
                                        <p:tgtEl>
                                          <p:spTgt spid="23"/>
                                        </p:tgtEl>
                                      </p:cBhvr>
                                    </p:animEffect>
                                  </p:childTnLst>
                                </p:cTn>
                              </p:par>
                            </p:childTnLst>
                          </p:cTn>
                        </p:par>
                        <p:par>
                          <p:cTn id="47" fill="hold">
                            <p:stCondLst>
                              <p:cond delay="1500"/>
                            </p:stCondLst>
                            <p:childTnLst>
                              <p:par>
                                <p:cTn id="48" presetID="22" presetClass="entr" presetSubtype="4" fill="hold"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down)">
                                      <p:cBhvr>
                                        <p:cTn id="50" dur="500"/>
                                        <p:tgtEl>
                                          <p:spTgt spid="16"/>
                                        </p:tgtEl>
                                      </p:cBhvr>
                                    </p:animEffect>
                                  </p:childTnLst>
                                </p:cTn>
                              </p:par>
                            </p:childTnLst>
                          </p:cTn>
                        </p:par>
                        <p:par>
                          <p:cTn id="51" fill="hold">
                            <p:stCondLst>
                              <p:cond delay="2000"/>
                            </p:stCondLst>
                            <p:childTnLst>
                              <p:par>
                                <p:cTn id="52" presetID="16" presetClass="entr" presetSubtype="21" fill="hold" nodeType="after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barn(inVertical)">
                                      <p:cBhvr>
                                        <p:cTn id="54" dur="500"/>
                                        <p:tgtEl>
                                          <p:spTgt spid="17"/>
                                        </p:tgtEl>
                                      </p:cBhvr>
                                    </p:animEffect>
                                  </p:childTnLst>
                                </p:cTn>
                              </p:par>
                            </p:childTnLst>
                          </p:cTn>
                        </p:par>
                        <p:par>
                          <p:cTn id="55" fill="hold">
                            <p:stCondLst>
                              <p:cond delay="2500"/>
                            </p:stCondLst>
                            <p:childTnLst>
                              <p:par>
                                <p:cTn id="56" presetID="6" presetClass="entr" presetSubtype="16" fill="hold" nodeType="after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circle(in)">
                                      <p:cBhvr>
                                        <p:cTn id="58"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27" grpId="0" animBg="1"/>
      <p:bldP spid="29" grpId="0" animBg="1"/>
      <p:bldP spid="3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92" y="419243"/>
            <a:ext cx="5872194" cy="646331"/>
          </a:xfrm>
          <a:prstGeom prst="rect">
            <a:avLst/>
          </a:prstGeom>
          <a:noFill/>
        </p:spPr>
        <p:txBody>
          <a:bodyPr wrap="square">
            <a:spAutoFit/>
          </a:bodyPr>
          <a:lstStyle/>
          <a:p>
            <a:pPr>
              <a:defRPr/>
            </a:pPr>
            <a:r>
              <a:rPr lang="en-US" altLang="zh-CN" sz="3600" b="1" dirty="0" smtClean="0">
                <a:ln w="10541" cmpd="sng">
                  <a:solidFill>
                    <a:schemeClr val="accent1">
                      <a:shade val="88000"/>
                      <a:satMod val="110000"/>
                    </a:schemeClr>
                  </a:solidFill>
                  <a:prstDash val="solid"/>
                </a:ln>
                <a:solidFill>
                  <a:srgbClr val="66FF33"/>
                </a:solidFill>
                <a:latin typeface="Arial" panose="020B0604020202020204" pitchFamily="34" charset="0"/>
              </a:rPr>
              <a:t> </a:t>
            </a:r>
            <a:r>
              <a:rPr lang="en-US" altLang="zh-CN" sz="3600" b="1" dirty="0" err="1" smtClean="0">
                <a:ln w="10541" cmpd="sng">
                  <a:solidFill>
                    <a:schemeClr val="accent1">
                      <a:shade val="88000"/>
                      <a:satMod val="110000"/>
                    </a:schemeClr>
                  </a:solidFill>
                  <a:prstDash val="solid"/>
                </a:ln>
                <a:solidFill>
                  <a:srgbClr val="66FF33"/>
                </a:solidFill>
                <a:latin typeface="Arial" panose="020B0604020202020204" pitchFamily="34" charset="0"/>
              </a:rPr>
              <a:t>STM32F103</a:t>
            </a:r>
            <a:r>
              <a:rPr lang="zh-CN" altLang="en-US" sz="3600" b="1" dirty="0">
                <a:ln w="10541" cmpd="sng">
                  <a:solidFill>
                    <a:schemeClr val="accent1">
                      <a:shade val="88000"/>
                      <a:satMod val="110000"/>
                    </a:schemeClr>
                  </a:solidFill>
                  <a:prstDash val="solid"/>
                </a:ln>
                <a:solidFill>
                  <a:srgbClr val="66FF33"/>
                </a:solidFill>
                <a:latin typeface="Arial" panose="020B0604020202020204" pitchFamily="34" charset="0"/>
              </a:rPr>
              <a:t>中断系统</a:t>
            </a:r>
            <a:endParaRPr lang="zh-CN" altLang="en-US" sz="3600" b="1" dirty="0">
              <a:ln w="10541" cmpd="sng">
                <a:solidFill>
                  <a:schemeClr val="accent1">
                    <a:shade val="88000"/>
                    <a:satMod val="110000"/>
                  </a:schemeClr>
                </a:solidFill>
                <a:prstDash val="solid"/>
              </a:ln>
              <a:solidFill>
                <a:srgbClr val="66FF33"/>
              </a:solidFill>
              <a:latin typeface="Arial" panose="020B0604020202020204" pitchFamily="34" charset="0"/>
            </a:endParaRPr>
          </a:p>
        </p:txBody>
      </p:sp>
      <p:sp>
        <p:nvSpPr>
          <p:cNvPr id="7" name="矩形 6"/>
          <p:cNvSpPr/>
          <p:nvPr/>
        </p:nvSpPr>
        <p:spPr>
          <a:xfrm>
            <a:off x="194774" y="1130429"/>
            <a:ext cx="7468769" cy="553998"/>
          </a:xfrm>
          <a:prstGeom prst="rect">
            <a:avLst/>
          </a:prstGeom>
          <a:noFill/>
        </p:spPr>
        <p:txBody>
          <a:bodyPr wrap="square">
            <a:spAutoFit/>
          </a:bodyPr>
          <a:lstStyle/>
          <a:p>
            <a:pPr>
              <a:defRPr/>
            </a:pPr>
            <a:r>
              <a:rPr lang="zh-CN" altLang="en-US" sz="3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嵌套</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向量中断控制器</a:t>
            </a:r>
            <a:r>
              <a:rPr lang="en-US" altLang="zh-CN"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NVIC</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341084" y="1713598"/>
            <a:ext cx="8193315" cy="4385816"/>
          </a:xfrm>
          <a:prstGeom prst="rect">
            <a:avLst/>
          </a:prstGeom>
        </p:spPr>
        <p:txBody>
          <a:bodyPr wrap="square">
            <a:spAutoFit/>
          </a:bodyPr>
          <a:lstStyle/>
          <a:p>
            <a:pPr>
              <a:lnSpc>
                <a:spcPct val="150000"/>
              </a:lnSpc>
            </a:pPr>
            <a:r>
              <a:rPr lang="zh-CN" altLang="en-US" sz="2200" b="1" dirty="0">
                <a:latin typeface="宋体" panose="02010600030101010101" pitchFamily="2" charset="-122"/>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NVIC</a:t>
            </a:r>
            <a:r>
              <a:rPr lang="zh-CN" altLang="en-US" sz="2200" b="1" dirty="0">
                <a:latin typeface="宋体" panose="02010600030101010101" pitchFamily="2" charset="-122"/>
                <a:ea typeface="宋体" panose="02010600030101010101" pitchFamily="2" charset="-122"/>
              </a:rPr>
              <a:t>集成在</a:t>
            </a:r>
            <a:r>
              <a:rPr lang="en-US" altLang="zh-CN" sz="2200" b="1" dirty="0">
                <a:latin typeface="宋体" panose="02010600030101010101" pitchFamily="2" charset="-122"/>
                <a:ea typeface="宋体" panose="02010600030101010101" pitchFamily="2" charset="-122"/>
              </a:rPr>
              <a:t>ARM Cortex-M3</a:t>
            </a:r>
            <a:r>
              <a:rPr lang="zh-CN" altLang="en-US" sz="2200" b="1" dirty="0">
                <a:latin typeface="宋体" panose="02010600030101010101" pitchFamily="2" charset="-122"/>
                <a:ea typeface="宋体" panose="02010600030101010101" pitchFamily="2" charset="-122"/>
              </a:rPr>
              <a:t>内核中，与中央处理器核心</a:t>
            </a:r>
            <a:r>
              <a:rPr lang="en-US" altLang="zh-CN" sz="2200" b="1" dirty="0">
                <a:latin typeface="宋体" panose="02010600030101010101" pitchFamily="2" charset="-122"/>
                <a:ea typeface="宋体" panose="02010600030101010101" pitchFamily="2" charset="-122"/>
              </a:rPr>
              <a:t>CM3Core</a:t>
            </a:r>
            <a:r>
              <a:rPr lang="zh-CN" altLang="en-US" sz="2200" b="1" dirty="0">
                <a:latin typeface="宋体" panose="02010600030101010101" pitchFamily="2" charset="-122"/>
                <a:ea typeface="宋体" panose="02010600030101010101" pitchFamily="2" charset="-122"/>
              </a:rPr>
              <a:t>紧密耦合，从而实现低延迟的中断处理和高效地处理晚到的较高优先级的中断。</a:t>
            </a:r>
            <a:endParaRPr lang="zh-CN" altLang="en-US" sz="2200" b="1"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rPr>
              <a:t>支持</a:t>
            </a:r>
            <a:r>
              <a:rPr lang="en-US" altLang="zh-CN" sz="2000" b="1" dirty="0">
                <a:latin typeface="宋体" panose="02010600030101010101" pitchFamily="2" charset="-122"/>
                <a:ea typeface="宋体" panose="02010600030101010101" pitchFamily="2" charset="-122"/>
              </a:rPr>
              <a:t>84</a:t>
            </a:r>
            <a:r>
              <a:rPr lang="zh-CN" altLang="en-US" sz="2000" dirty="0">
                <a:latin typeface="宋体" panose="02010600030101010101" pitchFamily="2" charset="-122"/>
                <a:ea typeface="宋体" panose="02010600030101010101" pitchFamily="2" charset="-122"/>
              </a:rPr>
              <a:t>个</a:t>
            </a:r>
            <a:r>
              <a:rPr lang="zh-CN" altLang="en-US" sz="2000" b="1" dirty="0">
                <a:latin typeface="宋体" panose="02010600030101010101" pitchFamily="2" charset="-122"/>
                <a:ea typeface="宋体" panose="02010600030101010101" pitchFamily="2" charset="-122"/>
              </a:rPr>
              <a:t>异常</a:t>
            </a:r>
            <a:r>
              <a:rPr lang="zh-CN" altLang="en-US" sz="2000" dirty="0">
                <a:latin typeface="宋体" panose="02010600030101010101" pitchFamily="2" charset="-122"/>
                <a:ea typeface="宋体" panose="02010600030101010101" pitchFamily="2" charset="-122"/>
              </a:rPr>
              <a:t>，包括</a:t>
            </a:r>
            <a:r>
              <a:rPr lang="en-US" altLang="zh-CN" sz="2000" b="1" dirty="0">
                <a:latin typeface="宋体" panose="02010600030101010101" pitchFamily="2" charset="-122"/>
                <a:ea typeface="宋体" panose="02010600030101010101" pitchFamily="2" charset="-122"/>
              </a:rPr>
              <a:t>16</a:t>
            </a:r>
            <a:r>
              <a:rPr lang="zh-CN" altLang="en-US" sz="2000" dirty="0">
                <a:latin typeface="宋体" panose="02010600030101010101" pitchFamily="2" charset="-122"/>
                <a:ea typeface="宋体" panose="02010600030101010101" pitchFamily="2" charset="-122"/>
              </a:rPr>
              <a:t>个</a:t>
            </a:r>
            <a:r>
              <a:rPr lang="zh-CN" altLang="en-US" sz="2000" b="1" dirty="0">
                <a:latin typeface="宋体" panose="02010600030101010101" pitchFamily="2" charset="-122"/>
                <a:ea typeface="宋体" panose="02010600030101010101" pitchFamily="2" charset="-122"/>
              </a:rPr>
              <a:t>内部</a:t>
            </a:r>
            <a:r>
              <a:rPr lang="zh-CN" altLang="en-US" sz="2000" dirty="0">
                <a:latin typeface="宋体" panose="02010600030101010101" pitchFamily="2" charset="-122"/>
                <a:ea typeface="宋体" panose="02010600030101010101" pitchFamily="2" charset="-122"/>
              </a:rPr>
              <a:t>异常和</a:t>
            </a:r>
            <a:r>
              <a:rPr lang="en-US" altLang="zh-CN" sz="2000" b="1" dirty="0">
                <a:latin typeface="宋体" panose="02010600030101010101" pitchFamily="2" charset="-122"/>
                <a:ea typeface="宋体" panose="02010600030101010101" pitchFamily="2" charset="-122"/>
              </a:rPr>
              <a:t>68</a:t>
            </a:r>
            <a:r>
              <a:rPr lang="zh-CN" altLang="en-US" sz="2000" dirty="0">
                <a:latin typeface="宋体" panose="02010600030101010101" pitchFamily="2" charset="-122"/>
                <a:ea typeface="宋体" panose="02010600030101010101" pitchFamily="2" charset="-122"/>
              </a:rPr>
              <a:t>个</a:t>
            </a:r>
            <a:r>
              <a:rPr lang="zh-CN" altLang="en-US" sz="2000" b="1" dirty="0">
                <a:latin typeface="宋体" panose="02010600030101010101" pitchFamily="2" charset="-122"/>
                <a:ea typeface="宋体" panose="02010600030101010101" pitchFamily="2" charset="-122"/>
              </a:rPr>
              <a:t>非内核</a:t>
            </a:r>
            <a:r>
              <a:rPr lang="zh-CN" altLang="en-US" sz="2000" dirty="0">
                <a:latin typeface="宋体" panose="02010600030101010101" pitchFamily="2" charset="-122"/>
                <a:ea typeface="宋体" panose="02010600030101010101" pitchFamily="2" charset="-122"/>
              </a:rPr>
              <a:t>异常中断；</a:t>
            </a:r>
            <a:endParaRPr lang="zh-CN" altLang="en-US"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rPr>
              <a:t>使用</a:t>
            </a:r>
            <a:r>
              <a:rPr lang="en-US" altLang="zh-CN" sz="2000" b="1" dirty="0">
                <a:latin typeface="宋体" panose="02010600030101010101" pitchFamily="2" charset="-122"/>
                <a:ea typeface="宋体" panose="02010600030101010101" pitchFamily="2" charset="-122"/>
              </a:rPr>
              <a:t>4</a:t>
            </a:r>
            <a:r>
              <a:rPr lang="zh-CN" altLang="en-US" sz="2000" b="1" dirty="0">
                <a:latin typeface="宋体" panose="02010600030101010101" pitchFamily="2" charset="-122"/>
                <a:ea typeface="宋体" panose="02010600030101010101" pitchFamily="2" charset="-122"/>
              </a:rPr>
              <a:t>位</a:t>
            </a:r>
            <a:r>
              <a:rPr lang="zh-CN" altLang="en-US" sz="2000" dirty="0">
                <a:latin typeface="宋体" panose="02010600030101010101" pitchFamily="2" charset="-122"/>
                <a:ea typeface="宋体" panose="02010600030101010101" pitchFamily="2" charset="-122"/>
              </a:rPr>
              <a:t>优先级设置，具有</a:t>
            </a:r>
            <a:r>
              <a:rPr lang="en-US" altLang="zh-CN" sz="2000" dirty="0">
                <a:latin typeface="宋体" panose="02010600030101010101" pitchFamily="2" charset="-122"/>
                <a:ea typeface="宋体" panose="02010600030101010101" pitchFamily="2" charset="-122"/>
              </a:rPr>
              <a:t>16</a:t>
            </a:r>
            <a:r>
              <a:rPr lang="zh-CN" altLang="en-US" sz="2000" dirty="0">
                <a:latin typeface="宋体" panose="02010600030101010101" pitchFamily="2" charset="-122"/>
                <a:ea typeface="宋体" panose="02010600030101010101" pitchFamily="2" charset="-122"/>
              </a:rPr>
              <a:t>级可编程异常</a:t>
            </a:r>
            <a:r>
              <a:rPr lang="zh-CN" altLang="en-US" sz="2000" dirty="0" smtClean="0">
                <a:latin typeface="宋体" panose="02010600030101010101" pitchFamily="2" charset="-122"/>
                <a:ea typeface="宋体" panose="02010600030101010101" pitchFamily="2" charset="-122"/>
              </a:rPr>
              <a:t>优先级</a:t>
            </a:r>
            <a:endParaRPr lang="en-US" altLang="zh-CN" sz="2000" dirty="0" smtClean="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rPr>
              <a:t>中断响应时处理器状态的自动保存，无须额外指令；</a:t>
            </a:r>
            <a:endParaRPr lang="zh-CN" altLang="en-US"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rPr>
              <a:t>中断返回时处理器状态的自动恢复，无须额外指令；</a:t>
            </a:r>
            <a:endParaRPr lang="zh-CN" altLang="en-US"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rPr>
              <a:t>支持</a:t>
            </a:r>
            <a:r>
              <a:rPr lang="zh-CN" altLang="en-US" sz="2000" b="1" dirty="0">
                <a:latin typeface="宋体" panose="02010600030101010101" pitchFamily="2" charset="-122"/>
                <a:ea typeface="宋体" panose="02010600030101010101" pitchFamily="2" charset="-122"/>
              </a:rPr>
              <a:t>嵌套</a:t>
            </a:r>
            <a:r>
              <a:rPr lang="zh-CN" altLang="en-US" sz="2000" dirty="0">
                <a:latin typeface="宋体" panose="02010600030101010101" pitchFamily="2" charset="-122"/>
                <a:ea typeface="宋体" panose="02010600030101010101" pitchFamily="2" charset="-122"/>
              </a:rPr>
              <a:t>和向量中断；</a:t>
            </a:r>
            <a:endParaRPr lang="zh-CN" altLang="en-US"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rPr>
              <a:t>支持中断尾链技术</a:t>
            </a:r>
            <a:r>
              <a:rPr lang="zh-CN" altLang="en-US" sz="2000" dirty="0" smtClean="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p:txBody>
      </p:sp>
      <p:sp>
        <p:nvSpPr>
          <p:cNvPr id="2" name="文本框 1"/>
          <p:cNvSpPr txBox="1"/>
          <p:nvPr/>
        </p:nvSpPr>
        <p:spPr>
          <a:xfrm>
            <a:off x="4805680" y="1165225"/>
            <a:ext cx="3048000" cy="448627"/>
          </a:xfrm>
          <a:prstGeom prst="horizontalScroll">
            <a:avLst/>
          </a:prstGeom>
        </p:spPr>
        <p:style>
          <a:lnRef idx="2">
            <a:schemeClr val="accent1"/>
          </a:lnRef>
          <a:fillRef idx="0">
            <a:srgbClr val="FFFFFF"/>
          </a:fillRef>
          <a:effectRef idx="0">
            <a:srgbClr val="FFFFFF"/>
          </a:effectRef>
          <a:fontRef idx="minor">
            <a:schemeClr val="dk1"/>
          </a:fontRef>
        </p:style>
        <p:txBody>
          <a:bodyPr wrap="square" rtlCol="0">
            <a:spAutoFit/>
          </a:bodyPr>
          <a:p>
            <a:r>
              <a:rPr lang="zh-CN" altLang="en-US" sz="1400" b="1"/>
              <a:t>N</a:t>
            </a:r>
            <a:r>
              <a:rPr lang="zh-CN" altLang="en-US" sz="1400"/>
              <a:t>ested </a:t>
            </a:r>
            <a:r>
              <a:rPr lang="zh-CN" altLang="en-US" sz="1400" b="1"/>
              <a:t>V</a:t>
            </a:r>
            <a:r>
              <a:rPr lang="zh-CN" altLang="en-US" sz="1400"/>
              <a:t>ectored </a:t>
            </a:r>
            <a:r>
              <a:rPr lang="zh-CN" altLang="en-US" sz="1400" b="1"/>
              <a:t>I</a:t>
            </a:r>
            <a:r>
              <a:rPr lang="zh-CN" altLang="en-US" sz="1400"/>
              <a:t>nterrupt </a:t>
            </a:r>
            <a:r>
              <a:rPr lang="zh-CN" altLang="en-US" sz="1400" b="1"/>
              <a:t>C</a:t>
            </a:r>
            <a:r>
              <a:rPr lang="zh-CN" altLang="en-US" sz="1400"/>
              <a:t>ontroller</a:t>
            </a:r>
            <a:endParaRPr lang="zh-CN" altLang="en-US" sz="14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4774" y="462772"/>
            <a:ext cx="7468769" cy="553998"/>
          </a:xfrm>
          <a:prstGeom prst="rect">
            <a:avLst/>
          </a:prstGeom>
          <a:noFill/>
        </p:spPr>
        <p:txBody>
          <a:bodyPr wrap="square">
            <a:spAutoFit/>
          </a:bodyPr>
          <a:lstStyle/>
          <a:p>
            <a:pPr>
              <a:defRPr/>
            </a:pPr>
            <a:r>
              <a:rPr lang="en-US" altLang="zh-CN" sz="3000" b="1" dirty="0" err="1"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STM32F103</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中断优先级</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368943" y="1121850"/>
            <a:ext cx="8063855" cy="5678478"/>
          </a:xfrm>
          <a:prstGeom prst="rect">
            <a:avLst/>
          </a:prstGeom>
        </p:spPr>
        <p:txBody>
          <a:bodyPr wrap="square">
            <a:spAutoFit/>
          </a:bodyPr>
          <a:lstStyle/>
          <a:p>
            <a:pPr>
              <a:lnSpc>
                <a:spcPct val="150000"/>
              </a:lnSpc>
            </a:pPr>
            <a:r>
              <a:rPr lang="en-US" altLang="zh-CN" sz="2000" b="1" dirty="0" smtClean="0">
                <a:latin typeface="宋体" panose="02010600030101010101" pitchFamily="2" charset="-122"/>
                <a:ea typeface="宋体" panose="02010600030101010101" pitchFamily="2" charset="-122"/>
              </a:rPr>
              <a:t>1.</a:t>
            </a:r>
            <a:r>
              <a:rPr lang="zh-CN" altLang="en-US" sz="2000" b="1" dirty="0" smtClean="0">
                <a:latin typeface="宋体" panose="02010600030101010101" pitchFamily="2" charset="-122"/>
                <a:ea typeface="宋体" panose="02010600030101010101" pitchFamily="2" charset="-122"/>
              </a:rPr>
              <a:t>抢占</a:t>
            </a:r>
            <a:r>
              <a:rPr lang="zh-CN" altLang="en-US" sz="2000" b="1" dirty="0">
                <a:latin typeface="宋体" panose="02010600030101010101" pitchFamily="2" charset="-122"/>
                <a:ea typeface="宋体" panose="02010600030101010101" pitchFamily="2" charset="-122"/>
              </a:rPr>
              <a:t>优先级（</a:t>
            </a:r>
            <a:r>
              <a:rPr lang="en-US" altLang="zh-CN" sz="2000" b="1" dirty="0">
                <a:latin typeface="宋体" panose="02010600030101010101" pitchFamily="2" charset="-122"/>
                <a:ea typeface="宋体" panose="02010600030101010101" pitchFamily="2" charset="-122"/>
              </a:rPr>
              <a:t>Preempting Priority</a:t>
            </a:r>
            <a:r>
              <a:rPr lang="zh-CN" altLang="en-US" sz="2000" b="1" dirty="0" smtClean="0">
                <a:latin typeface="宋体" panose="02010600030101010101" pitchFamily="2" charset="-122"/>
                <a:ea typeface="宋体" panose="02010600030101010101" pitchFamily="2" charset="-122"/>
              </a:rPr>
              <a:t>）</a:t>
            </a:r>
            <a:endParaRPr lang="en-US" altLang="zh-CN" sz="2000" b="1" dirty="0" smtClean="0">
              <a:latin typeface="宋体" panose="02010600030101010101" pitchFamily="2" charset="-122"/>
              <a:ea typeface="宋体" panose="02010600030101010101" pitchFamily="2" charset="-122"/>
            </a:endParaRPr>
          </a:p>
          <a:p>
            <a:pPr indent="457200">
              <a:lnSpc>
                <a:spcPct val="150000"/>
              </a:lnSpc>
            </a:pPr>
            <a:r>
              <a:rPr lang="zh-CN" altLang="en-US" dirty="0">
                <a:latin typeface="宋体" panose="02010600030101010101" pitchFamily="2" charset="-122"/>
                <a:ea typeface="宋体" panose="02010600030101010101" pitchFamily="2" charset="-122"/>
              </a:rPr>
              <a:t>高抢占式优先级的中断事件会打断当前的主程序</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中断程序运行</a:t>
            </a:r>
            <a:r>
              <a:rPr lang="zh-CN" altLang="en-US" dirty="0" smtClean="0">
                <a:latin typeface="宋体" panose="02010600030101010101" pitchFamily="2" charset="-122"/>
                <a:ea typeface="宋体" panose="02010600030101010101" pitchFamily="2" charset="-122"/>
              </a:rPr>
              <a:t>，即中断</a:t>
            </a:r>
            <a:r>
              <a:rPr lang="zh-CN" altLang="en-US" dirty="0">
                <a:latin typeface="宋体" panose="02010600030101010101" pitchFamily="2" charset="-122"/>
                <a:ea typeface="宋体" panose="02010600030101010101" pitchFamily="2" charset="-122"/>
              </a:rPr>
              <a:t>嵌套</a:t>
            </a:r>
            <a:r>
              <a:rPr lang="zh-CN" altLang="en-US" dirty="0" smtClean="0">
                <a:latin typeface="宋体" panose="02010600030101010101" pitchFamily="2" charset="-122"/>
                <a:ea typeface="宋体" panose="02010600030101010101" pitchFamily="2" charset="-122"/>
              </a:rPr>
              <a:t>。</a:t>
            </a:r>
            <a:endParaRPr lang="en-US" altLang="zh-CN" dirty="0" smtClean="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2</a:t>
            </a:r>
            <a:r>
              <a:rPr lang="en-US" altLang="zh-CN" sz="2000" b="1" dirty="0" smtClean="0">
                <a:latin typeface="宋体" panose="02010600030101010101" pitchFamily="2" charset="-122"/>
                <a:ea typeface="宋体" panose="02010600030101010101" pitchFamily="2" charset="-122"/>
              </a:rPr>
              <a:t>.</a:t>
            </a:r>
            <a:r>
              <a:rPr lang="zh-CN" altLang="en-US" sz="2000" b="1" dirty="0" smtClean="0">
                <a:latin typeface="宋体" panose="02010600030101010101" pitchFamily="2" charset="-122"/>
                <a:ea typeface="宋体" panose="02010600030101010101" pitchFamily="2" charset="-122"/>
              </a:rPr>
              <a:t>何</a:t>
            </a:r>
            <a:r>
              <a:rPr lang="zh-CN" altLang="en-US" sz="2000" b="1" dirty="0">
                <a:latin typeface="宋体" panose="02010600030101010101" pitchFamily="2" charset="-122"/>
                <a:ea typeface="宋体" panose="02010600030101010101" pitchFamily="2" charset="-122"/>
              </a:rPr>
              <a:t>为响应优先级</a:t>
            </a:r>
            <a:r>
              <a:rPr lang="en-US" altLang="zh-CN" sz="2000" b="1" dirty="0">
                <a:latin typeface="宋体" panose="02010600030101010101" pitchFamily="2" charset="-122"/>
                <a:ea typeface="宋体" panose="02010600030101010101" pitchFamily="2" charset="-122"/>
              </a:rPr>
              <a:t>(</a:t>
            </a:r>
            <a:r>
              <a:rPr lang="en-US" altLang="zh-CN" sz="2000" b="1" dirty="0" err="1">
                <a:latin typeface="宋体" panose="02010600030101010101" pitchFamily="2" charset="-122"/>
                <a:ea typeface="宋体" panose="02010600030101010101" pitchFamily="2" charset="-122"/>
              </a:rPr>
              <a:t>subpriority</a:t>
            </a:r>
            <a:r>
              <a:rPr lang="en-US" altLang="zh-CN" sz="2000" b="1"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indent="457200">
              <a:lnSpc>
                <a:spcPct val="150000"/>
              </a:lnSpc>
            </a:pPr>
            <a:r>
              <a:rPr lang="zh-CN" altLang="en-US" dirty="0">
                <a:latin typeface="宋体" panose="02010600030101010101" pitchFamily="2" charset="-122"/>
                <a:ea typeface="宋体" panose="02010600030101010101" pitchFamily="2" charset="-122"/>
              </a:rPr>
              <a:t>在抢占式优先级相同的情况下，高响应优先级的中断优先被</a:t>
            </a:r>
            <a:r>
              <a:rPr lang="zh-CN" altLang="en-US" dirty="0" smtClean="0">
                <a:latin typeface="宋体" panose="02010600030101010101" pitchFamily="2" charset="-122"/>
                <a:ea typeface="宋体" panose="02010600030101010101" pitchFamily="2" charset="-122"/>
              </a:rPr>
              <a:t>响应。</a:t>
            </a:r>
            <a:r>
              <a:rPr lang="zh-CN" altLang="en-US" b="1" dirty="0" smtClean="0">
                <a:latin typeface="宋体" panose="02010600030101010101" pitchFamily="2" charset="-122"/>
                <a:ea typeface="宋体" panose="02010600030101010101" pitchFamily="2" charset="-122"/>
              </a:rPr>
              <a:t>不会</a:t>
            </a:r>
            <a:r>
              <a:rPr lang="zh-CN" altLang="en-US" dirty="0" smtClean="0">
                <a:latin typeface="宋体" panose="02010600030101010101" pitchFamily="2" charset="-122"/>
                <a:ea typeface="宋体" panose="02010600030101010101" pitchFamily="2" charset="-122"/>
              </a:rPr>
              <a:t>导致中断嵌套。（也称为子优先级或从优先级）</a:t>
            </a:r>
            <a:endParaRPr lang="zh-CN" altLang="en-US"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3</a:t>
            </a:r>
            <a:r>
              <a:rPr lang="en-US" altLang="zh-CN" sz="2000" b="1" dirty="0" smtClean="0">
                <a:latin typeface="宋体" panose="02010600030101010101" pitchFamily="2" charset="-122"/>
                <a:ea typeface="宋体" panose="02010600030101010101" pitchFamily="2" charset="-122"/>
              </a:rPr>
              <a:t>.</a:t>
            </a:r>
            <a:r>
              <a:rPr lang="zh-CN" altLang="en-US" sz="2000" b="1" dirty="0" smtClean="0">
                <a:latin typeface="宋体" panose="02010600030101010101" pitchFamily="2" charset="-122"/>
                <a:ea typeface="宋体" panose="02010600030101010101" pitchFamily="2" charset="-122"/>
              </a:rPr>
              <a:t>判断</a:t>
            </a:r>
            <a:r>
              <a:rPr lang="zh-CN" altLang="en-US" sz="2000" b="1" dirty="0">
                <a:latin typeface="宋体" panose="02010600030101010101" pitchFamily="2" charset="-122"/>
                <a:ea typeface="宋体" panose="02010600030101010101" pitchFamily="2" charset="-122"/>
              </a:rPr>
              <a:t>中断是否会被响应的依据</a:t>
            </a:r>
            <a:endParaRPr lang="zh-CN" altLang="en-US" sz="2000" b="1" dirty="0">
              <a:latin typeface="宋体" panose="02010600030101010101" pitchFamily="2" charset="-122"/>
              <a:ea typeface="宋体" panose="02010600030101010101" pitchFamily="2" charset="-122"/>
            </a:endParaRPr>
          </a:p>
          <a:p>
            <a:pPr indent="457200">
              <a:lnSpc>
                <a:spcPct val="150000"/>
              </a:lnSpc>
            </a:pPr>
            <a:r>
              <a:rPr lang="zh-CN" altLang="en-US" dirty="0">
                <a:latin typeface="宋体" panose="02010600030101010101" pitchFamily="2" charset="-122"/>
                <a:ea typeface="宋体" panose="02010600030101010101" pitchFamily="2" charset="-122"/>
              </a:rPr>
              <a:t>首先是抢占式优先级，其次是响应优先级</a:t>
            </a:r>
            <a:r>
              <a:rPr lang="zh-CN" altLang="en-US" dirty="0" smtClean="0">
                <a:latin typeface="宋体" panose="02010600030101010101" pitchFamily="2" charset="-122"/>
                <a:ea typeface="宋体" panose="02010600030101010101" pitchFamily="2" charset="-122"/>
              </a:rPr>
              <a:t>；抢占</a:t>
            </a:r>
            <a:r>
              <a:rPr lang="zh-CN" altLang="en-US" dirty="0">
                <a:latin typeface="宋体" panose="02010600030101010101" pitchFamily="2" charset="-122"/>
                <a:ea typeface="宋体" panose="02010600030101010101" pitchFamily="2" charset="-122"/>
              </a:rPr>
              <a:t>式优先级决定是否会有中断</a:t>
            </a:r>
            <a:r>
              <a:rPr lang="zh-CN" altLang="en-US" dirty="0" smtClean="0">
                <a:latin typeface="宋体" panose="02010600030101010101" pitchFamily="2" charset="-122"/>
                <a:ea typeface="宋体" panose="02010600030101010101" pitchFamily="2" charset="-122"/>
              </a:rPr>
              <a:t>嵌套。</a:t>
            </a:r>
            <a:endParaRPr lang="en-US" altLang="zh-CN" dirty="0" smtClean="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4</a:t>
            </a:r>
            <a:r>
              <a:rPr lang="en-US" altLang="zh-CN" sz="2000" b="1" dirty="0" smtClean="0">
                <a:latin typeface="宋体" panose="02010600030101010101" pitchFamily="2" charset="-122"/>
                <a:ea typeface="宋体" panose="02010600030101010101" pitchFamily="2" charset="-122"/>
              </a:rPr>
              <a:t>.</a:t>
            </a:r>
            <a:r>
              <a:rPr lang="zh-CN" altLang="en-US" sz="2000" b="1" dirty="0" smtClean="0">
                <a:latin typeface="宋体" panose="02010600030101010101" pitchFamily="2" charset="-122"/>
                <a:ea typeface="宋体" panose="02010600030101010101" pitchFamily="2" charset="-122"/>
              </a:rPr>
              <a:t>优先级</a:t>
            </a:r>
            <a:r>
              <a:rPr lang="zh-CN" altLang="en-US" sz="2000" b="1" dirty="0">
                <a:latin typeface="宋体" panose="02010600030101010101" pitchFamily="2" charset="-122"/>
                <a:ea typeface="宋体" panose="02010600030101010101" pitchFamily="2" charset="-122"/>
              </a:rPr>
              <a:t>冲突的处理</a:t>
            </a:r>
            <a:endParaRPr lang="zh-CN" altLang="en-US" sz="2000" b="1" dirty="0">
              <a:latin typeface="宋体" panose="02010600030101010101" pitchFamily="2" charset="-122"/>
              <a:ea typeface="宋体" panose="02010600030101010101" pitchFamily="2" charset="-122"/>
            </a:endParaRPr>
          </a:p>
          <a:p>
            <a:pPr indent="457200">
              <a:lnSpc>
                <a:spcPct val="150000"/>
              </a:lnSpc>
            </a:pPr>
            <a:r>
              <a:rPr lang="zh-CN" altLang="en-US" dirty="0">
                <a:latin typeface="宋体" panose="02010600030101010101" pitchFamily="2" charset="-122"/>
                <a:ea typeface="宋体" panose="02010600030101010101" pitchFamily="2" charset="-122"/>
              </a:rPr>
              <a:t>具有高抢占式优先级的中断可以在具有低抢占式优先级的中断处理过程中被响应，即中断的嵌套，或者说高抢占式优先级的中断可以嵌套低抢占式优先级的中断</a:t>
            </a:r>
            <a:r>
              <a:rPr lang="zh-CN" altLang="en-US" dirty="0" smtClean="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99882" y="675305"/>
            <a:ext cx="3860352" cy="400110"/>
          </a:xfrm>
          <a:prstGeom prst="rect">
            <a:avLst/>
          </a:prstGeom>
        </p:spPr>
        <p:txBody>
          <a:bodyPr wrap="none">
            <a:spAutoFit/>
          </a:bodyP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5. STM32</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中对中断优先级的定义</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340" y="1534884"/>
            <a:ext cx="8546072" cy="261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1797898" y="4724399"/>
            <a:ext cx="5462955" cy="646331"/>
          </a:xfrm>
          <a:prstGeom prst="rect">
            <a:avLst/>
          </a:prstGeom>
          <a:noFill/>
        </p:spPr>
        <p:txBody>
          <a:bodyPr wrap="square" rtlCol="0">
            <a:spAutoFit/>
          </a:bodyPr>
          <a:lstStyle/>
          <a:p>
            <a:r>
              <a:rPr lang="zh-CN" altLang="en-US" sz="3600" dirty="0" smtClean="0"/>
              <a:t>数值越小，优先级越高</a:t>
            </a:r>
            <a:endParaRPr lang="zh-CN" altLang="en-US" sz="36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xfrm>
            <a:off x="101111" y="134937"/>
            <a:ext cx="7886700" cy="1325563"/>
          </a:xfrm>
        </p:spPr>
        <p:txBody>
          <a:bodyPr/>
          <a:lstStyle/>
          <a:p>
            <a:pPr eaLnBrk="1" hangingPunct="1"/>
            <a:r>
              <a:rPr lang="zh-CN" altLang="en-US" dirty="0" smtClean="0"/>
              <a:t>代码示例（优先级设置）</a:t>
            </a:r>
            <a:endParaRPr lang="zh-CN" altLang="en-US" dirty="0" smtClean="0"/>
          </a:p>
        </p:txBody>
      </p:sp>
      <p:pic>
        <p:nvPicPr>
          <p:cNvPr id="49155"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452804" y="1249485"/>
            <a:ext cx="8064500" cy="5397500"/>
          </a:xfrm>
          <a:noFill/>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4774" y="462772"/>
            <a:ext cx="7468769" cy="553998"/>
          </a:xfrm>
          <a:prstGeom prst="rect">
            <a:avLst/>
          </a:prstGeom>
          <a:noFill/>
        </p:spPr>
        <p:txBody>
          <a:bodyPr wrap="square">
            <a:spAutoFit/>
          </a:bodyPr>
          <a:lstStyle/>
          <a:p>
            <a:pPr>
              <a:defRPr/>
            </a:pPr>
            <a:r>
              <a:rPr lang="en-US" altLang="zh-CN" sz="3000" b="1" dirty="0" err="1"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STM32F103</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中断向量表</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161533" y="971779"/>
            <a:ext cx="8735725" cy="922020"/>
          </a:xfrm>
          <a:prstGeom prst="rect">
            <a:avLst/>
          </a:prstGeom>
        </p:spPr>
        <p:txBody>
          <a:bodyPr wrap="square">
            <a:spAutoFit/>
          </a:bodyPr>
          <a:lstStyle/>
          <a:p>
            <a:pPr indent="457200">
              <a:lnSpc>
                <a:spcPct val="150000"/>
              </a:lnSpc>
            </a:pPr>
            <a:r>
              <a:rPr lang="en-US" altLang="zh-CN" dirty="0">
                <a:latin typeface="Times New Roman" panose="02020603050405020304" pitchFamily="18" charset="0"/>
                <a:ea typeface="宋体" panose="02010600030101010101" pitchFamily="2" charset="-122"/>
                <a:cs typeface="Times New Roman" panose="02020603050405020304" pitchFamily="18" charset="0"/>
              </a:rPr>
              <a:t>STM32F103</a:t>
            </a:r>
            <a:r>
              <a:rPr lang="zh-CN" altLang="en-US" dirty="0">
                <a:latin typeface="Times New Roman" panose="02020603050405020304" pitchFamily="18" charset="0"/>
                <a:ea typeface="宋体" panose="02010600030101010101" pitchFamily="2" charset="-122"/>
                <a:cs typeface="Times New Roman" panose="02020603050405020304" pitchFamily="18" charset="0"/>
              </a:rPr>
              <a:t>各个中断对应的中断服务程序的入口地址统一存放在</a:t>
            </a:r>
            <a:r>
              <a:rPr lang="en-US" altLang="zh-CN" dirty="0">
                <a:latin typeface="Times New Roman" panose="02020603050405020304" pitchFamily="18" charset="0"/>
                <a:ea typeface="宋体" panose="02010600030101010101" pitchFamily="2" charset="-122"/>
                <a:cs typeface="Times New Roman" panose="02020603050405020304" pitchFamily="18" charset="0"/>
              </a:rPr>
              <a:t>STM32F103</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的中断向量表中。</a:t>
            </a:r>
            <a:r>
              <a:rPr lang="en-US" altLang="zh-CN" dirty="0">
                <a:latin typeface="Times New Roman" panose="02020603050405020304" pitchFamily="18" charset="0"/>
                <a:ea typeface="宋体" panose="02010600030101010101" pitchFamily="2" charset="-122"/>
                <a:cs typeface="Times New Roman" panose="02020603050405020304" pitchFamily="18" charset="0"/>
              </a:rPr>
              <a:t>STM32F103</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的中断向量表，一般位于其存储器的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rPr>
              <a:t>地址处。（</a:t>
            </a:r>
            <a:r>
              <a:rPr lang="en-US" altLang="zh-CN" dirty="0">
                <a:latin typeface="Times New Roman" panose="02020603050405020304" pitchFamily="18" charset="0"/>
                <a:ea typeface="宋体" panose="02010600030101010101" pitchFamily="2" charset="-122"/>
                <a:cs typeface="Times New Roman" panose="02020603050405020304" pitchFamily="18" charset="0"/>
              </a:rPr>
              <a:t>RM</a:t>
            </a:r>
            <a:r>
              <a:rPr lang="zh-CN" altLang="en-US" dirty="0">
                <a:latin typeface="Times New Roman" panose="02020603050405020304" pitchFamily="18" charset="0"/>
                <a:ea typeface="宋体" panose="02010600030101010101" pitchFamily="2" charset="-122"/>
                <a:cs typeface="Times New Roman" panose="02020603050405020304" pitchFamily="18" charset="0"/>
              </a:rPr>
              <a:t>表</a:t>
            </a:r>
            <a:r>
              <a:rPr lang="en-US" altLang="zh-CN" dirty="0">
                <a:latin typeface="Times New Roman" panose="02020603050405020304" pitchFamily="18" charset="0"/>
                <a:ea typeface="宋体" panose="02010600030101010101" pitchFamily="2" charset="-122"/>
                <a:cs typeface="Times New Roman" panose="02020603050405020304" pitchFamily="18" charset="0"/>
              </a:rPr>
              <a:t>54</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表格 3"/>
          <p:cNvGraphicFramePr>
            <a:graphicFrameLocks noGrp="1"/>
          </p:cNvGraphicFramePr>
          <p:nvPr/>
        </p:nvGraphicFramePr>
        <p:xfrm>
          <a:off x="362858" y="1950430"/>
          <a:ext cx="8476345" cy="4560814"/>
        </p:xfrm>
        <a:graphic>
          <a:graphicData uri="http://schemas.openxmlformats.org/drawingml/2006/table">
            <a:tbl>
              <a:tblPr firstRow="1" firstCol="1" bandRow="1">
                <a:tableStyleId>{2D5ABB26-0587-4C30-8999-92F81FD0307C}</a:tableStyleId>
              </a:tblPr>
              <a:tblGrid>
                <a:gridCol w="700951"/>
                <a:gridCol w="700951"/>
                <a:gridCol w="978441"/>
                <a:gridCol w="1886856"/>
                <a:gridCol w="2888343"/>
                <a:gridCol w="1320803"/>
              </a:tblGrid>
              <a:tr h="226715">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位置</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优先级</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dirty="0" smtClean="0">
                          <a:effectLst/>
                          <a:latin typeface="Times New Roman" panose="02020603050405020304" pitchFamily="18" charset="0"/>
                          <a:ea typeface="宋体" panose="02010600030101010101" pitchFamily="2" charset="-122"/>
                          <a:cs typeface="Times New Roman" panose="02020603050405020304" pitchFamily="18" charset="0"/>
                        </a:rPr>
                        <a:t>优先级类型 </a:t>
                      </a:r>
                      <a:endParaRPr lang="zh-CN" sz="11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名称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说明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地址</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3062">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保留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0x0000_0000</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3062">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-3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固定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Reset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复位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0x0000_0004</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8989">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-2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固定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NMI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不可屏蔽中断</a:t>
                      </a:r>
                      <a:r>
                        <a:rPr lang="en-US" sz="1100" kern="0">
                          <a:effectLst/>
                          <a:latin typeface="Times New Roman" panose="02020603050405020304" pitchFamily="18" charset="0"/>
                          <a:ea typeface="宋体" panose="02010600030101010101" pitchFamily="2" charset="-122"/>
                          <a:cs typeface="Times New Roman" panose="02020603050405020304" pitchFamily="18" charset="0"/>
                        </a:rPr>
                        <a:t>RCC</a:t>
                      </a:r>
                      <a:r>
                        <a:rPr lang="zh-CN" sz="1100" kern="0">
                          <a:effectLst/>
                          <a:latin typeface="Times New Roman" panose="02020603050405020304" pitchFamily="18" charset="0"/>
                          <a:ea typeface="宋体" panose="02010600030101010101" pitchFamily="2" charset="-122"/>
                          <a:cs typeface="Times New Roman" panose="02020603050405020304" pitchFamily="18" charset="0"/>
                        </a:rPr>
                        <a:t>时钟安全系统</a:t>
                      </a:r>
                      <a:r>
                        <a:rPr lang="en-US" sz="1100" kern="0">
                          <a:effectLst/>
                          <a:latin typeface="Times New Roman" panose="02020603050405020304" pitchFamily="18" charset="0"/>
                          <a:ea typeface="宋体" panose="02010600030101010101" pitchFamily="2" charset="-122"/>
                          <a:cs typeface="Times New Roman" panose="02020603050405020304" pitchFamily="18" charset="0"/>
                        </a:rPr>
                        <a:t>(CSS)</a:t>
                      </a:r>
                      <a:r>
                        <a:rPr lang="zh-CN" sz="1100" kern="0">
                          <a:effectLst/>
                          <a:latin typeface="Times New Roman" panose="02020603050405020304" pitchFamily="18" charset="0"/>
                          <a:ea typeface="宋体" panose="02010600030101010101" pitchFamily="2" charset="-122"/>
                          <a:cs typeface="Times New Roman" panose="02020603050405020304" pitchFamily="18" charset="0"/>
                        </a:rPr>
                        <a:t>联接到</a:t>
                      </a:r>
                      <a:r>
                        <a:rPr lang="en-US" sz="1100" kern="0">
                          <a:effectLst/>
                          <a:latin typeface="Times New Roman" panose="02020603050405020304" pitchFamily="18" charset="0"/>
                          <a:ea typeface="宋体" panose="02010600030101010101" pitchFamily="2" charset="-122"/>
                          <a:cs typeface="Times New Roman" panose="02020603050405020304" pitchFamily="18" charset="0"/>
                        </a:rPr>
                        <a:t>NMI</a:t>
                      </a: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向量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0x0000_0008</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3062">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-1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固定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硬件失效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所有类型的失效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0x0000_000C</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1203">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可设置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存储管理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存储器管理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0x0000_0010</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5014">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1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可设置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总线错误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预取指失败，存储器访问失败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0x0000_0014</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2659">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2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可设置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错误应用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未定义的指令或非法状态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0x0000_0018</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3062">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保留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0x0000_001C</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3062">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保留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0x0000_0020</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3062">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保留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0x0000_0024</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3062">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保留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dirty="0">
                          <a:effectLst/>
                          <a:latin typeface="Times New Roman" panose="02020603050405020304" pitchFamily="18" charset="0"/>
                          <a:ea typeface="宋体" panose="02010600030101010101" pitchFamily="2" charset="-122"/>
                          <a:cs typeface="Times New Roman" panose="02020603050405020304" pitchFamily="18" charset="0"/>
                        </a:rPr>
                        <a:t>0x0000_0028</a:t>
                      </a:r>
                      <a:endParaRPr lang="zh-CN" sz="11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5014">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3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可设置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SVCall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通过</a:t>
                      </a:r>
                      <a:r>
                        <a:rPr lang="en-US" sz="1100" kern="0">
                          <a:effectLst/>
                          <a:latin typeface="Times New Roman" panose="02020603050405020304" pitchFamily="18" charset="0"/>
                          <a:ea typeface="宋体" panose="02010600030101010101" pitchFamily="2" charset="-122"/>
                          <a:cs typeface="Times New Roman" panose="02020603050405020304" pitchFamily="18" charset="0"/>
                        </a:rPr>
                        <a:t>SWI</a:t>
                      </a:r>
                      <a:r>
                        <a:rPr lang="zh-CN" sz="1100" kern="0">
                          <a:effectLst/>
                          <a:latin typeface="Times New Roman" panose="02020603050405020304" pitchFamily="18" charset="0"/>
                          <a:ea typeface="宋体" panose="02010600030101010101" pitchFamily="2" charset="-122"/>
                          <a:cs typeface="Times New Roman" panose="02020603050405020304" pitchFamily="18" charset="0"/>
                        </a:rPr>
                        <a:t>指令的系统服务调用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dirty="0">
                          <a:effectLst/>
                          <a:latin typeface="Times New Roman" panose="02020603050405020304" pitchFamily="18" charset="0"/>
                          <a:ea typeface="宋体" panose="02010600030101010101" pitchFamily="2" charset="-122"/>
                          <a:cs typeface="Times New Roman" panose="02020603050405020304" pitchFamily="18" charset="0"/>
                        </a:rPr>
                        <a:t>0x0000_002C</a:t>
                      </a:r>
                      <a:endParaRPr lang="zh-CN" sz="11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87476">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4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可设置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调试监控</a:t>
                      </a:r>
                      <a:r>
                        <a:rPr lang="en-US" sz="1100" kern="0">
                          <a:effectLst/>
                          <a:latin typeface="Times New Roman" panose="02020603050405020304" pitchFamily="18" charset="0"/>
                          <a:ea typeface="宋体" panose="02010600030101010101" pitchFamily="2" charset="-122"/>
                          <a:cs typeface="Times New Roman" panose="02020603050405020304" pitchFamily="18" charset="0"/>
                        </a:rPr>
                        <a:t>(DebugMonitor)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调试监控器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0x0000_0030</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3062">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保留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0x0000_0034</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1203">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5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可设置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PendSV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可挂起的系统服务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0x0000_0038</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1203">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6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可设置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SysTick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系统嘀嗒定时器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0x0000_003C</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1203">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7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可设置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WWDG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窗口定时器中断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0x0000_0040</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2594">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1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8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可设置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PVD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dirty="0">
                          <a:effectLst/>
                          <a:latin typeface="Times New Roman" panose="02020603050405020304" pitchFamily="18" charset="0"/>
                          <a:ea typeface="宋体" panose="02010600030101010101" pitchFamily="2" charset="-122"/>
                          <a:cs typeface="Times New Roman" panose="02020603050405020304" pitchFamily="18" charset="0"/>
                        </a:rPr>
                        <a:t>连到</a:t>
                      </a:r>
                      <a:r>
                        <a:rPr lang="en-US" sz="1100" kern="0" dirty="0">
                          <a:effectLst/>
                          <a:latin typeface="Times New Roman" panose="02020603050405020304" pitchFamily="18" charset="0"/>
                          <a:ea typeface="宋体" panose="02010600030101010101" pitchFamily="2" charset="-122"/>
                          <a:cs typeface="Times New Roman" panose="02020603050405020304" pitchFamily="18" charset="0"/>
                        </a:rPr>
                        <a:t>EXTI</a:t>
                      </a:r>
                      <a:r>
                        <a:rPr lang="zh-CN" sz="1100" kern="0" dirty="0">
                          <a:effectLst/>
                          <a:latin typeface="Times New Roman" panose="02020603050405020304" pitchFamily="18" charset="0"/>
                          <a:ea typeface="宋体" panose="02010600030101010101" pitchFamily="2" charset="-122"/>
                          <a:cs typeface="Times New Roman" panose="02020603050405020304" pitchFamily="18" charset="0"/>
                        </a:rPr>
                        <a:t>的电源电压检测</a:t>
                      </a:r>
                      <a:r>
                        <a:rPr lang="en-US" sz="1100" kern="0" dirty="0">
                          <a:effectLst/>
                          <a:latin typeface="Times New Roman" panose="02020603050405020304" pitchFamily="18" charset="0"/>
                          <a:ea typeface="宋体" panose="02010600030101010101" pitchFamily="2" charset="-122"/>
                          <a:cs typeface="Times New Roman" panose="02020603050405020304" pitchFamily="18" charset="0"/>
                        </a:rPr>
                        <a:t>(PVD)</a:t>
                      </a:r>
                      <a:r>
                        <a:rPr lang="zh-CN" sz="1100" kern="0" dirty="0">
                          <a:effectLst/>
                          <a:latin typeface="Times New Roman" panose="02020603050405020304" pitchFamily="18" charset="0"/>
                          <a:ea typeface="宋体" panose="02010600030101010101" pitchFamily="2" charset="-122"/>
                          <a:cs typeface="Times New Roman" panose="02020603050405020304" pitchFamily="18" charset="0"/>
                        </a:rPr>
                        <a:t>中断 </a:t>
                      </a:r>
                      <a:endParaRPr lang="zh-CN" sz="11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0x0000_0044</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17715">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2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9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可设置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TAMPER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侵入检测中断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0x0000_0048</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2659">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3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10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可设置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RTC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实时时钟</a:t>
                      </a:r>
                      <a:r>
                        <a:rPr lang="en-US" sz="1100" kern="0">
                          <a:effectLst/>
                          <a:latin typeface="Times New Roman" panose="02020603050405020304" pitchFamily="18" charset="0"/>
                          <a:ea typeface="宋体" panose="02010600030101010101" pitchFamily="2" charset="-122"/>
                          <a:cs typeface="Times New Roman" panose="02020603050405020304" pitchFamily="18" charset="0"/>
                        </a:rPr>
                        <a:t>(RTC)</a:t>
                      </a: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全局中断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0x0000_004C</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1203">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4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11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可设置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FLASH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闪存全局中断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0x0000_0050</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2659">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5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12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可设置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a:effectLst/>
                          <a:latin typeface="Times New Roman" panose="02020603050405020304" pitchFamily="18" charset="0"/>
                          <a:ea typeface="宋体" panose="02010600030101010101" pitchFamily="2" charset="-122"/>
                          <a:cs typeface="Times New Roman" panose="02020603050405020304" pitchFamily="18" charset="0"/>
                        </a:rPr>
                        <a:t>RCC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100" kern="0">
                          <a:effectLst/>
                          <a:latin typeface="Times New Roman" panose="02020603050405020304" pitchFamily="18" charset="0"/>
                          <a:ea typeface="宋体" panose="02010600030101010101" pitchFamily="2" charset="-122"/>
                          <a:cs typeface="Times New Roman" panose="02020603050405020304" pitchFamily="18" charset="0"/>
                        </a:rPr>
                        <a:t>复位和时钟控制</a:t>
                      </a:r>
                      <a:r>
                        <a:rPr lang="en-US" sz="1100" kern="0">
                          <a:effectLst/>
                          <a:latin typeface="Times New Roman" panose="02020603050405020304" pitchFamily="18" charset="0"/>
                          <a:ea typeface="宋体" panose="02010600030101010101" pitchFamily="2" charset="-122"/>
                          <a:cs typeface="Times New Roman" panose="02020603050405020304" pitchFamily="18" charset="0"/>
                        </a:rPr>
                        <a:t>(RCC)</a:t>
                      </a:r>
                      <a:r>
                        <a:rPr lang="zh-CN" sz="1100" kern="0">
                          <a:effectLst/>
                          <a:latin typeface="Times New Roman" panose="02020603050405020304" pitchFamily="18" charset="0"/>
                          <a:ea typeface="宋体" panose="02010600030101010101" pitchFamily="2" charset="-122"/>
                          <a:cs typeface="Times New Roman" panose="02020603050405020304" pitchFamily="18" charset="0"/>
                        </a:rPr>
                        <a:t>中断 </a:t>
                      </a:r>
                      <a:endParaRPr lang="zh-CN" sz="11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100" kern="0" dirty="0">
                          <a:effectLst/>
                          <a:latin typeface="Times New Roman" panose="02020603050405020304" pitchFamily="18" charset="0"/>
                          <a:ea typeface="宋体" panose="02010600030101010101" pitchFamily="2" charset="-122"/>
                          <a:cs typeface="Times New Roman" panose="02020603050405020304" pitchFamily="18" charset="0"/>
                        </a:rPr>
                        <a:t>0x0000_0054</a:t>
                      </a:r>
                      <a:endParaRPr lang="zh-CN" sz="11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4774" y="462772"/>
            <a:ext cx="7468769" cy="553998"/>
          </a:xfrm>
          <a:prstGeom prst="rect">
            <a:avLst/>
          </a:prstGeom>
          <a:noFill/>
        </p:spPr>
        <p:txBody>
          <a:bodyPr wrap="square">
            <a:spAutoFit/>
          </a:bodyPr>
          <a:lstStyle/>
          <a:p>
            <a:pPr>
              <a:defRPr/>
            </a:pPr>
            <a:r>
              <a:rPr lang="en-US" altLang="zh-CN" sz="3000" b="1" dirty="0" err="1"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STM32F103</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中断服务函数</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194773" y="1016770"/>
            <a:ext cx="8760541" cy="1891928"/>
          </a:xfrm>
          <a:prstGeom prst="rect">
            <a:avLst/>
          </a:prstGeom>
        </p:spPr>
        <p:txBody>
          <a:bodyPr wrap="square">
            <a:spAutoFit/>
          </a:bodyPr>
          <a:lstStyle/>
          <a:p>
            <a:pPr>
              <a:lnSpc>
                <a:spcPct val="150000"/>
              </a:lnSpc>
            </a:pPr>
            <a:r>
              <a:rPr lang="en-US" altLang="zh-CN" sz="2000" dirty="0" smtClean="0"/>
              <a:t>STM32</a:t>
            </a:r>
            <a:r>
              <a:rPr lang="zh-CN" altLang="en-US" sz="2000" dirty="0"/>
              <a:t>所有的中断服务函数，在该微控制器所属产品系列的启动代码文件中都有预先定义</a:t>
            </a:r>
            <a:r>
              <a:rPr lang="zh-CN" altLang="en-US" sz="2000" dirty="0" smtClean="0"/>
              <a:t>。（即在</a:t>
            </a:r>
            <a:r>
              <a:rPr lang="en-US" altLang="zh-CN" sz="2000" dirty="0" err="1" smtClean="0"/>
              <a:t>xxxxx.s</a:t>
            </a:r>
            <a:r>
              <a:rPr lang="zh-CN" altLang="en-US" sz="2000" dirty="0" smtClean="0"/>
              <a:t>中定义）</a:t>
            </a:r>
            <a:endParaRPr lang="en-US" altLang="zh-CN" sz="2000" dirty="0" smtClean="0"/>
          </a:p>
          <a:p>
            <a:pPr>
              <a:lnSpc>
                <a:spcPct val="150000"/>
              </a:lnSpc>
            </a:pPr>
            <a:r>
              <a:rPr lang="zh-CN" altLang="en-US" sz="2000" dirty="0" smtClean="0"/>
              <a:t>用户</a:t>
            </a:r>
            <a:r>
              <a:rPr lang="zh-CN" altLang="en-US" sz="2000" dirty="0"/>
              <a:t>开发自己的</a:t>
            </a:r>
            <a:r>
              <a:rPr lang="en-US" altLang="zh-CN" sz="2000" dirty="0"/>
              <a:t>STM32F103</a:t>
            </a:r>
            <a:r>
              <a:rPr lang="zh-CN" altLang="en-US" sz="2000" dirty="0"/>
              <a:t>应用</a:t>
            </a:r>
            <a:r>
              <a:rPr lang="zh-CN" altLang="en-US" sz="2000" dirty="0" smtClean="0"/>
              <a:t>时，可</a:t>
            </a:r>
            <a:r>
              <a:rPr lang="zh-CN" altLang="en-US" sz="2000" dirty="0"/>
              <a:t>在文件</a:t>
            </a:r>
            <a:r>
              <a:rPr lang="en-US" altLang="zh-CN" sz="2000" dirty="0"/>
              <a:t>stm32f10x_it.c</a:t>
            </a:r>
            <a:r>
              <a:rPr lang="zh-CN" altLang="en-US" sz="2000" dirty="0"/>
              <a:t>中使用</a:t>
            </a:r>
            <a:r>
              <a:rPr lang="en-US" altLang="zh-CN" sz="2000" dirty="0"/>
              <a:t>C</a:t>
            </a:r>
            <a:r>
              <a:rPr lang="zh-CN" altLang="en-US" sz="2000" dirty="0"/>
              <a:t>语言编写</a:t>
            </a:r>
            <a:r>
              <a:rPr lang="zh-CN" altLang="en-US" sz="2000" dirty="0" smtClean="0"/>
              <a:t>函数将其实现。中断</a:t>
            </a:r>
            <a:r>
              <a:rPr lang="zh-CN" altLang="en-US" sz="2000" dirty="0"/>
              <a:t>服务</a:t>
            </a:r>
            <a:r>
              <a:rPr lang="zh-CN" altLang="en-US" sz="2000" dirty="0" smtClean="0"/>
              <a:t>函数通常以</a:t>
            </a:r>
            <a:r>
              <a:rPr lang="en-US" altLang="zh-CN" sz="2000" b="1" dirty="0" err="1" smtClean="0"/>
              <a:t>PPP</a:t>
            </a:r>
            <a:r>
              <a:rPr lang="en-US" altLang="zh-CN" sz="2000" dirty="0" err="1" smtClean="0"/>
              <a:t>_IRQHanlder</a:t>
            </a:r>
            <a:r>
              <a:rPr lang="zh-CN" altLang="en-US" sz="2000" dirty="0"/>
              <a:t>命名</a:t>
            </a:r>
            <a:r>
              <a:rPr lang="zh-CN" altLang="en-US" sz="2000" dirty="0" smtClean="0"/>
              <a:t>。</a:t>
            </a:r>
            <a:endParaRPr lang="zh-CN" altLang="en-US" sz="2000"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10186" y="2908698"/>
            <a:ext cx="5727702" cy="3832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pPr eaLnBrk="1" hangingPunct="1"/>
            <a:r>
              <a:rPr lang="zh-CN" altLang="en-US" dirty="0" smtClean="0"/>
              <a:t>代码示例</a:t>
            </a:r>
            <a:r>
              <a:rPr lang="en-US" altLang="zh-CN" dirty="0" smtClean="0"/>
              <a:t>1</a:t>
            </a:r>
            <a:r>
              <a:rPr lang="zh-CN" altLang="en-US" dirty="0" smtClean="0"/>
              <a:t>（内部中断）</a:t>
            </a:r>
            <a:endParaRPr lang="zh-CN" altLang="en-US" dirty="0" smtClean="0"/>
          </a:p>
        </p:txBody>
      </p:sp>
      <p:sp>
        <p:nvSpPr>
          <p:cNvPr id="60419" name="内容占位符 2"/>
          <p:cNvSpPr>
            <a:spLocks noGrp="1"/>
          </p:cNvSpPr>
          <p:nvPr>
            <p:ph idx="1"/>
          </p:nvPr>
        </p:nvSpPr>
        <p:spPr>
          <a:xfrm>
            <a:off x="128953" y="2262553"/>
            <a:ext cx="6166339" cy="4407877"/>
          </a:xfrm>
        </p:spPr>
        <p:txBody>
          <a:bodyPr>
            <a:noAutofit/>
          </a:bodyPr>
          <a:lstStyle/>
          <a:p>
            <a:pPr marL="0" indent="0">
              <a:buNone/>
            </a:pPr>
            <a:r>
              <a:rPr lang="zh-CN" altLang="en-US" sz="2400" dirty="0"/>
              <a:t> while(1)</a:t>
            </a:r>
            <a:endParaRPr lang="zh-CN" altLang="en-US" sz="2400" dirty="0"/>
          </a:p>
          <a:p>
            <a:pPr marL="0" indent="0">
              <a:buNone/>
            </a:pPr>
            <a:r>
              <a:rPr lang="zh-CN" altLang="en-US" sz="2400" dirty="0"/>
              <a:t> </a:t>
            </a:r>
            <a:r>
              <a:rPr lang="zh-CN" altLang="en-US" sz="2400" dirty="0" smtClean="0"/>
              <a:t>{</a:t>
            </a:r>
            <a:endParaRPr lang="zh-CN" altLang="en-US" sz="2400" dirty="0" smtClean="0"/>
          </a:p>
          <a:p>
            <a:pPr marL="0" indent="0">
              <a:buNone/>
            </a:pPr>
            <a:r>
              <a:rPr lang="zh-CN" altLang="en-US" sz="2400" dirty="0" smtClean="0"/>
              <a:t>        </a:t>
            </a:r>
            <a:r>
              <a:rPr lang="zh-CN" altLang="en-US" sz="2400" dirty="0"/>
              <a:t>GPIO_ResetBits(GPIOB,GPIO_Pin_5);   </a:t>
            </a:r>
            <a:endParaRPr lang="en-US" altLang="zh-CN" sz="2400" dirty="0" smtClean="0"/>
          </a:p>
          <a:p>
            <a:pPr marL="0" indent="0">
              <a:buNone/>
            </a:pPr>
            <a:r>
              <a:rPr lang="zh-CN" altLang="en-US" sz="2400" dirty="0" smtClean="0"/>
              <a:t>        GPIO</a:t>
            </a:r>
            <a:r>
              <a:rPr lang="zh-CN" altLang="en-US" sz="2400" dirty="0"/>
              <a:t>_SetBits(GPIOE,GPIO_Pin_5);     </a:t>
            </a:r>
            <a:endParaRPr lang="en-US" altLang="zh-CN" sz="2400" dirty="0" smtClean="0"/>
          </a:p>
          <a:p>
            <a:pPr marL="0" indent="0">
              <a:buNone/>
            </a:pPr>
            <a:r>
              <a:rPr lang="zh-CN" altLang="en-US" sz="2400" dirty="0" smtClean="0"/>
              <a:t>        delay</a:t>
            </a:r>
            <a:r>
              <a:rPr lang="zh-CN" altLang="en-US" sz="2400" dirty="0"/>
              <a:t>_IRQ</a:t>
            </a:r>
            <a:r>
              <a:rPr lang="zh-CN" altLang="en-US" sz="2400" dirty="0" smtClean="0"/>
              <a:t>(</a:t>
            </a:r>
            <a:r>
              <a:rPr lang="zh-CN" altLang="en-US" sz="2400" dirty="0"/>
              <a:t>500);//延时500ms</a:t>
            </a:r>
            <a:endParaRPr lang="zh-CN" altLang="en-US" sz="2400" dirty="0"/>
          </a:p>
          <a:p>
            <a:pPr marL="0" indent="0">
              <a:buNone/>
            </a:pPr>
            <a:r>
              <a:rPr lang="zh-CN" altLang="en-US" sz="2400" dirty="0"/>
              <a:t>        GPIO_SetBits(GPIOB,GPIO_Pin_5);     </a:t>
            </a:r>
            <a:endParaRPr lang="en-US" altLang="zh-CN" sz="2400" dirty="0" smtClean="0"/>
          </a:p>
          <a:p>
            <a:pPr marL="0" indent="0">
              <a:buNone/>
            </a:pPr>
            <a:r>
              <a:rPr lang="zh-CN" altLang="en-US" sz="2400" dirty="0"/>
              <a:t>        </a:t>
            </a:r>
            <a:r>
              <a:rPr lang="zh-CN" altLang="en-US" sz="2400" dirty="0" smtClean="0"/>
              <a:t>GPIO</a:t>
            </a:r>
            <a:r>
              <a:rPr lang="zh-CN" altLang="en-US" sz="2400" dirty="0"/>
              <a:t>_ResetBits(GPIOE,GPIO_Pin_5);   </a:t>
            </a:r>
            <a:endParaRPr lang="en-US" altLang="zh-CN" sz="2400" dirty="0" smtClean="0"/>
          </a:p>
          <a:p>
            <a:pPr marL="0" indent="0">
              <a:buNone/>
            </a:pPr>
            <a:r>
              <a:rPr lang="zh-CN" altLang="en-US" sz="2400" dirty="0" smtClean="0"/>
              <a:t>        delay</a:t>
            </a:r>
            <a:r>
              <a:rPr lang="zh-CN" altLang="en-US" sz="2400" dirty="0"/>
              <a:t>_IRQ(500);//延时500ms</a:t>
            </a:r>
            <a:endParaRPr lang="zh-CN" altLang="en-US" sz="2400" dirty="0"/>
          </a:p>
          <a:p>
            <a:pPr marL="0" indent="0">
              <a:buNone/>
            </a:pPr>
            <a:r>
              <a:rPr lang="zh-CN" altLang="en-US" sz="2400" dirty="0" smtClean="0"/>
              <a:t>}</a:t>
            </a:r>
            <a:endParaRPr lang="zh-CN" altLang="en-US" sz="2400" dirty="0"/>
          </a:p>
        </p:txBody>
      </p:sp>
      <p:sp>
        <p:nvSpPr>
          <p:cNvPr id="2" name="文本框 1"/>
          <p:cNvSpPr txBox="1"/>
          <p:nvPr/>
        </p:nvSpPr>
        <p:spPr>
          <a:xfrm>
            <a:off x="293076" y="1501782"/>
            <a:ext cx="3481755" cy="584775"/>
          </a:xfrm>
          <a:prstGeom prst="rect">
            <a:avLst/>
          </a:prstGeom>
          <a:noFill/>
        </p:spPr>
        <p:txBody>
          <a:bodyPr wrap="square" rtlCol="0">
            <a:spAutoFit/>
          </a:bodyPr>
          <a:lstStyle/>
          <a:p>
            <a:r>
              <a:rPr lang="zh-CN" altLang="en-US" sz="3200" dirty="0"/>
              <a:t>精确延时功能</a:t>
            </a:r>
            <a:endParaRPr lang="zh-CN" altLang="en-US" sz="3200" dirty="0"/>
          </a:p>
        </p:txBody>
      </p:sp>
      <p:graphicFrame>
        <p:nvGraphicFramePr>
          <p:cNvPr id="4" name="图示 3"/>
          <p:cNvGraphicFramePr/>
          <p:nvPr/>
        </p:nvGraphicFramePr>
        <p:xfrm>
          <a:off x="6182457" y="504092"/>
          <a:ext cx="2450124" cy="6166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pPr eaLnBrk="1" hangingPunct="1"/>
            <a:r>
              <a:rPr lang="zh-CN" altLang="en-US" dirty="0" smtClean="0"/>
              <a:t>代码示例</a:t>
            </a:r>
            <a:r>
              <a:rPr lang="en-US" altLang="zh-CN" dirty="0" smtClean="0"/>
              <a:t>1</a:t>
            </a:r>
            <a:r>
              <a:rPr lang="zh-CN" altLang="en-US" dirty="0" smtClean="0"/>
              <a:t>（内部中断）</a:t>
            </a:r>
            <a:endParaRPr lang="zh-CN" altLang="en-US" dirty="0" smtClean="0"/>
          </a:p>
        </p:txBody>
      </p:sp>
      <p:sp>
        <p:nvSpPr>
          <p:cNvPr id="60419" name="内容占位符 2"/>
          <p:cNvSpPr>
            <a:spLocks noGrp="1"/>
          </p:cNvSpPr>
          <p:nvPr>
            <p:ph idx="1"/>
          </p:nvPr>
        </p:nvSpPr>
        <p:spPr>
          <a:xfrm>
            <a:off x="128953" y="2262553"/>
            <a:ext cx="4302369" cy="4407877"/>
          </a:xfrm>
        </p:spPr>
        <p:txBody>
          <a:bodyPr>
            <a:normAutofit/>
          </a:bodyPr>
          <a:lstStyle/>
          <a:p>
            <a:r>
              <a:rPr lang="en-US" altLang="zh-CN" sz="2000" dirty="0"/>
              <a:t>volatile </a:t>
            </a:r>
            <a:r>
              <a:rPr lang="en-US" altLang="zh-CN" sz="2000" dirty="0" err="1"/>
              <a:t>u32</a:t>
            </a:r>
            <a:r>
              <a:rPr lang="en-US" altLang="zh-CN" sz="2000" dirty="0"/>
              <a:t> </a:t>
            </a:r>
            <a:r>
              <a:rPr lang="en-US" altLang="zh-CN" sz="2000" dirty="0" err="1"/>
              <a:t>systemTimeInMS</a:t>
            </a:r>
            <a:r>
              <a:rPr lang="en-US" altLang="zh-CN" sz="2000" dirty="0"/>
              <a:t> = 0;</a:t>
            </a:r>
            <a:endParaRPr lang="en-US" altLang="zh-CN" sz="2000" dirty="0"/>
          </a:p>
          <a:p>
            <a:r>
              <a:rPr lang="en-US" altLang="zh-CN" sz="2000" dirty="0" smtClean="0"/>
              <a:t>void </a:t>
            </a:r>
            <a:r>
              <a:rPr lang="en-US" altLang="zh-CN" sz="2000" dirty="0" err="1"/>
              <a:t>delay_IRQ</a:t>
            </a:r>
            <a:r>
              <a:rPr lang="en-US" altLang="zh-CN" sz="2000" dirty="0"/>
              <a:t>(</a:t>
            </a:r>
            <a:r>
              <a:rPr lang="en-US" altLang="zh-CN" sz="2000" dirty="0" err="1"/>
              <a:t>u32</a:t>
            </a:r>
            <a:r>
              <a:rPr lang="en-US" altLang="zh-CN" sz="2000" dirty="0"/>
              <a:t> </a:t>
            </a:r>
            <a:r>
              <a:rPr lang="en-US" altLang="zh-CN" sz="2000" dirty="0" err="1"/>
              <a:t>nms</a:t>
            </a:r>
            <a:r>
              <a:rPr lang="en-US" altLang="zh-CN" sz="2000" dirty="0"/>
              <a:t>)</a:t>
            </a:r>
            <a:endParaRPr lang="en-US" altLang="zh-CN" sz="2000" dirty="0"/>
          </a:p>
          <a:p>
            <a:r>
              <a:rPr lang="en-US" altLang="zh-CN" sz="2000" dirty="0"/>
              <a:t>{</a:t>
            </a:r>
            <a:endParaRPr lang="en-US" altLang="zh-CN" sz="2000" dirty="0"/>
          </a:p>
          <a:p>
            <a:r>
              <a:rPr lang="en-US" altLang="zh-CN" sz="2000" dirty="0"/>
              <a:t>    </a:t>
            </a:r>
            <a:r>
              <a:rPr lang="en-US" altLang="zh-CN" sz="2000" dirty="0" err="1"/>
              <a:t>systemTimeInMS</a:t>
            </a:r>
            <a:r>
              <a:rPr lang="en-US" altLang="zh-CN" sz="2000" dirty="0"/>
              <a:t> = 0;</a:t>
            </a:r>
            <a:endParaRPr lang="en-US" altLang="zh-CN" sz="2000" dirty="0"/>
          </a:p>
          <a:p>
            <a:r>
              <a:rPr lang="en-US" altLang="zh-CN" sz="2000" dirty="0"/>
              <a:t>    while(</a:t>
            </a:r>
            <a:r>
              <a:rPr lang="en-US" altLang="zh-CN" sz="2000" dirty="0" err="1"/>
              <a:t>systemTimeInMS</a:t>
            </a:r>
            <a:r>
              <a:rPr lang="en-US" altLang="zh-CN" sz="2000" dirty="0"/>
              <a:t> &lt; </a:t>
            </a:r>
            <a:r>
              <a:rPr lang="en-US" altLang="zh-CN" sz="2000" dirty="0" err="1"/>
              <a:t>nms</a:t>
            </a:r>
            <a:r>
              <a:rPr lang="en-US" altLang="zh-CN" sz="2000" dirty="0"/>
              <a:t>) ;</a:t>
            </a:r>
            <a:endParaRPr lang="en-US" altLang="zh-CN" sz="2000" dirty="0"/>
          </a:p>
          <a:p>
            <a:r>
              <a:rPr lang="en-US" altLang="zh-CN" sz="2000" dirty="0"/>
              <a:t>}</a:t>
            </a:r>
            <a:endParaRPr lang="en-US" altLang="zh-CN" sz="2000" dirty="0"/>
          </a:p>
          <a:p>
            <a:endParaRPr lang="en-US" altLang="zh-CN" sz="2000" dirty="0"/>
          </a:p>
          <a:p>
            <a:r>
              <a:rPr lang="en-US" altLang="zh-CN" sz="2000" dirty="0"/>
              <a:t>void </a:t>
            </a:r>
            <a:r>
              <a:rPr lang="en-US" altLang="zh-CN" sz="2000" b="1" dirty="0" err="1"/>
              <a:t>SysTick</a:t>
            </a:r>
            <a:r>
              <a:rPr lang="en-US" altLang="zh-CN" sz="2000" dirty="0" err="1"/>
              <a:t>_Handler</a:t>
            </a:r>
            <a:r>
              <a:rPr lang="en-US" altLang="zh-CN" sz="2000" dirty="0"/>
              <a:t>(void)</a:t>
            </a:r>
            <a:endParaRPr lang="en-US" altLang="zh-CN" sz="2000" dirty="0"/>
          </a:p>
          <a:p>
            <a:r>
              <a:rPr lang="en-US" altLang="zh-CN" sz="2000" dirty="0"/>
              <a:t>{</a:t>
            </a:r>
            <a:endParaRPr lang="en-US" altLang="zh-CN" sz="2000" dirty="0"/>
          </a:p>
          <a:p>
            <a:r>
              <a:rPr lang="en-US" altLang="zh-CN" sz="2000" dirty="0"/>
              <a:t>    </a:t>
            </a:r>
            <a:r>
              <a:rPr lang="en-US" altLang="zh-CN" sz="2000" dirty="0" err="1"/>
              <a:t>systemTimeInMS</a:t>
            </a:r>
            <a:r>
              <a:rPr lang="en-US" altLang="zh-CN" sz="2000" dirty="0"/>
              <a:t>++;</a:t>
            </a:r>
            <a:endParaRPr lang="en-US" altLang="zh-CN" sz="2000" dirty="0"/>
          </a:p>
          <a:p>
            <a:r>
              <a:rPr lang="en-US" altLang="zh-CN" sz="2000" dirty="0"/>
              <a:t>}</a:t>
            </a:r>
            <a:endParaRPr lang="zh-CN" altLang="en-US" sz="2000" dirty="0" smtClean="0"/>
          </a:p>
        </p:txBody>
      </p:sp>
      <p:sp>
        <p:nvSpPr>
          <p:cNvPr id="2" name="文本框 1"/>
          <p:cNvSpPr txBox="1"/>
          <p:nvPr/>
        </p:nvSpPr>
        <p:spPr>
          <a:xfrm>
            <a:off x="293076" y="1501782"/>
            <a:ext cx="3481755" cy="584775"/>
          </a:xfrm>
          <a:prstGeom prst="rect">
            <a:avLst/>
          </a:prstGeom>
          <a:noFill/>
        </p:spPr>
        <p:txBody>
          <a:bodyPr wrap="square" rtlCol="0">
            <a:spAutoFit/>
          </a:bodyPr>
          <a:lstStyle/>
          <a:p>
            <a:r>
              <a:rPr lang="zh-CN" altLang="en-US" sz="3200" dirty="0"/>
              <a:t>精确延时功能</a:t>
            </a:r>
            <a:endParaRPr lang="zh-CN" altLang="en-US" sz="3200" dirty="0"/>
          </a:p>
        </p:txBody>
      </p:sp>
      <p:graphicFrame>
        <p:nvGraphicFramePr>
          <p:cNvPr id="4" name="图示 3"/>
          <p:cNvGraphicFramePr/>
          <p:nvPr/>
        </p:nvGraphicFramePr>
        <p:xfrm>
          <a:off x="6182457" y="504092"/>
          <a:ext cx="2450124" cy="6166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pPr eaLnBrk="1" hangingPunct="1"/>
            <a:r>
              <a:rPr lang="zh-CN" altLang="en-US" dirty="0" smtClean="0"/>
              <a:t>代码示例</a:t>
            </a:r>
            <a:r>
              <a:rPr lang="en-US" altLang="zh-CN" dirty="0" smtClean="0"/>
              <a:t>1</a:t>
            </a:r>
            <a:r>
              <a:rPr lang="zh-CN" altLang="en-US" dirty="0" smtClean="0"/>
              <a:t>（内部中断）</a:t>
            </a:r>
            <a:endParaRPr lang="zh-CN" altLang="en-US" dirty="0" smtClean="0"/>
          </a:p>
        </p:txBody>
      </p:sp>
      <p:sp>
        <p:nvSpPr>
          <p:cNvPr id="60419" name="内容占位符 2"/>
          <p:cNvSpPr>
            <a:spLocks noGrp="1"/>
          </p:cNvSpPr>
          <p:nvPr>
            <p:ph idx="1"/>
          </p:nvPr>
        </p:nvSpPr>
        <p:spPr>
          <a:xfrm>
            <a:off x="128953" y="2262553"/>
            <a:ext cx="4302369" cy="4407877"/>
          </a:xfrm>
        </p:spPr>
        <p:txBody>
          <a:bodyPr>
            <a:normAutofit/>
          </a:bodyPr>
          <a:lstStyle/>
          <a:p>
            <a:r>
              <a:rPr lang="en-US" altLang="zh-CN" sz="2000" dirty="0"/>
              <a:t>volatile </a:t>
            </a:r>
            <a:r>
              <a:rPr lang="en-US" altLang="zh-CN" sz="2000" dirty="0" err="1"/>
              <a:t>u32</a:t>
            </a:r>
            <a:r>
              <a:rPr lang="en-US" altLang="zh-CN" sz="2000" dirty="0"/>
              <a:t> </a:t>
            </a:r>
            <a:r>
              <a:rPr lang="en-US" altLang="zh-CN" sz="2000" dirty="0" err="1"/>
              <a:t>systemTimeInMS</a:t>
            </a:r>
            <a:r>
              <a:rPr lang="en-US" altLang="zh-CN" sz="2000" dirty="0"/>
              <a:t> = 0;</a:t>
            </a:r>
            <a:endParaRPr lang="en-US" altLang="zh-CN" sz="2000" dirty="0"/>
          </a:p>
          <a:p>
            <a:r>
              <a:rPr lang="en-US" altLang="zh-CN" sz="2000" dirty="0" smtClean="0"/>
              <a:t>void </a:t>
            </a:r>
            <a:r>
              <a:rPr lang="en-US" altLang="zh-CN" sz="2000" dirty="0" err="1"/>
              <a:t>delay_IRQ</a:t>
            </a:r>
            <a:r>
              <a:rPr lang="en-US" altLang="zh-CN" sz="2000" dirty="0"/>
              <a:t>(</a:t>
            </a:r>
            <a:r>
              <a:rPr lang="en-US" altLang="zh-CN" sz="2000" dirty="0" err="1"/>
              <a:t>u32</a:t>
            </a:r>
            <a:r>
              <a:rPr lang="en-US" altLang="zh-CN" sz="2000" dirty="0"/>
              <a:t> </a:t>
            </a:r>
            <a:r>
              <a:rPr lang="en-US" altLang="zh-CN" sz="2000" dirty="0" err="1"/>
              <a:t>nms</a:t>
            </a:r>
            <a:r>
              <a:rPr lang="en-US" altLang="zh-CN" sz="2000" dirty="0"/>
              <a:t>)</a:t>
            </a:r>
            <a:endParaRPr lang="en-US" altLang="zh-CN" sz="2000" dirty="0"/>
          </a:p>
          <a:p>
            <a:r>
              <a:rPr lang="en-US" altLang="zh-CN" sz="2000" dirty="0"/>
              <a:t>{</a:t>
            </a:r>
            <a:endParaRPr lang="en-US" altLang="zh-CN" sz="2000" dirty="0"/>
          </a:p>
          <a:p>
            <a:r>
              <a:rPr lang="en-US" altLang="zh-CN" sz="2000" dirty="0"/>
              <a:t>    </a:t>
            </a:r>
            <a:r>
              <a:rPr lang="en-US" altLang="zh-CN" sz="2000" dirty="0" err="1"/>
              <a:t>systemTimeInMS</a:t>
            </a:r>
            <a:r>
              <a:rPr lang="en-US" altLang="zh-CN" sz="2000" dirty="0"/>
              <a:t> = 0;</a:t>
            </a:r>
            <a:endParaRPr lang="en-US" altLang="zh-CN" sz="2000" dirty="0"/>
          </a:p>
          <a:p>
            <a:r>
              <a:rPr lang="en-US" altLang="zh-CN" sz="2000" dirty="0"/>
              <a:t>    while(</a:t>
            </a:r>
            <a:r>
              <a:rPr lang="en-US" altLang="zh-CN" sz="2000" dirty="0" err="1"/>
              <a:t>systemTimeInMS</a:t>
            </a:r>
            <a:r>
              <a:rPr lang="en-US" altLang="zh-CN" sz="2000" dirty="0"/>
              <a:t> &lt; </a:t>
            </a:r>
            <a:r>
              <a:rPr lang="en-US" altLang="zh-CN" sz="2000" dirty="0" err="1"/>
              <a:t>nms</a:t>
            </a:r>
            <a:r>
              <a:rPr lang="en-US" altLang="zh-CN" sz="2000" dirty="0"/>
              <a:t>) ;</a:t>
            </a:r>
            <a:endParaRPr lang="en-US" altLang="zh-CN" sz="2000" dirty="0"/>
          </a:p>
          <a:p>
            <a:r>
              <a:rPr lang="en-US" altLang="zh-CN" sz="2000" dirty="0"/>
              <a:t>}</a:t>
            </a:r>
            <a:endParaRPr lang="en-US" altLang="zh-CN" sz="2000" dirty="0"/>
          </a:p>
          <a:p>
            <a:endParaRPr lang="en-US" altLang="zh-CN" sz="2000" dirty="0"/>
          </a:p>
          <a:p>
            <a:r>
              <a:rPr lang="en-US" altLang="zh-CN" sz="2000" dirty="0"/>
              <a:t>void </a:t>
            </a:r>
            <a:r>
              <a:rPr lang="en-US" altLang="zh-CN" sz="2000" b="1" dirty="0" err="1"/>
              <a:t>SysTick</a:t>
            </a:r>
            <a:r>
              <a:rPr lang="en-US" altLang="zh-CN" sz="2000" dirty="0" err="1"/>
              <a:t>_Handler</a:t>
            </a:r>
            <a:r>
              <a:rPr lang="en-US" altLang="zh-CN" sz="2000" dirty="0"/>
              <a:t>(void)</a:t>
            </a:r>
            <a:endParaRPr lang="en-US" altLang="zh-CN" sz="2000" dirty="0"/>
          </a:p>
          <a:p>
            <a:r>
              <a:rPr lang="en-US" altLang="zh-CN" sz="2000" dirty="0"/>
              <a:t>{</a:t>
            </a:r>
            <a:endParaRPr lang="en-US" altLang="zh-CN" sz="2000" dirty="0"/>
          </a:p>
          <a:p>
            <a:r>
              <a:rPr lang="en-US" altLang="zh-CN" sz="2000" dirty="0"/>
              <a:t>    </a:t>
            </a:r>
            <a:r>
              <a:rPr lang="en-US" altLang="zh-CN" sz="2000" dirty="0" err="1"/>
              <a:t>systemTimeInMS</a:t>
            </a:r>
            <a:r>
              <a:rPr lang="en-US" altLang="zh-CN" sz="2000" dirty="0"/>
              <a:t>++;</a:t>
            </a:r>
            <a:endParaRPr lang="en-US" altLang="zh-CN" sz="2000" dirty="0"/>
          </a:p>
          <a:p>
            <a:r>
              <a:rPr lang="en-US" altLang="zh-CN" sz="2000" dirty="0"/>
              <a:t>}</a:t>
            </a:r>
            <a:endParaRPr lang="zh-CN" altLang="en-US" sz="2000" dirty="0" smtClean="0"/>
          </a:p>
        </p:txBody>
      </p:sp>
      <p:sp>
        <p:nvSpPr>
          <p:cNvPr id="2" name="文本框 1"/>
          <p:cNvSpPr txBox="1"/>
          <p:nvPr/>
        </p:nvSpPr>
        <p:spPr>
          <a:xfrm>
            <a:off x="293076" y="1501782"/>
            <a:ext cx="3481755" cy="584775"/>
          </a:xfrm>
          <a:prstGeom prst="rect">
            <a:avLst/>
          </a:prstGeom>
          <a:noFill/>
        </p:spPr>
        <p:txBody>
          <a:bodyPr wrap="square" rtlCol="0">
            <a:spAutoFit/>
          </a:bodyPr>
          <a:lstStyle/>
          <a:p>
            <a:r>
              <a:rPr lang="zh-CN" altLang="en-US" sz="3200" dirty="0"/>
              <a:t>精确延时功能</a:t>
            </a:r>
            <a:endParaRPr lang="zh-CN" altLang="en-US" sz="3200" dirty="0"/>
          </a:p>
        </p:txBody>
      </p:sp>
      <p:sp>
        <p:nvSpPr>
          <p:cNvPr id="3" name="文本框 2"/>
          <p:cNvSpPr txBox="1"/>
          <p:nvPr/>
        </p:nvSpPr>
        <p:spPr>
          <a:xfrm>
            <a:off x="5831722" y="3278498"/>
            <a:ext cx="2315816" cy="1569660"/>
          </a:xfrm>
          <a:prstGeom prst="rect">
            <a:avLst/>
          </a:prstGeom>
          <a:noFill/>
          <a:ln w="38100">
            <a:solidFill>
              <a:schemeClr val="tx1"/>
            </a:solidFill>
          </a:ln>
        </p:spPr>
        <p:txBody>
          <a:bodyPr wrap="square" rtlCol="0">
            <a:spAutoFit/>
          </a:bodyPr>
          <a:lstStyle/>
          <a:p>
            <a:r>
              <a:rPr lang="zh-CN" altLang="en-US" sz="3200" b="1" dirty="0" smtClean="0">
                <a:solidFill>
                  <a:srgbClr val="FF0000"/>
                </a:solidFill>
              </a:rPr>
              <a:t>延时中依然无法处理其他任务！</a:t>
            </a:r>
            <a:endParaRPr lang="zh-CN" altLang="en-US" sz="3200" b="1" dirty="0">
              <a:solidFill>
                <a:srgbClr val="FF0000"/>
              </a:solidFill>
            </a:endParaRPr>
          </a:p>
        </p:txBody>
      </p:sp>
      <p:sp>
        <p:nvSpPr>
          <p:cNvPr id="5" name="虚尾箭头 4"/>
          <p:cNvSpPr/>
          <p:nvPr/>
        </p:nvSpPr>
        <p:spPr>
          <a:xfrm>
            <a:off x="4044461" y="3620279"/>
            <a:ext cx="1652954" cy="886099"/>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a:xfrm>
            <a:off x="70338" y="93784"/>
            <a:ext cx="7886700" cy="668215"/>
          </a:xfrm>
        </p:spPr>
        <p:txBody>
          <a:bodyPr>
            <a:normAutofit fontScale="90000"/>
          </a:bodyPr>
          <a:lstStyle/>
          <a:p>
            <a:pPr eaLnBrk="1" hangingPunct="1"/>
            <a:r>
              <a:rPr lang="zh-CN" altLang="en-US" dirty="0" smtClean="0"/>
              <a:t>代码示例</a:t>
            </a:r>
            <a:r>
              <a:rPr lang="en-US" altLang="zh-CN" dirty="0" smtClean="0"/>
              <a:t>1</a:t>
            </a:r>
            <a:r>
              <a:rPr lang="zh-CN" altLang="en-US" dirty="0" smtClean="0"/>
              <a:t>（内部中断）</a:t>
            </a:r>
            <a:endParaRPr lang="zh-CN" altLang="en-US" dirty="0" smtClean="0"/>
          </a:p>
        </p:txBody>
      </p:sp>
      <p:sp>
        <p:nvSpPr>
          <p:cNvPr id="60419" name="内容占位符 2"/>
          <p:cNvSpPr>
            <a:spLocks noGrp="1"/>
          </p:cNvSpPr>
          <p:nvPr>
            <p:ph idx="1"/>
          </p:nvPr>
        </p:nvSpPr>
        <p:spPr>
          <a:xfrm>
            <a:off x="128953" y="1346774"/>
            <a:ext cx="8721970" cy="5405717"/>
          </a:xfrm>
        </p:spPr>
        <p:txBody>
          <a:bodyPr>
            <a:normAutofit lnSpcReduction="10000"/>
          </a:bodyPr>
          <a:lstStyle/>
          <a:p>
            <a:pPr marL="0" indent="0">
              <a:buNone/>
            </a:pPr>
            <a:r>
              <a:rPr lang="en-US" altLang="zh-CN" sz="2000" dirty="0" smtClean="0"/>
              <a:t>void </a:t>
            </a:r>
            <a:r>
              <a:rPr lang="en-US" altLang="zh-CN" sz="2000" dirty="0" err="1" smtClean="0"/>
              <a:t>delay_set</a:t>
            </a:r>
            <a:r>
              <a:rPr lang="en-US" altLang="zh-CN" sz="2000" dirty="0" smtClean="0"/>
              <a:t>(</a:t>
            </a:r>
            <a:r>
              <a:rPr lang="en-US" altLang="zh-CN" sz="2000" dirty="0" err="1" smtClean="0"/>
              <a:t>u32</a:t>
            </a:r>
            <a:r>
              <a:rPr lang="en-US" altLang="zh-CN" sz="2000" dirty="0" smtClean="0"/>
              <a:t> </a:t>
            </a:r>
            <a:r>
              <a:rPr lang="en-US" altLang="zh-CN" sz="2000" dirty="0" err="1"/>
              <a:t>nms</a:t>
            </a:r>
            <a:r>
              <a:rPr lang="en-US" altLang="zh-CN" sz="2000" dirty="0"/>
              <a:t>)</a:t>
            </a:r>
            <a:endParaRPr lang="en-US" altLang="zh-CN" sz="2000" dirty="0"/>
          </a:p>
          <a:p>
            <a:pPr marL="0" indent="0">
              <a:buNone/>
            </a:pPr>
            <a:r>
              <a:rPr lang="en-US" altLang="zh-CN" sz="2000" dirty="0"/>
              <a:t>{</a:t>
            </a:r>
            <a:endParaRPr lang="en-US" altLang="zh-CN" sz="2000" dirty="0"/>
          </a:p>
          <a:p>
            <a:pPr marL="0" indent="0">
              <a:buNone/>
            </a:pPr>
            <a:r>
              <a:rPr lang="en-US" altLang="zh-CN" sz="2000" dirty="0"/>
              <a:t>    </a:t>
            </a:r>
            <a:r>
              <a:rPr lang="en-US" altLang="zh-CN" sz="2000" dirty="0" err="1"/>
              <a:t>systemTimeInMS</a:t>
            </a:r>
            <a:r>
              <a:rPr lang="en-US" altLang="zh-CN" sz="2000" dirty="0"/>
              <a:t> = 0;</a:t>
            </a:r>
            <a:endParaRPr lang="en-US" altLang="zh-CN" sz="2000" dirty="0"/>
          </a:p>
          <a:p>
            <a:pPr marL="0" indent="0">
              <a:buNone/>
            </a:pPr>
            <a:r>
              <a:rPr lang="en-US" altLang="zh-CN" sz="2000" dirty="0"/>
              <a:t> </a:t>
            </a:r>
            <a:r>
              <a:rPr lang="en-US" altLang="zh-CN" sz="2000" dirty="0" smtClean="0"/>
              <a:t>   </a:t>
            </a:r>
            <a:r>
              <a:rPr lang="en-US" altLang="zh-CN" sz="2000" dirty="0" err="1" smtClean="0"/>
              <a:t>systickDelayTimeInMs</a:t>
            </a:r>
            <a:r>
              <a:rPr lang="en-US" altLang="zh-CN" sz="2000" dirty="0" smtClean="0"/>
              <a:t> = </a:t>
            </a:r>
            <a:r>
              <a:rPr lang="en-US" altLang="zh-CN" sz="2000" dirty="0" err="1" smtClean="0"/>
              <a:t>nms</a:t>
            </a:r>
            <a:r>
              <a:rPr lang="en-US" altLang="zh-CN" sz="2000" dirty="0" smtClean="0"/>
              <a:t>;</a:t>
            </a:r>
            <a:endParaRPr lang="en-US" altLang="zh-CN" sz="2000" dirty="0"/>
          </a:p>
          <a:p>
            <a:pPr marL="0" indent="0">
              <a:buNone/>
            </a:pPr>
            <a:r>
              <a:rPr lang="en-US" altLang="zh-CN" sz="2000" dirty="0"/>
              <a:t>}</a:t>
            </a:r>
            <a:endParaRPr lang="en-US" altLang="zh-CN" sz="2000" dirty="0"/>
          </a:p>
          <a:p>
            <a:pPr marL="0" indent="0">
              <a:buNone/>
            </a:pPr>
            <a:r>
              <a:rPr lang="en-US" altLang="zh-CN" sz="2000" dirty="0" smtClean="0"/>
              <a:t>void </a:t>
            </a:r>
            <a:r>
              <a:rPr lang="en-US" altLang="zh-CN" sz="2000" b="1" dirty="0" err="1"/>
              <a:t>SysTick</a:t>
            </a:r>
            <a:r>
              <a:rPr lang="en-US" altLang="zh-CN" sz="2000" dirty="0" err="1"/>
              <a:t>_Handler</a:t>
            </a:r>
            <a:r>
              <a:rPr lang="en-US" altLang="zh-CN" sz="2000" dirty="0"/>
              <a:t>(void)</a:t>
            </a:r>
            <a:endParaRPr lang="en-US" altLang="zh-CN" sz="2000" dirty="0"/>
          </a:p>
          <a:p>
            <a:pPr marL="0" indent="0">
              <a:buNone/>
            </a:pPr>
            <a:r>
              <a:rPr lang="en-US" altLang="zh-CN" sz="2000" dirty="0"/>
              <a:t>{</a:t>
            </a:r>
            <a:endParaRPr lang="en-US" altLang="zh-CN" sz="2000" dirty="0"/>
          </a:p>
          <a:p>
            <a:pPr marL="0" indent="0">
              <a:buNone/>
            </a:pPr>
            <a:r>
              <a:rPr lang="en-US" altLang="zh-CN" sz="2000" dirty="0"/>
              <a:t> </a:t>
            </a:r>
            <a:r>
              <a:rPr lang="en-US" altLang="zh-CN" sz="2000" dirty="0" smtClean="0"/>
              <a:t>   </a:t>
            </a:r>
            <a:r>
              <a:rPr lang="en-US" altLang="zh-CN" sz="2000" dirty="0" err="1" smtClean="0"/>
              <a:t>systemTimeInMS</a:t>
            </a:r>
            <a:r>
              <a:rPr lang="en-US" altLang="zh-CN" sz="2000" dirty="0"/>
              <a:t>++;</a:t>
            </a:r>
            <a:endParaRPr lang="en-US" altLang="zh-CN" sz="2000" dirty="0"/>
          </a:p>
          <a:p>
            <a:pPr marL="0" indent="0">
              <a:buNone/>
            </a:pPr>
            <a:r>
              <a:rPr lang="en-US" altLang="zh-CN" sz="2000" dirty="0"/>
              <a:t>    if (</a:t>
            </a:r>
            <a:r>
              <a:rPr lang="en-US" altLang="zh-CN" sz="2000" dirty="0" err="1"/>
              <a:t>systemTimeInMS</a:t>
            </a:r>
            <a:r>
              <a:rPr lang="en-US" altLang="zh-CN" sz="2000" dirty="0"/>
              <a:t> % </a:t>
            </a:r>
            <a:r>
              <a:rPr lang="en-US" altLang="zh-CN" sz="2000" dirty="0" err="1"/>
              <a:t>systickDelayTimeInMs</a:t>
            </a:r>
            <a:r>
              <a:rPr lang="en-US" altLang="zh-CN" sz="2000" dirty="0"/>
              <a:t> == 0)</a:t>
            </a:r>
            <a:endParaRPr lang="en-US" altLang="zh-CN" sz="2000" dirty="0"/>
          </a:p>
          <a:p>
            <a:pPr marL="0" indent="0">
              <a:buNone/>
            </a:pPr>
            <a:r>
              <a:rPr lang="en-US" altLang="zh-CN" sz="2000" dirty="0"/>
              <a:t>    {</a:t>
            </a:r>
            <a:endParaRPr lang="en-US" altLang="zh-CN" sz="2000" dirty="0"/>
          </a:p>
          <a:p>
            <a:pPr marL="0" indent="0">
              <a:buNone/>
            </a:pPr>
            <a:r>
              <a:rPr lang="en-US" altLang="zh-CN" sz="2000" dirty="0"/>
              <a:t>        </a:t>
            </a:r>
            <a:r>
              <a:rPr lang="en-US" altLang="zh-CN" sz="2000" dirty="0" err="1"/>
              <a:t>GPIO_WriteBit</a:t>
            </a:r>
            <a:r>
              <a:rPr lang="en-US" altLang="zh-CN" sz="2000" dirty="0"/>
              <a:t>(</a:t>
            </a:r>
            <a:r>
              <a:rPr lang="en-US" altLang="zh-CN" sz="2000" dirty="0" err="1"/>
              <a:t>GPIOB</a:t>
            </a:r>
            <a:r>
              <a:rPr lang="en-US" altLang="zh-CN" sz="2000" dirty="0"/>
              <a:t>, </a:t>
            </a:r>
            <a:r>
              <a:rPr lang="en-US" altLang="zh-CN" sz="2000" dirty="0" err="1"/>
              <a:t>GPIO_Pin_5</a:t>
            </a:r>
            <a:r>
              <a:rPr lang="en-US" altLang="zh-CN" sz="2000" dirty="0" smtClean="0"/>
              <a:t>,</a:t>
            </a:r>
            <a:endParaRPr lang="en-US" altLang="zh-CN" sz="2000" dirty="0" smtClean="0"/>
          </a:p>
          <a:p>
            <a:pPr marL="0" indent="0">
              <a:buNone/>
            </a:pPr>
            <a:r>
              <a:rPr lang="en-US" altLang="zh-CN" sz="2000" dirty="0"/>
              <a:t> </a:t>
            </a:r>
            <a:r>
              <a:rPr lang="en-US" altLang="zh-CN" sz="2000" dirty="0" smtClean="0"/>
              <a:t>                                  !</a:t>
            </a:r>
            <a:r>
              <a:rPr lang="en-US" altLang="zh-CN" sz="2000" dirty="0" err="1"/>
              <a:t>GPIO_ReadOutputDataBit</a:t>
            </a:r>
            <a:r>
              <a:rPr lang="en-US" altLang="zh-CN" sz="2000" dirty="0"/>
              <a:t>(</a:t>
            </a:r>
            <a:r>
              <a:rPr lang="en-US" altLang="zh-CN" sz="2000" dirty="0" err="1"/>
              <a:t>GPIOB</a:t>
            </a:r>
            <a:r>
              <a:rPr lang="en-US" altLang="zh-CN" sz="2000" dirty="0"/>
              <a:t>, </a:t>
            </a:r>
            <a:r>
              <a:rPr lang="en-US" altLang="zh-CN" sz="2000" dirty="0" err="1"/>
              <a:t>GPIO_Pin_5</a:t>
            </a:r>
            <a:r>
              <a:rPr lang="en-US" altLang="zh-CN" sz="2000" dirty="0"/>
              <a:t>));</a:t>
            </a:r>
            <a:endParaRPr lang="en-US" altLang="zh-CN" sz="2000" dirty="0"/>
          </a:p>
          <a:p>
            <a:pPr marL="0" indent="0">
              <a:buNone/>
            </a:pPr>
            <a:r>
              <a:rPr lang="en-US" altLang="zh-CN" sz="2000" dirty="0"/>
              <a:t>    </a:t>
            </a:r>
            <a:r>
              <a:rPr lang="en-US" altLang="zh-CN" sz="2000" dirty="0" smtClean="0"/>
              <a:t>}</a:t>
            </a:r>
            <a:endParaRPr lang="en-US" altLang="zh-CN" sz="2000" dirty="0" smtClean="0"/>
          </a:p>
          <a:p>
            <a:pPr marL="0" indent="0">
              <a:buNone/>
            </a:pPr>
            <a:r>
              <a:rPr lang="en-US" altLang="zh-CN" sz="2000" dirty="0" smtClean="0"/>
              <a:t>}</a:t>
            </a:r>
            <a:endParaRPr lang="zh-CN" altLang="en-US" sz="2000" dirty="0" smtClean="0"/>
          </a:p>
        </p:txBody>
      </p:sp>
      <p:sp>
        <p:nvSpPr>
          <p:cNvPr id="2" name="文本框 1"/>
          <p:cNvSpPr txBox="1"/>
          <p:nvPr/>
        </p:nvSpPr>
        <p:spPr>
          <a:xfrm>
            <a:off x="128953" y="761999"/>
            <a:ext cx="3481755" cy="584775"/>
          </a:xfrm>
          <a:prstGeom prst="rect">
            <a:avLst/>
          </a:prstGeom>
          <a:noFill/>
        </p:spPr>
        <p:txBody>
          <a:bodyPr wrap="square" rtlCol="0">
            <a:spAutoFit/>
          </a:bodyPr>
          <a:lstStyle/>
          <a:p>
            <a:r>
              <a:rPr lang="zh-CN" altLang="en-US" sz="3200" dirty="0"/>
              <a:t>精确延时功能</a:t>
            </a:r>
            <a:endParaRPr lang="zh-CN" altLang="en-US" sz="3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内容占位符 2"/>
          <p:cNvSpPr>
            <a:spLocks noGrp="1"/>
          </p:cNvSpPr>
          <p:nvPr>
            <p:ph idx="1"/>
          </p:nvPr>
        </p:nvSpPr>
        <p:spPr>
          <a:xfrm>
            <a:off x="128953" y="2262553"/>
            <a:ext cx="6166339" cy="4407877"/>
          </a:xfrm>
        </p:spPr>
        <p:txBody>
          <a:bodyPr>
            <a:noAutofit/>
          </a:bodyPr>
          <a:lstStyle/>
          <a:p>
            <a:pPr marL="0" indent="0">
              <a:buNone/>
            </a:pPr>
            <a:r>
              <a:rPr lang="en-US" altLang="zh-CN" sz="2400" dirty="0" err="1" smtClean="0"/>
              <a:t>delay_set</a:t>
            </a:r>
            <a:r>
              <a:rPr lang="en-US" altLang="zh-CN" sz="2400" dirty="0" smtClean="0"/>
              <a:t>(500);</a:t>
            </a:r>
            <a:endParaRPr lang="en-US" altLang="zh-CN" sz="2400" dirty="0"/>
          </a:p>
          <a:p>
            <a:pPr marL="0" indent="0">
              <a:buNone/>
            </a:pPr>
            <a:r>
              <a:rPr lang="zh-CN" altLang="en-US" sz="2400" dirty="0" smtClean="0"/>
              <a:t>while</a:t>
            </a:r>
            <a:r>
              <a:rPr lang="zh-CN" altLang="en-US" sz="2400" dirty="0"/>
              <a:t>(1)</a:t>
            </a:r>
            <a:endParaRPr lang="zh-CN" altLang="en-US" sz="2400" dirty="0"/>
          </a:p>
          <a:p>
            <a:pPr marL="0" indent="0">
              <a:buNone/>
            </a:pPr>
            <a:r>
              <a:rPr lang="zh-CN" altLang="en-US" sz="2400" dirty="0" smtClean="0"/>
              <a:t>{</a:t>
            </a:r>
            <a:endParaRPr lang="zh-CN" altLang="en-US" sz="2400" dirty="0" smtClean="0"/>
          </a:p>
          <a:p>
            <a:pPr marL="0" indent="0">
              <a:buNone/>
            </a:pPr>
            <a:r>
              <a:rPr lang="zh-CN" altLang="en-US" sz="2400" dirty="0" smtClean="0"/>
              <a:t>        </a:t>
            </a:r>
            <a:r>
              <a:rPr lang="en-US" altLang="zh-CN" sz="2000" dirty="0" smtClean="0"/>
              <a:t>// </a:t>
            </a:r>
            <a:r>
              <a:rPr lang="zh-CN" altLang="en-US" sz="2000" dirty="0" smtClean="0"/>
              <a:t>这里可以</a:t>
            </a:r>
            <a:r>
              <a:rPr lang="zh-CN" altLang="en-US" sz="2000" dirty="0" smtClean="0">
                <a:solidFill>
                  <a:srgbClr val="FF0000"/>
                </a:solidFill>
              </a:rPr>
              <a:t>处理任何其他任务</a:t>
            </a:r>
            <a:r>
              <a:rPr lang="zh-CN" altLang="en-US" sz="2000" dirty="0" smtClean="0"/>
              <a:t>，如计算</a:t>
            </a:r>
            <a:r>
              <a:rPr lang="en-US" altLang="zh-CN" sz="2000" dirty="0" smtClean="0"/>
              <a:t>PI</a:t>
            </a:r>
            <a:r>
              <a:rPr lang="zh-CN" altLang="en-US" sz="2000" dirty="0" smtClean="0"/>
              <a:t>的值</a:t>
            </a:r>
            <a:endParaRPr lang="zh-CN" altLang="en-US" sz="2000" dirty="0"/>
          </a:p>
          <a:p>
            <a:pPr marL="0" indent="0">
              <a:buNone/>
            </a:pPr>
            <a:r>
              <a:rPr lang="zh-CN" altLang="en-US" sz="2400" dirty="0" smtClean="0"/>
              <a:t>}</a:t>
            </a:r>
            <a:endParaRPr lang="zh-CN" altLang="en-US" sz="2400" dirty="0"/>
          </a:p>
        </p:txBody>
      </p:sp>
      <p:sp>
        <p:nvSpPr>
          <p:cNvPr id="2" name="文本框 1"/>
          <p:cNvSpPr txBox="1"/>
          <p:nvPr/>
        </p:nvSpPr>
        <p:spPr>
          <a:xfrm>
            <a:off x="293076" y="1501782"/>
            <a:ext cx="3481755" cy="584775"/>
          </a:xfrm>
          <a:prstGeom prst="rect">
            <a:avLst/>
          </a:prstGeom>
          <a:noFill/>
        </p:spPr>
        <p:txBody>
          <a:bodyPr wrap="square" rtlCol="0">
            <a:spAutoFit/>
          </a:bodyPr>
          <a:lstStyle/>
          <a:p>
            <a:r>
              <a:rPr lang="zh-CN" altLang="en-US" sz="3200" dirty="0"/>
              <a:t>精确延时功能</a:t>
            </a:r>
            <a:endParaRPr lang="zh-CN" altLang="en-US" sz="3200" dirty="0"/>
          </a:p>
        </p:txBody>
      </p:sp>
      <p:graphicFrame>
        <p:nvGraphicFramePr>
          <p:cNvPr id="6" name="图示 5"/>
          <p:cNvGraphicFramePr/>
          <p:nvPr/>
        </p:nvGraphicFramePr>
        <p:xfrm>
          <a:off x="6307015" y="152400"/>
          <a:ext cx="2450124" cy="651803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 name="标题 1"/>
          <p:cNvSpPr txBox="1"/>
          <p:nvPr/>
        </p:nvSpPr>
        <p:spPr>
          <a:xfrm>
            <a:off x="128953" y="293076"/>
            <a:ext cx="7886700" cy="66821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smtClean="0"/>
              <a:t>代码示例</a:t>
            </a:r>
            <a:r>
              <a:rPr lang="en-US" altLang="zh-CN" dirty="0" smtClean="0"/>
              <a:t>1</a:t>
            </a:r>
            <a:r>
              <a:rPr lang="zh-CN" altLang="en-US" dirty="0" smtClean="0"/>
              <a:t>（内部中断）</a:t>
            </a:r>
            <a:endParaRPr lang="zh-CN" altLang="en-US"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内容占位符 2"/>
          <p:cNvSpPr>
            <a:spLocks noGrp="1"/>
          </p:cNvSpPr>
          <p:nvPr>
            <p:ph idx="1"/>
          </p:nvPr>
        </p:nvSpPr>
        <p:spPr/>
        <p:txBody>
          <a:bodyPr/>
          <a:lstStyle/>
          <a:p>
            <a:pPr>
              <a:tabLst>
                <a:tab pos="445770" algn="l"/>
              </a:tabLst>
            </a:pPr>
            <a:r>
              <a:rPr lang="en-US" altLang="zh-CN" dirty="0" err="1" smtClean="0">
                <a:latin typeface="Times-Roman"/>
              </a:rPr>
              <a:t>NVIC_DeInit</a:t>
            </a:r>
            <a:r>
              <a:rPr lang="zh-CN" altLang="en-US" dirty="0" smtClean="0">
                <a:latin typeface="Times-Roman"/>
              </a:rPr>
              <a:t>：将</a:t>
            </a:r>
            <a:r>
              <a:rPr lang="en-US" altLang="zh-CN" dirty="0" err="1" smtClean="0">
                <a:latin typeface="Times-Roman"/>
              </a:rPr>
              <a:t>NVIC</a:t>
            </a:r>
            <a:r>
              <a:rPr lang="zh-CN" altLang="en-US" dirty="0" smtClean="0">
                <a:latin typeface="Times-Roman"/>
              </a:rPr>
              <a:t>的寄存器恢复为复位启动时的默认值。</a:t>
            </a:r>
            <a:endParaRPr lang="en-US" altLang="zh-CN" sz="3200" dirty="0" smtClean="0"/>
          </a:p>
          <a:p>
            <a:pPr>
              <a:tabLst>
                <a:tab pos="445770" algn="l"/>
              </a:tabLst>
            </a:pPr>
            <a:r>
              <a:rPr lang="en-US" altLang="zh-CN" dirty="0" err="1" smtClean="0">
                <a:latin typeface="Times-Roman"/>
              </a:rPr>
              <a:t>NVIC_PriorityGroupConfig</a:t>
            </a:r>
            <a:r>
              <a:rPr lang="zh-CN" altLang="en-US" dirty="0" smtClean="0">
                <a:latin typeface="Times-Roman"/>
              </a:rPr>
              <a:t>：设置优先级分组。</a:t>
            </a:r>
            <a:endParaRPr lang="zh-CN" altLang="en-US" dirty="0" smtClean="0">
              <a:latin typeface="Times-Roman"/>
            </a:endParaRPr>
          </a:p>
          <a:p>
            <a:pPr>
              <a:tabLst>
                <a:tab pos="445770" algn="l"/>
              </a:tabLst>
            </a:pPr>
            <a:r>
              <a:rPr lang="en-US" altLang="zh-CN" dirty="0" err="1" smtClean="0">
                <a:latin typeface="Times-Roman"/>
              </a:rPr>
              <a:t>NVIC_Init</a:t>
            </a:r>
            <a:r>
              <a:rPr lang="zh-CN" altLang="en-US" dirty="0" smtClean="0">
                <a:latin typeface="Times-Roman"/>
              </a:rPr>
              <a:t>：根据</a:t>
            </a:r>
            <a:r>
              <a:rPr lang="en-US" altLang="zh-CN" dirty="0" err="1" smtClean="0">
                <a:latin typeface="Times-Roman"/>
              </a:rPr>
              <a:t>NVIC_InitStruct</a:t>
            </a:r>
            <a:r>
              <a:rPr lang="zh-CN" altLang="en-US" dirty="0" smtClean="0">
                <a:latin typeface="Times-Roman"/>
              </a:rPr>
              <a:t>中指定的参数初始化</a:t>
            </a:r>
            <a:r>
              <a:rPr lang="en-US" altLang="zh-CN" dirty="0" err="1" smtClean="0">
                <a:latin typeface="Times-Roman"/>
              </a:rPr>
              <a:t>NVIC</a:t>
            </a:r>
            <a:r>
              <a:rPr lang="zh-CN" altLang="en-US" dirty="0" smtClean="0">
                <a:latin typeface="Times-Roman"/>
              </a:rPr>
              <a:t>。</a:t>
            </a:r>
            <a:endParaRPr lang="en-US" altLang="zh-CN" dirty="0" smtClean="0">
              <a:latin typeface="Times-Roman"/>
            </a:endParaRPr>
          </a:p>
          <a:p>
            <a:pPr>
              <a:tabLst>
                <a:tab pos="445770" algn="l"/>
              </a:tabLst>
            </a:pPr>
            <a:r>
              <a:rPr lang="en-US" altLang="zh-CN" dirty="0" err="1" smtClean="0">
                <a:latin typeface="Times-Roman"/>
              </a:rPr>
              <a:t>PPP_IRQHandler</a:t>
            </a:r>
            <a:r>
              <a:rPr lang="zh-CN" altLang="en-US" dirty="0" smtClean="0">
                <a:latin typeface="Times-Roman"/>
              </a:rPr>
              <a:t>：中断服务函数。</a:t>
            </a:r>
            <a:endParaRPr lang="zh-CN" altLang="en-US" dirty="0" smtClean="0">
              <a:latin typeface="Times-Roman"/>
            </a:endParaRPr>
          </a:p>
        </p:txBody>
      </p:sp>
      <p:sp>
        <p:nvSpPr>
          <p:cNvPr id="5" name="矩形 4"/>
          <p:cNvSpPr/>
          <p:nvPr/>
        </p:nvSpPr>
        <p:spPr>
          <a:xfrm>
            <a:off x="194774" y="462772"/>
            <a:ext cx="7468769" cy="553998"/>
          </a:xfrm>
          <a:prstGeom prst="rect">
            <a:avLst/>
          </a:prstGeom>
          <a:noFill/>
        </p:spPr>
        <p:txBody>
          <a:bodyPr wrap="square">
            <a:spAutoFit/>
          </a:bodyPr>
          <a:lstStyle/>
          <a:p>
            <a:pPr>
              <a:defRPr/>
            </a:pPr>
            <a:r>
              <a:rPr lang="en-US" altLang="zh-CN" sz="3000" b="1" dirty="0" err="1"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STM32F103</a:t>
            </a:r>
            <a:r>
              <a:rPr lang="zh-CN" altLang="en-US" sz="3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中断库函数</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2204" y="419243"/>
            <a:ext cx="8470251" cy="646331"/>
          </a:xfrm>
          <a:prstGeom prst="rect">
            <a:avLst/>
          </a:prstGeom>
          <a:noFill/>
        </p:spPr>
        <p:txBody>
          <a:bodyPr wrap="square">
            <a:spAutoFit/>
          </a:bodyPr>
          <a:lstStyle/>
          <a:p>
            <a:pPr>
              <a:defRPr/>
            </a:pPr>
            <a:r>
              <a:rPr lang="en-US" altLang="zh-CN" sz="3600" b="1" dirty="0" err="1" smtClean="0">
                <a:ln w="10541" cmpd="sng">
                  <a:solidFill>
                    <a:schemeClr val="accent1">
                      <a:shade val="88000"/>
                      <a:satMod val="110000"/>
                    </a:schemeClr>
                  </a:solidFill>
                  <a:prstDash val="solid"/>
                </a:ln>
                <a:solidFill>
                  <a:srgbClr val="66FF33"/>
                </a:solidFill>
                <a:latin typeface="Arial" panose="020B0604020202020204" pitchFamily="34" charset="0"/>
              </a:rPr>
              <a:t>STM32</a:t>
            </a:r>
            <a:r>
              <a:rPr lang="zh-CN" altLang="en-US" sz="3600" b="1" dirty="0">
                <a:ln w="10541" cmpd="sng">
                  <a:solidFill>
                    <a:schemeClr val="accent1">
                      <a:shade val="88000"/>
                      <a:satMod val="110000"/>
                    </a:schemeClr>
                  </a:solidFill>
                  <a:prstDash val="solid"/>
                </a:ln>
                <a:solidFill>
                  <a:srgbClr val="66FF33"/>
                </a:solidFill>
                <a:latin typeface="Arial" panose="020B0604020202020204" pitchFamily="34" charset="0"/>
              </a:rPr>
              <a:t>中断相关库函数</a:t>
            </a:r>
            <a:endParaRPr lang="zh-CN" altLang="en-US" sz="3600" b="1" dirty="0">
              <a:ln w="10541" cmpd="sng">
                <a:solidFill>
                  <a:schemeClr val="accent1">
                    <a:shade val="88000"/>
                    <a:satMod val="110000"/>
                  </a:schemeClr>
                </a:solidFill>
                <a:prstDash val="solid"/>
              </a:ln>
              <a:solidFill>
                <a:srgbClr val="66FF33"/>
              </a:solidFill>
              <a:latin typeface="Arial" panose="020B0604020202020204" pitchFamily="34" charset="0"/>
            </a:endParaRPr>
          </a:p>
        </p:txBody>
      </p:sp>
      <p:sp>
        <p:nvSpPr>
          <p:cNvPr id="3" name="矩形 2"/>
          <p:cNvSpPr/>
          <p:nvPr/>
        </p:nvSpPr>
        <p:spPr>
          <a:xfrm>
            <a:off x="281861" y="995628"/>
            <a:ext cx="7468769" cy="553998"/>
          </a:xfrm>
          <a:prstGeom prst="rect">
            <a:avLst/>
          </a:prstGeom>
          <a:noFill/>
        </p:spPr>
        <p:txBody>
          <a:bodyPr wrap="square">
            <a:spAutoFit/>
          </a:bodyPr>
          <a:lstStyle/>
          <a:p>
            <a:pPr>
              <a:defRPr/>
            </a:pPr>
            <a:r>
              <a:rPr lang="en-US" altLang="zh-CN" sz="3000" b="1" dirty="0" err="1"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STM32F10x</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的</a:t>
            </a:r>
            <a:r>
              <a:rPr lang="en-US" altLang="zh-CN"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NVIC</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相关库函数</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矩形 3"/>
          <p:cNvSpPr/>
          <p:nvPr/>
        </p:nvSpPr>
        <p:spPr>
          <a:xfrm>
            <a:off x="346386" y="1574333"/>
            <a:ext cx="3318537" cy="492443"/>
          </a:xfrm>
          <a:prstGeom prst="rect">
            <a:avLst/>
          </a:prstGeom>
        </p:spPr>
        <p:txBody>
          <a:bodyPr wrap="none">
            <a:spAutoFit/>
          </a:bodyPr>
          <a:lstStyle/>
          <a:p>
            <a:r>
              <a:rPr lang="en-US" altLang="zh-CN" sz="2600" dirty="0">
                <a:ln w="10541" cmpd="sng">
                  <a:solidFill>
                    <a:srgbClr val="7030A0"/>
                  </a:solidFill>
                  <a:prstDash val="solid"/>
                </a:ln>
                <a:solidFill>
                  <a:srgbClr val="C00000"/>
                </a:solidFill>
                <a:latin typeface="Arial" panose="020B0604020202020204" pitchFamily="34" charset="0"/>
              </a:rPr>
              <a:t>1</a:t>
            </a:r>
            <a:r>
              <a:rPr lang="en-US" altLang="zh-CN" sz="2600" dirty="0" smtClean="0">
                <a:ln w="10541" cmpd="sng">
                  <a:solidFill>
                    <a:srgbClr val="7030A0"/>
                  </a:solidFill>
                  <a:prstDash val="solid"/>
                </a:ln>
                <a:solidFill>
                  <a:srgbClr val="C00000"/>
                </a:solidFill>
                <a:latin typeface="Arial" panose="020B0604020202020204" pitchFamily="34" charset="0"/>
              </a:rPr>
              <a:t>.</a:t>
            </a:r>
            <a:r>
              <a:rPr lang="zh-CN" altLang="en-US" sz="2600" dirty="0">
                <a:ln w="10541" cmpd="sng">
                  <a:solidFill>
                    <a:srgbClr val="7030A0"/>
                  </a:solidFill>
                  <a:prstDash val="solid"/>
                </a:ln>
                <a:solidFill>
                  <a:srgbClr val="C00000"/>
                </a:solidFill>
                <a:latin typeface="Arial" panose="020B0604020202020204" pitchFamily="34" charset="0"/>
              </a:rPr>
              <a:t>函数</a:t>
            </a:r>
            <a:r>
              <a:rPr lang="en-US" altLang="zh-CN" sz="2600" dirty="0" err="1">
                <a:ln w="10541" cmpd="sng">
                  <a:solidFill>
                    <a:srgbClr val="7030A0"/>
                  </a:solidFill>
                  <a:prstDash val="solid"/>
                </a:ln>
                <a:solidFill>
                  <a:srgbClr val="C00000"/>
                </a:solidFill>
                <a:latin typeface="Arial" panose="020B0604020202020204" pitchFamily="34" charset="0"/>
              </a:rPr>
              <a:t>NVIC_DeInit</a:t>
            </a:r>
            <a:r>
              <a:rPr lang="zh-CN" altLang="en-US" sz="2600" dirty="0" smtClean="0">
                <a:ln w="10541" cmpd="sng">
                  <a:solidFill>
                    <a:srgbClr val="7030A0"/>
                  </a:solidFill>
                  <a:prstDash val="solid"/>
                </a:ln>
                <a:solidFill>
                  <a:srgbClr val="C00000"/>
                </a:solidFill>
                <a:latin typeface="Arial" panose="020B0604020202020204" pitchFamily="34" charset="0"/>
              </a:rPr>
              <a:t>：</a:t>
            </a:r>
            <a:endParaRPr lang="zh-CN" altLang="en-US" sz="2600" dirty="0">
              <a:ln w="10541" cmpd="sng">
                <a:solidFill>
                  <a:srgbClr val="7030A0"/>
                </a:solidFill>
                <a:prstDash val="solid"/>
              </a:ln>
              <a:solidFill>
                <a:srgbClr val="C00000"/>
              </a:solidFill>
              <a:latin typeface="Arial" panose="020B0604020202020204" pitchFamily="34" charset="0"/>
            </a:endParaRPr>
          </a:p>
        </p:txBody>
      </p:sp>
      <p:graphicFrame>
        <p:nvGraphicFramePr>
          <p:cNvPr id="6" name="表格 5"/>
          <p:cNvGraphicFramePr>
            <a:graphicFrameLocks noGrp="1"/>
          </p:cNvGraphicFramePr>
          <p:nvPr/>
        </p:nvGraphicFramePr>
        <p:xfrm>
          <a:off x="567598" y="2184311"/>
          <a:ext cx="7241088" cy="2628628"/>
        </p:xfrm>
        <a:graphic>
          <a:graphicData uri="http://schemas.openxmlformats.org/drawingml/2006/table">
            <a:tbl>
              <a:tblPr firstRow="1" firstCol="1" bandRow="1">
                <a:tableStyleId>{2D5ABB26-0587-4C30-8999-92F81FD0307C}</a:tableStyleId>
              </a:tblPr>
              <a:tblGrid>
                <a:gridCol w="2480612"/>
                <a:gridCol w="4760476"/>
              </a:tblGrid>
              <a:tr h="399234">
                <a:tc>
                  <a:txBody>
                    <a:bodyPr/>
                    <a:lstStyle/>
                    <a:p>
                      <a:pPr algn="l">
                        <a:spcAft>
                          <a:spcPts val="0"/>
                        </a:spcAft>
                      </a:pPr>
                      <a:r>
                        <a:rPr lang="zh-CN" sz="1800" kern="0" dirty="0">
                          <a:effectLst/>
                          <a:latin typeface="Times New Roman" panose="02020603050405020304" pitchFamily="18" charset="0"/>
                          <a:ea typeface="宋体" panose="02010600030101010101" pitchFamily="2" charset="-122"/>
                          <a:cs typeface="Times New Roman" panose="02020603050405020304" pitchFamily="18" charset="0"/>
                        </a:rPr>
                        <a:t>函数名 </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800" kern="0">
                          <a:effectLst/>
                          <a:latin typeface="Times New Roman" panose="02020603050405020304" pitchFamily="18" charset="0"/>
                          <a:ea typeface="宋体" panose="02010600030101010101" pitchFamily="2" charset="-122"/>
                          <a:cs typeface="Times New Roman" panose="02020603050405020304" pitchFamily="18" charset="0"/>
                        </a:rPr>
                        <a:t>NVIC_DeInit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8342">
                <a:tc>
                  <a:txBody>
                    <a:bodyPr/>
                    <a:lstStyle/>
                    <a:p>
                      <a:pPr algn="l">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函数原形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800" kern="0" dirty="0">
                          <a:effectLst/>
                          <a:latin typeface="Times New Roman" panose="02020603050405020304" pitchFamily="18" charset="0"/>
                          <a:ea typeface="宋体" panose="02010600030101010101" pitchFamily="2" charset="-122"/>
                          <a:cs typeface="Times New Roman" panose="02020603050405020304" pitchFamily="18" charset="0"/>
                        </a:rPr>
                        <a:t>void </a:t>
                      </a:r>
                      <a:r>
                        <a:rPr lang="en-US" sz="1800" kern="0" dirty="0" err="1">
                          <a:effectLst/>
                          <a:latin typeface="Times New Roman" panose="02020603050405020304" pitchFamily="18" charset="0"/>
                          <a:ea typeface="宋体" panose="02010600030101010101" pitchFamily="2" charset="-122"/>
                          <a:cs typeface="Times New Roman" panose="02020603050405020304" pitchFamily="18" charset="0"/>
                        </a:rPr>
                        <a:t>NVIC_DeInit</a:t>
                      </a:r>
                      <a:r>
                        <a:rPr lang="en-US" sz="1800" kern="0" dirty="0">
                          <a:effectLst/>
                          <a:latin typeface="Times New Roman" panose="02020603050405020304" pitchFamily="18" charset="0"/>
                          <a:ea typeface="宋体" panose="02010600030101010101" pitchFamily="2" charset="-122"/>
                          <a:cs typeface="Times New Roman" panose="02020603050405020304" pitchFamily="18" charset="0"/>
                        </a:rPr>
                        <a:t>(void)</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6651">
                <a:tc>
                  <a:txBody>
                    <a:bodyPr/>
                    <a:lstStyle/>
                    <a:p>
                      <a:pPr algn="l">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功能描述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将外设</a:t>
                      </a:r>
                      <a:r>
                        <a:rPr lang="en-US" sz="1800" kern="0">
                          <a:effectLst/>
                          <a:latin typeface="Times New Roman" panose="02020603050405020304" pitchFamily="18" charset="0"/>
                          <a:ea typeface="宋体" panose="02010600030101010101" pitchFamily="2" charset="-122"/>
                          <a:cs typeface="Times New Roman" panose="02020603050405020304" pitchFamily="18" charset="0"/>
                        </a:rPr>
                        <a:t> NVIC </a:t>
                      </a:r>
                      <a:r>
                        <a:rPr lang="zh-CN" sz="1800" kern="0">
                          <a:effectLst/>
                          <a:latin typeface="Times New Roman" panose="02020603050405020304" pitchFamily="18" charset="0"/>
                          <a:ea typeface="宋体" panose="02010600030101010101" pitchFamily="2" charset="-122"/>
                          <a:cs typeface="Times New Roman" panose="02020603050405020304" pitchFamily="18" charset="0"/>
                        </a:rPr>
                        <a:t>寄存器重设为缺省值</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7121">
                <a:tc>
                  <a:txBody>
                    <a:bodyPr/>
                    <a:lstStyle/>
                    <a:p>
                      <a:pPr algn="l">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输入参数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dirty="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9172">
                <a:tc>
                  <a:txBody>
                    <a:bodyPr/>
                    <a:lstStyle/>
                    <a:p>
                      <a:pPr algn="l">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输出参数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9172">
                <a:tc>
                  <a:txBody>
                    <a:bodyPr/>
                    <a:lstStyle/>
                    <a:p>
                      <a:pPr algn="l">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返回值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9172">
                <a:tc>
                  <a:txBody>
                    <a:bodyPr/>
                    <a:lstStyle/>
                    <a:p>
                      <a:pPr algn="l">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先决条件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9172">
                <a:tc>
                  <a:txBody>
                    <a:bodyPr/>
                    <a:lstStyle/>
                    <a:p>
                      <a:pPr algn="l">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被调用函数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dirty="0">
                          <a:effectLst/>
                          <a:latin typeface="Times New Roman" panose="02020603050405020304" pitchFamily="18" charset="0"/>
                          <a:ea typeface="宋体" panose="02010600030101010101" pitchFamily="2" charset="-122"/>
                          <a:cs typeface="Times New Roman" panose="02020603050405020304" pitchFamily="18" charset="0"/>
                        </a:rPr>
                        <a:t>无</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59076" y="677239"/>
            <a:ext cx="2892138" cy="492443"/>
          </a:xfrm>
          <a:prstGeom prst="rect">
            <a:avLst/>
          </a:prstGeom>
        </p:spPr>
        <p:txBody>
          <a:bodyPr wrap="none">
            <a:spAutoFit/>
          </a:bodyPr>
          <a:lstStyle/>
          <a:p>
            <a:r>
              <a:rPr lang="en-US" altLang="zh-CN" sz="2600" dirty="0" smtClean="0">
                <a:ln w="10541" cmpd="sng">
                  <a:solidFill>
                    <a:srgbClr val="7030A0"/>
                  </a:solidFill>
                  <a:prstDash val="solid"/>
                </a:ln>
                <a:solidFill>
                  <a:srgbClr val="C00000"/>
                </a:solidFill>
                <a:latin typeface="Arial" panose="020B0604020202020204" pitchFamily="34" charset="0"/>
              </a:rPr>
              <a:t>2.</a:t>
            </a:r>
            <a:r>
              <a:rPr lang="zh-CN" altLang="en-US" sz="2600" dirty="0">
                <a:ln w="10541" cmpd="sng">
                  <a:solidFill>
                    <a:srgbClr val="7030A0"/>
                  </a:solidFill>
                  <a:prstDash val="solid"/>
                </a:ln>
                <a:solidFill>
                  <a:srgbClr val="C00000"/>
                </a:solidFill>
                <a:latin typeface="Arial" panose="020B0604020202020204" pitchFamily="34" charset="0"/>
              </a:rPr>
              <a:t>函数</a:t>
            </a:r>
            <a:r>
              <a:rPr lang="en-US" altLang="zh-CN" sz="2600" dirty="0" err="1">
                <a:ln w="10541" cmpd="sng">
                  <a:solidFill>
                    <a:srgbClr val="7030A0"/>
                  </a:solidFill>
                  <a:prstDash val="solid"/>
                </a:ln>
                <a:solidFill>
                  <a:srgbClr val="C00000"/>
                </a:solidFill>
                <a:latin typeface="Arial" panose="020B0604020202020204" pitchFamily="34" charset="0"/>
              </a:rPr>
              <a:t>NVIC_Init</a:t>
            </a:r>
            <a:r>
              <a:rPr lang="zh-CN" altLang="en-US" sz="2600" dirty="0" smtClean="0">
                <a:ln w="10541" cmpd="sng">
                  <a:solidFill>
                    <a:srgbClr val="7030A0"/>
                  </a:solidFill>
                  <a:prstDash val="solid"/>
                </a:ln>
                <a:solidFill>
                  <a:srgbClr val="C00000"/>
                </a:solidFill>
                <a:latin typeface="Arial" panose="020B0604020202020204" pitchFamily="34" charset="0"/>
              </a:rPr>
              <a:t>：</a:t>
            </a:r>
            <a:endParaRPr lang="zh-CN" altLang="en-US" sz="2600" dirty="0">
              <a:ln w="10541" cmpd="sng">
                <a:solidFill>
                  <a:srgbClr val="7030A0"/>
                </a:solidFill>
                <a:prstDash val="solid"/>
              </a:ln>
              <a:solidFill>
                <a:srgbClr val="C00000"/>
              </a:solidFill>
              <a:latin typeface="Arial" panose="020B0604020202020204" pitchFamily="34" charset="0"/>
            </a:endParaRPr>
          </a:p>
        </p:txBody>
      </p:sp>
      <p:graphicFrame>
        <p:nvGraphicFramePr>
          <p:cNvPr id="3" name="表格 2"/>
          <p:cNvGraphicFramePr>
            <a:graphicFrameLocks noGrp="1"/>
          </p:cNvGraphicFramePr>
          <p:nvPr/>
        </p:nvGraphicFramePr>
        <p:xfrm>
          <a:off x="559076" y="1382929"/>
          <a:ext cx="7736114" cy="2635830"/>
        </p:xfrm>
        <a:graphic>
          <a:graphicData uri="http://schemas.openxmlformats.org/drawingml/2006/table">
            <a:tbl>
              <a:tblPr firstRow="1" firstCol="1" bandRow="1">
                <a:tableStyleId>{2D5ABB26-0587-4C30-8999-92F81FD0307C}</a:tableStyleId>
              </a:tblPr>
              <a:tblGrid>
                <a:gridCol w="1393371"/>
                <a:gridCol w="6342743"/>
              </a:tblGrid>
              <a:tr h="287356">
                <a:tc>
                  <a:txBody>
                    <a:bodyPr/>
                    <a:lstStyle/>
                    <a:p>
                      <a:pPr algn="l">
                        <a:spcAft>
                          <a:spcPts val="0"/>
                        </a:spcAft>
                      </a:pPr>
                      <a:r>
                        <a:rPr lang="zh-CN" sz="1800" kern="0" dirty="0">
                          <a:effectLst/>
                        </a:rPr>
                        <a:t>函数名 </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800" kern="0">
                          <a:effectLst/>
                        </a:rPr>
                        <a:t>NVIC_Init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7356">
                <a:tc>
                  <a:txBody>
                    <a:bodyPr/>
                    <a:lstStyle/>
                    <a:p>
                      <a:pPr algn="l">
                        <a:spcAft>
                          <a:spcPts val="0"/>
                        </a:spcAft>
                      </a:pPr>
                      <a:r>
                        <a:rPr lang="zh-CN" sz="1800" kern="0">
                          <a:effectLst/>
                        </a:rPr>
                        <a:t>函数原形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800" kern="0" dirty="0">
                          <a:effectLst/>
                        </a:rPr>
                        <a:t>void </a:t>
                      </a:r>
                      <a:r>
                        <a:rPr lang="en-US" sz="1800" kern="0" dirty="0" err="1">
                          <a:effectLst/>
                        </a:rPr>
                        <a:t>NVIC_Init</a:t>
                      </a:r>
                      <a:r>
                        <a:rPr lang="en-US" sz="1800" kern="0" dirty="0">
                          <a:effectLst/>
                        </a:rPr>
                        <a:t>(</a:t>
                      </a:r>
                      <a:r>
                        <a:rPr lang="en-US" sz="1800" kern="0" dirty="0" err="1">
                          <a:effectLst/>
                        </a:rPr>
                        <a:t>NVIC_InitTypeDef</a:t>
                      </a:r>
                      <a:r>
                        <a:rPr lang="en-US" sz="1800" kern="0" dirty="0">
                          <a:effectLst/>
                        </a:rPr>
                        <a:t>* </a:t>
                      </a:r>
                      <a:r>
                        <a:rPr lang="en-US" sz="1800" kern="0" dirty="0" err="1">
                          <a:effectLst/>
                        </a:rPr>
                        <a:t>NVIC_InitStruct</a:t>
                      </a:r>
                      <a:r>
                        <a:rPr lang="en-US" sz="1800" kern="0" dirty="0">
                          <a:effectLst/>
                        </a:rPr>
                        <a:t>)</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7356">
                <a:tc>
                  <a:txBody>
                    <a:bodyPr/>
                    <a:lstStyle/>
                    <a:p>
                      <a:pPr algn="l">
                        <a:spcAft>
                          <a:spcPts val="0"/>
                        </a:spcAft>
                      </a:pPr>
                      <a:r>
                        <a:rPr lang="zh-CN" sz="1800" kern="0">
                          <a:effectLst/>
                        </a:rPr>
                        <a:t>功能描述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rPr>
                        <a:t>根据</a:t>
                      </a:r>
                      <a:r>
                        <a:rPr lang="en-US" sz="1800" kern="0">
                          <a:effectLst/>
                        </a:rPr>
                        <a:t> NVIC_InitStruct </a:t>
                      </a:r>
                      <a:r>
                        <a:rPr lang="zh-CN" sz="1800" kern="0">
                          <a:effectLst/>
                        </a:rPr>
                        <a:t>中指定的参数初始化外设</a:t>
                      </a:r>
                      <a:r>
                        <a:rPr lang="en-US" sz="1800" kern="0">
                          <a:effectLst/>
                        </a:rPr>
                        <a:t> NVIC </a:t>
                      </a:r>
                      <a:r>
                        <a:rPr lang="zh-CN" sz="1800" kern="0">
                          <a:effectLst/>
                        </a:rPr>
                        <a:t>寄存器</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74711">
                <a:tc>
                  <a:txBody>
                    <a:bodyPr/>
                    <a:lstStyle/>
                    <a:p>
                      <a:pPr algn="l">
                        <a:spcAft>
                          <a:spcPts val="0"/>
                        </a:spcAft>
                      </a:pPr>
                      <a:r>
                        <a:rPr lang="zh-CN" sz="1800" kern="0">
                          <a:effectLst/>
                        </a:rPr>
                        <a:t>输入参数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800" kern="0" dirty="0" err="1">
                          <a:effectLst/>
                        </a:rPr>
                        <a:t>NVIC_InitStruct</a:t>
                      </a:r>
                      <a:r>
                        <a:rPr lang="zh-CN" sz="1800" kern="0" dirty="0">
                          <a:effectLst/>
                        </a:rPr>
                        <a:t>：指向结构</a:t>
                      </a:r>
                      <a:r>
                        <a:rPr lang="en-US" sz="1800" kern="0" dirty="0">
                          <a:effectLst/>
                        </a:rPr>
                        <a:t> </a:t>
                      </a:r>
                      <a:r>
                        <a:rPr lang="en-US" sz="1800" kern="0" dirty="0" err="1">
                          <a:effectLst/>
                        </a:rPr>
                        <a:t>NVIC_InitTypeDef</a:t>
                      </a:r>
                      <a:r>
                        <a:rPr lang="en-US" sz="1800" kern="0" dirty="0">
                          <a:effectLst/>
                        </a:rPr>
                        <a:t> </a:t>
                      </a:r>
                      <a:r>
                        <a:rPr lang="zh-CN" sz="1800" kern="0" dirty="0">
                          <a:effectLst/>
                        </a:rPr>
                        <a:t>的指针，包含了外设</a:t>
                      </a:r>
                      <a:r>
                        <a:rPr lang="en-US" sz="1800" kern="0" dirty="0">
                          <a:effectLst/>
                        </a:rPr>
                        <a:t> GPIO </a:t>
                      </a:r>
                      <a:r>
                        <a:rPr lang="zh-CN" sz="1800" kern="0" dirty="0">
                          <a:effectLst/>
                        </a:rPr>
                        <a:t>的配置信息</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7356">
                <a:tc>
                  <a:txBody>
                    <a:bodyPr/>
                    <a:lstStyle/>
                    <a:p>
                      <a:pPr algn="l">
                        <a:spcAft>
                          <a:spcPts val="0"/>
                        </a:spcAft>
                      </a:pPr>
                      <a:r>
                        <a:rPr lang="zh-CN" sz="1800" kern="0">
                          <a:effectLst/>
                        </a:rPr>
                        <a:t>输出参数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7356">
                <a:tc>
                  <a:txBody>
                    <a:bodyPr/>
                    <a:lstStyle/>
                    <a:p>
                      <a:pPr algn="l">
                        <a:spcAft>
                          <a:spcPts val="0"/>
                        </a:spcAft>
                      </a:pPr>
                      <a:r>
                        <a:rPr lang="zh-CN" sz="1800" kern="0">
                          <a:effectLst/>
                        </a:rPr>
                        <a:t>返回值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7356">
                <a:tc>
                  <a:txBody>
                    <a:bodyPr/>
                    <a:lstStyle/>
                    <a:p>
                      <a:pPr algn="l">
                        <a:spcAft>
                          <a:spcPts val="0"/>
                        </a:spcAft>
                      </a:pPr>
                      <a:r>
                        <a:rPr lang="zh-CN" sz="1800" kern="0">
                          <a:effectLst/>
                        </a:rPr>
                        <a:t>先决条件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36983">
                <a:tc>
                  <a:txBody>
                    <a:bodyPr/>
                    <a:lstStyle/>
                    <a:p>
                      <a:pPr algn="l">
                        <a:spcAft>
                          <a:spcPts val="0"/>
                        </a:spcAft>
                      </a:pPr>
                      <a:r>
                        <a:rPr lang="zh-CN" sz="1800" kern="0">
                          <a:effectLst/>
                        </a:rPr>
                        <a:t>被调用函数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dirty="0">
                          <a:effectLst/>
                        </a:rPr>
                        <a:t>无</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6" name="表格 5"/>
          <p:cNvGraphicFramePr>
            <a:graphicFrameLocks noGrp="1"/>
          </p:cNvGraphicFramePr>
          <p:nvPr/>
        </p:nvGraphicFramePr>
        <p:xfrm>
          <a:off x="559075" y="4804181"/>
          <a:ext cx="7940155" cy="1371600"/>
        </p:xfrm>
        <a:graphic>
          <a:graphicData uri="http://schemas.openxmlformats.org/drawingml/2006/table">
            <a:tbl>
              <a:tblPr firstRow="1" firstCol="1" bandRow="1">
                <a:tableStyleId>{2D5ABB26-0587-4C30-8999-92F81FD0307C}</a:tableStyleId>
              </a:tblPr>
              <a:tblGrid>
                <a:gridCol w="3902185"/>
                <a:gridCol w="4037970"/>
              </a:tblGrid>
              <a:tr h="0">
                <a:tc>
                  <a:txBody>
                    <a:bodyPr/>
                    <a:lstStyle/>
                    <a:p>
                      <a:pPr algn="l">
                        <a:spcAft>
                          <a:spcPts val="0"/>
                        </a:spcAft>
                      </a:pPr>
                      <a:r>
                        <a:rPr lang="zh-CN" altLang="en-US"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成员名称</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altLang="en-US"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意义</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en-US" altLang="zh-CN" sz="1800" kern="100" dirty="0" err="1" smtClean="0">
                          <a:effectLst/>
                          <a:latin typeface="Times New Roman" panose="02020603050405020304" pitchFamily="18" charset="0"/>
                          <a:ea typeface="宋体" panose="02010600030101010101" pitchFamily="2" charset="-122"/>
                          <a:cs typeface="Times New Roman" panose="02020603050405020304" pitchFamily="18" charset="0"/>
                        </a:rPr>
                        <a:t>NVIC_IRQChannel</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altLang="en-US"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选择</a:t>
                      </a:r>
                      <a:r>
                        <a:rPr lang="en-US" altLang="zh-CN" sz="1800" kern="100" dirty="0" err="1" smtClean="0">
                          <a:effectLst/>
                          <a:latin typeface="Times New Roman" panose="02020603050405020304" pitchFamily="18" charset="0"/>
                          <a:ea typeface="宋体" panose="02010600030101010101" pitchFamily="2" charset="-122"/>
                          <a:cs typeface="Times New Roman" panose="02020603050405020304" pitchFamily="18" charset="0"/>
                        </a:rPr>
                        <a:t>IRQ</a:t>
                      </a:r>
                      <a:r>
                        <a:rPr lang="zh-CN" altLang="en-US"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通道，可在</a:t>
                      </a:r>
                      <a:r>
                        <a:rPr lang="en-US" altLang="zh-CN" sz="1800" kern="100" dirty="0" err="1" smtClean="0">
                          <a:effectLst/>
                          <a:latin typeface="Times New Roman" panose="02020603050405020304" pitchFamily="18" charset="0"/>
                          <a:ea typeface="宋体" panose="02010600030101010101" pitchFamily="2" charset="-122"/>
                          <a:cs typeface="Times New Roman" panose="02020603050405020304" pitchFamily="18" charset="0"/>
                        </a:rPr>
                        <a:t>stm32f10x.h</a:t>
                      </a:r>
                      <a:r>
                        <a:rPr lang="zh-CN" altLang="en-US"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中查找</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en-US" altLang="zh-CN" sz="1800" kern="100" dirty="0" err="1" smtClean="0">
                          <a:effectLst/>
                          <a:latin typeface="Times New Roman" panose="02020603050405020304" pitchFamily="18" charset="0"/>
                          <a:ea typeface="宋体" panose="02010600030101010101" pitchFamily="2" charset="-122"/>
                          <a:cs typeface="Times New Roman" panose="02020603050405020304" pitchFamily="18" charset="0"/>
                        </a:rPr>
                        <a:t>NVIC_IRQChannelPreemptionPriority</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altLang="en-US"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设定抢占优先级</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en-US" altLang="zh-CN" sz="1800" kern="100" dirty="0" err="1" smtClean="0">
                          <a:effectLst/>
                          <a:latin typeface="Times New Roman" panose="02020603050405020304" pitchFamily="18" charset="0"/>
                          <a:ea typeface="宋体" panose="02010600030101010101" pitchFamily="2" charset="-122"/>
                          <a:cs typeface="Times New Roman" panose="02020603050405020304" pitchFamily="18" charset="0"/>
                        </a:rPr>
                        <a:t>NVIC_IRQChannelSubPriority</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altLang="en-US"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设定响应优先级</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en-US" altLang="zh-CN" sz="1800" kern="100" dirty="0" err="1" smtClean="0">
                          <a:effectLst/>
                          <a:latin typeface="Times New Roman" panose="02020603050405020304" pitchFamily="18" charset="0"/>
                          <a:ea typeface="宋体" panose="02010600030101010101" pitchFamily="2" charset="-122"/>
                          <a:cs typeface="Times New Roman" panose="02020603050405020304" pitchFamily="18" charset="0"/>
                        </a:rPr>
                        <a:t>NVIC_IRQChannelCmd</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altLang="en-US"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使能</a:t>
                      </a:r>
                      <a:r>
                        <a:rPr lang="en-US" altLang="zh-CN"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失能</a:t>
                      </a:r>
                      <a:r>
                        <a:rPr lang="en-US" altLang="zh-CN" sz="1800" kern="100" dirty="0" err="1" smtClean="0">
                          <a:effectLst/>
                          <a:latin typeface="Times New Roman" panose="02020603050405020304" pitchFamily="18" charset="0"/>
                          <a:ea typeface="宋体" panose="02010600030101010101" pitchFamily="2" charset="-122"/>
                          <a:cs typeface="Times New Roman" panose="02020603050405020304" pitchFamily="18" charset="0"/>
                        </a:rPr>
                        <a:t>IRQ</a:t>
                      </a:r>
                      <a:r>
                        <a:rPr lang="zh-CN" altLang="en-US"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通道</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7" name="文本框 6"/>
          <p:cNvSpPr txBox="1"/>
          <p:nvPr/>
        </p:nvSpPr>
        <p:spPr>
          <a:xfrm>
            <a:off x="554886" y="4344035"/>
            <a:ext cx="3469219" cy="369332"/>
          </a:xfrm>
          <a:prstGeom prst="rect">
            <a:avLst/>
          </a:prstGeom>
          <a:noFill/>
        </p:spPr>
        <p:txBody>
          <a:bodyPr wrap="none" rtlCol="0">
            <a:spAutoFit/>
          </a:bodyPr>
          <a:lstStyle/>
          <a:p>
            <a:r>
              <a:rPr lang="zh-CN" altLang="en-US" dirty="0" smtClean="0"/>
              <a:t>结构体</a:t>
            </a:r>
            <a:r>
              <a:rPr lang="en-US" altLang="zh-CN" kern="0" dirty="0" err="1"/>
              <a:t>NVIC_InitTypeDef</a:t>
            </a:r>
            <a:r>
              <a:rPr lang="zh-CN" altLang="en-US" dirty="0" smtClean="0"/>
              <a:t>成员列表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2215" y="384162"/>
            <a:ext cx="5376793" cy="492443"/>
          </a:xfrm>
          <a:prstGeom prst="rect">
            <a:avLst/>
          </a:prstGeom>
        </p:spPr>
        <p:txBody>
          <a:bodyPr wrap="none">
            <a:spAutoFit/>
          </a:bodyPr>
          <a:lstStyle/>
          <a:p>
            <a:r>
              <a:rPr lang="en-US" altLang="zh-CN" sz="2600" dirty="0" smtClean="0">
                <a:ln w="10541" cmpd="sng">
                  <a:solidFill>
                    <a:srgbClr val="7030A0"/>
                  </a:solidFill>
                  <a:prstDash val="solid"/>
                </a:ln>
                <a:solidFill>
                  <a:srgbClr val="C00000"/>
                </a:solidFill>
                <a:latin typeface="Arial" panose="020B0604020202020204" pitchFamily="34" charset="0"/>
              </a:rPr>
              <a:t>3.</a:t>
            </a:r>
            <a:r>
              <a:rPr lang="zh-CN" altLang="en-US" sz="2600" dirty="0">
                <a:ln w="10541" cmpd="sng">
                  <a:solidFill>
                    <a:srgbClr val="7030A0"/>
                  </a:solidFill>
                  <a:prstDash val="solid"/>
                </a:ln>
                <a:solidFill>
                  <a:srgbClr val="C00000"/>
                </a:solidFill>
                <a:latin typeface="Arial" panose="020B0604020202020204" pitchFamily="34" charset="0"/>
              </a:rPr>
              <a:t>函数</a:t>
            </a:r>
            <a:r>
              <a:rPr lang="en-US" altLang="zh-CN" sz="2600" dirty="0" err="1">
                <a:ln w="10541" cmpd="sng">
                  <a:solidFill>
                    <a:srgbClr val="7030A0"/>
                  </a:solidFill>
                  <a:prstDash val="solid"/>
                </a:ln>
                <a:solidFill>
                  <a:srgbClr val="C00000"/>
                </a:solidFill>
                <a:latin typeface="Arial" panose="020B0604020202020204" pitchFamily="34" charset="0"/>
              </a:rPr>
              <a:t>NVIC_PriorityGroupConfig</a:t>
            </a:r>
            <a:r>
              <a:rPr lang="zh-CN" altLang="en-US" sz="2600" dirty="0" smtClean="0">
                <a:ln w="10541" cmpd="sng">
                  <a:solidFill>
                    <a:srgbClr val="7030A0"/>
                  </a:solidFill>
                  <a:prstDash val="solid"/>
                </a:ln>
                <a:solidFill>
                  <a:srgbClr val="C00000"/>
                </a:solidFill>
                <a:latin typeface="Arial" panose="020B0604020202020204" pitchFamily="34" charset="0"/>
              </a:rPr>
              <a:t>：</a:t>
            </a:r>
            <a:endParaRPr lang="zh-CN" altLang="en-US" sz="2600" dirty="0">
              <a:ln w="10541" cmpd="sng">
                <a:solidFill>
                  <a:srgbClr val="7030A0"/>
                </a:solidFill>
                <a:prstDash val="solid"/>
              </a:ln>
              <a:solidFill>
                <a:srgbClr val="C00000"/>
              </a:solidFill>
              <a:latin typeface="Arial" panose="020B0604020202020204" pitchFamily="34" charset="0"/>
            </a:endParaRPr>
          </a:p>
        </p:txBody>
      </p:sp>
      <p:graphicFrame>
        <p:nvGraphicFramePr>
          <p:cNvPr id="3" name="表格 2"/>
          <p:cNvGraphicFramePr>
            <a:graphicFrameLocks noGrp="1"/>
          </p:cNvGraphicFramePr>
          <p:nvPr/>
        </p:nvGraphicFramePr>
        <p:xfrm>
          <a:off x="401877" y="986699"/>
          <a:ext cx="8277663" cy="2194560"/>
        </p:xfrm>
        <a:graphic>
          <a:graphicData uri="http://schemas.openxmlformats.org/drawingml/2006/table">
            <a:tbl>
              <a:tblPr firstRow="1" firstCol="1" bandRow="1">
                <a:tableStyleId>{2D5ABB26-0587-4C30-8999-92F81FD0307C}</a:tableStyleId>
              </a:tblPr>
              <a:tblGrid>
                <a:gridCol w="1777812"/>
                <a:gridCol w="6499851"/>
              </a:tblGrid>
              <a:tr h="0">
                <a:tc>
                  <a:txBody>
                    <a:bodyPr/>
                    <a:lstStyle/>
                    <a:p>
                      <a:pPr algn="l">
                        <a:spcAft>
                          <a:spcPts val="0"/>
                        </a:spcAft>
                      </a:pPr>
                      <a:r>
                        <a:rPr lang="zh-CN" sz="1800" kern="0">
                          <a:effectLst/>
                        </a:rPr>
                        <a:t>函数名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800" kern="0">
                          <a:effectLst/>
                        </a:rPr>
                        <a:t>NVIC_PriorityGroupConfig</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800" kern="0">
                          <a:effectLst/>
                        </a:rPr>
                        <a:t>函数原形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800" kern="0">
                          <a:effectLst/>
                        </a:rPr>
                        <a:t>void NVIC_PriorityGroupConfig(u32 NVIC_PriorityGroup)</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800" kern="0">
                          <a:effectLst/>
                        </a:rPr>
                        <a:t>功能描述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dirty="0">
                          <a:effectLst/>
                        </a:rPr>
                        <a:t>设置优先级分组</a:t>
                      </a:r>
                      <a:r>
                        <a:rPr lang="zh-CN" sz="1800" kern="0" dirty="0" smtClean="0">
                          <a:effectLst/>
                        </a:rPr>
                        <a:t>：</a:t>
                      </a:r>
                      <a:r>
                        <a:rPr lang="zh-CN" altLang="en-US" sz="1800" kern="0" dirty="0" smtClean="0">
                          <a:effectLst/>
                        </a:rPr>
                        <a:t>抢</a:t>
                      </a:r>
                      <a:r>
                        <a:rPr lang="zh-CN" sz="1800" kern="0" dirty="0" smtClean="0">
                          <a:effectLst/>
                        </a:rPr>
                        <a:t>占</a:t>
                      </a:r>
                      <a:r>
                        <a:rPr lang="zh-CN" sz="1800" kern="0" dirty="0">
                          <a:effectLst/>
                        </a:rPr>
                        <a:t>优先级</a:t>
                      </a:r>
                      <a:r>
                        <a:rPr lang="zh-CN" sz="1800" kern="0" dirty="0" smtClean="0">
                          <a:effectLst/>
                        </a:rPr>
                        <a:t>和</a:t>
                      </a:r>
                      <a:r>
                        <a:rPr lang="zh-CN" altLang="en-US" sz="1800" kern="0" dirty="0" smtClean="0">
                          <a:effectLst/>
                        </a:rPr>
                        <a:t>响应</a:t>
                      </a:r>
                      <a:r>
                        <a:rPr lang="zh-CN" sz="1800" kern="0" dirty="0" smtClean="0">
                          <a:effectLst/>
                        </a:rPr>
                        <a:t>优先级</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800" kern="0">
                          <a:effectLst/>
                        </a:rPr>
                        <a:t>输入参数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800" kern="0" dirty="0" err="1" smtClean="0">
                          <a:effectLst/>
                        </a:rPr>
                        <a:t>NVIC_PriorityGroup</a:t>
                      </a:r>
                      <a:r>
                        <a:rPr lang="zh-CN" altLang="en-US" sz="1800" kern="0" dirty="0" smtClean="0">
                          <a:effectLst/>
                        </a:rPr>
                        <a:t>定义如下</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800" kern="0">
                          <a:effectLst/>
                        </a:rPr>
                        <a:t>输出参数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800" kern="0">
                          <a:effectLst/>
                        </a:rPr>
                        <a:t>返回值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800" kern="0">
                          <a:effectLst/>
                        </a:rPr>
                        <a:t>先决条件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rPr>
                        <a:t>优先级分组只能设置一次</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800" kern="0">
                          <a:effectLst/>
                        </a:rPr>
                        <a:t>被调用函数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dirty="0">
                          <a:effectLst/>
                        </a:rPr>
                        <a:t>无</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矩形 3"/>
          <p:cNvSpPr/>
          <p:nvPr/>
        </p:nvSpPr>
        <p:spPr>
          <a:xfrm>
            <a:off x="172215" y="3613666"/>
            <a:ext cx="2881110" cy="400110"/>
          </a:xfrm>
          <a:prstGeom prst="rect">
            <a:avLst/>
          </a:prstGeom>
        </p:spPr>
        <p:txBody>
          <a:bodyPr wrap="none">
            <a:spAutoFit/>
          </a:bodyPr>
          <a:lstStyle/>
          <a:p>
            <a:r>
              <a:rPr lang="en-US" altLang="zh-CN" sz="2000" b="1" dirty="0" err="1">
                <a:latin typeface="Times New Roman" panose="02020603050405020304" pitchFamily="18" charset="0"/>
                <a:ea typeface="宋体" panose="02010600030101010101" pitchFamily="2" charset="-122"/>
                <a:cs typeface="Times New Roman" panose="02020603050405020304" pitchFamily="18" charset="0"/>
              </a:rPr>
              <a:t>NVIC_PriorityGroup</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值</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6" name="表格 5"/>
          <p:cNvGraphicFramePr>
            <a:graphicFrameLocks noGrp="1"/>
          </p:cNvGraphicFramePr>
          <p:nvPr/>
        </p:nvGraphicFramePr>
        <p:xfrm>
          <a:off x="428326" y="4100860"/>
          <a:ext cx="8207674" cy="2299938"/>
        </p:xfrm>
        <a:graphic>
          <a:graphicData uri="http://schemas.openxmlformats.org/drawingml/2006/table">
            <a:tbl>
              <a:tblPr firstRow="1" firstCol="1" bandRow="1">
                <a:tableStyleId>{2D5ABB26-0587-4C30-8999-92F81FD0307C}</a:tableStyleId>
              </a:tblPr>
              <a:tblGrid>
                <a:gridCol w="3755445"/>
                <a:gridCol w="4452229"/>
              </a:tblGrid>
              <a:tr h="383323">
                <a:tc>
                  <a:txBody>
                    <a:bodyPr/>
                    <a:lstStyle/>
                    <a:p>
                      <a:pPr algn="l">
                        <a:spcAft>
                          <a:spcPts val="0"/>
                        </a:spcAft>
                      </a:pPr>
                      <a:r>
                        <a:rPr lang="en-US" sz="1800" kern="0">
                          <a:effectLst/>
                        </a:rPr>
                        <a:t>NVIC_PriorityGroup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rPr>
                        <a:t>描述</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3323">
                <a:tc>
                  <a:txBody>
                    <a:bodyPr/>
                    <a:lstStyle/>
                    <a:p>
                      <a:pPr algn="l">
                        <a:spcAft>
                          <a:spcPts val="0"/>
                        </a:spcAft>
                      </a:pPr>
                      <a:r>
                        <a:rPr lang="en-US" sz="1800" kern="0">
                          <a:effectLst/>
                        </a:rPr>
                        <a:t>NVIC_PriorityGroup_0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altLang="en-US" sz="1800" kern="0" dirty="0" smtClean="0">
                          <a:effectLst/>
                        </a:rPr>
                        <a:t>抢</a:t>
                      </a:r>
                      <a:r>
                        <a:rPr lang="zh-CN" altLang="zh-CN" sz="1800" kern="0" dirty="0" smtClean="0">
                          <a:effectLst/>
                        </a:rPr>
                        <a:t>占</a:t>
                      </a:r>
                      <a:r>
                        <a:rPr lang="zh-CN" sz="1800" kern="0" dirty="0" smtClean="0">
                          <a:effectLst/>
                        </a:rPr>
                        <a:t>优先级</a:t>
                      </a:r>
                      <a:r>
                        <a:rPr lang="en-US" sz="1800" kern="0" dirty="0" smtClean="0">
                          <a:effectLst/>
                        </a:rPr>
                        <a:t> </a:t>
                      </a:r>
                      <a:r>
                        <a:rPr lang="en-US" sz="1800" kern="0" dirty="0">
                          <a:effectLst/>
                        </a:rPr>
                        <a:t>0 </a:t>
                      </a:r>
                      <a:r>
                        <a:rPr lang="zh-CN" sz="1800" kern="0" dirty="0" smtClean="0">
                          <a:effectLst/>
                        </a:rPr>
                        <a:t>位</a:t>
                      </a:r>
                      <a:r>
                        <a:rPr lang="zh-CN" altLang="en-US" sz="1800" kern="0" dirty="0" smtClean="0">
                          <a:effectLst/>
                        </a:rPr>
                        <a:t>，响应</a:t>
                      </a:r>
                      <a:r>
                        <a:rPr lang="zh-CN" sz="1800" kern="0" dirty="0" smtClean="0">
                          <a:effectLst/>
                        </a:rPr>
                        <a:t>优先级</a:t>
                      </a:r>
                      <a:r>
                        <a:rPr lang="en-US" sz="1800" kern="0" dirty="0" smtClean="0">
                          <a:effectLst/>
                        </a:rPr>
                        <a:t> </a:t>
                      </a:r>
                      <a:r>
                        <a:rPr lang="en-US" sz="1800" kern="0" dirty="0">
                          <a:effectLst/>
                        </a:rPr>
                        <a:t>4 </a:t>
                      </a:r>
                      <a:r>
                        <a:rPr lang="zh-CN" sz="1800" kern="0" dirty="0">
                          <a:effectLst/>
                        </a:rPr>
                        <a:t>位</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3323">
                <a:tc>
                  <a:txBody>
                    <a:bodyPr/>
                    <a:lstStyle/>
                    <a:p>
                      <a:pPr algn="l">
                        <a:spcAft>
                          <a:spcPts val="0"/>
                        </a:spcAft>
                      </a:pPr>
                      <a:r>
                        <a:rPr lang="en-US" sz="1800" kern="0">
                          <a:effectLst/>
                        </a:rPr>
                        <a:t>NVIC_PriorityGroup_1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altLang="en-US" sz="1800" kern="0" dirty="0" smtClean="0">
                          <a:effectLst/>
                        </a:rPr>
                        <a:t>抢</a:t>
                      </a:r>
                      <a:r>
                        <a:rPr lang="zh-CN" altLang="zh-CN" sz="1800" kern="0" dirty="0" smtClean="0">
                          <a:effectLst/>
                        </a:rPr>
                        <a:t>占</a:t>
                      </a:r>
                      <a:r>
                        <a:rPr lang="zh-CN" sz="1800" kern="0" dirty="0" smtClean="0">
                          <a:effectLst/>
                        </a:rPr>
                        <a:t>优先级</a:t>
                      </a:r>
                      <a:r>
                        <a:rPr lang="en-US" sz="1800" kern="0" dirty="0" smtClean="0">
                          <a:effectLst/>
                        </a:rPr>
                        <a:t> </a:t>
                      </a:r>
                      <a:r>
                        <a:rPr lang="en-US" sz="1800" kern="0" dirty="0">
                          <a:effectLst/>
                        </a:rPr>
                        <a:t>1 </a:t>
                      </a:r>
                      <a:r>
                        <a:rPr lang="zh-CN" sz="1800" kern="0" dirty="0" smtClean="0">
                          <a:effectLst/>
                        </a:rPr>
                        <a:t>位</a:t>
                      </a:r>
                      <a:r>
                        <a:rPr lang="zh-CN" altLang="en-US" sz="1800" kern="0" dirty="0" smtClean="0">
                          <a:effectLst/>
                        </a:rPr>
                        <a:t>，响应</a:t>
                      </a:r>
                      <a:r>
                        <a:rPr lang="zh-CN" sz="1800" kern="0" dirty="0" smtClean="0">
                          <a:effectLst/>
                        </a:rPr>
                        <a:t>优先级</a:t>
                      </a:r>
                      <a:r>
                        <a:rPr lang="en-US" sz="1800" kern="0" dirty="0" smtClean="0">
                          <a:effectLst/>
                        </a:rPr>
                        <a:t> </a:t>
                      </a:r>
                      <a:r>
                        <a:rPr lang="en-US" sz="1800" kern="0" dirty="0">
                          <a:effectLst/>
                        </a:rPr>
                        <a:t>3 </a:t>
                      </a:r>
                      <a:r>
                        <a:rPr lang="zh-CN" sz="1800" kern="0" dirty="0">
                          <a:effectLst/>
                        </a:rPr>
                        <a:t>位</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3323">
                <a:tc>
                  <a:txBody>
                    <a:bodyPr/>
                    <a:lstStyle/>
                    <a:p>
                      <a:pPr algn="l">
                        <a:spcAft>
                          <a:spcPts val="0"/>
                        </a:spcAft>
                      </a:pPr>
                      <a:r>
                        <a:rPr lang="en-US" sz="1800" kern="0">
                          <a:effectLst/>
                        </a:rPr>
                        <a:t>NVIC_PriorityGroup_2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altLang="en-US" sz="1800" kern="0" dirty="0" smtClean="0">
                          <a:effectLst/>
                        </a:rPr>
                        <a:t>抢</a:t>
                      </a:r>
                      <a:r>
                        <a:rPr lang="zh-CN" altLang="zh-CN" sz="1800" kern="0" dirty="0" smtClean="0">
                          <a:effectLst/>
                        </a:rPr>
                        <a:t>占</a:t>
                      </a:r>
                      <a:r>
                        <a:rPr lang="zh-CN" sz="1800" kern="0" dirty="0" smtClean="0">
                          <a:effectLst/>
                        </a:rPr>
                        <a:t>优先级</a:t>
                      </a:r>
                      <a:r>
                        <a:rPr lang="en-US" sz="1800" kern="0" dirty="0" smtClean="0">
                          <a:effectLst/>
                        </a:rPr>
                        <a:t> </a:t>
                      </a:r>
                      <a:r>
                        <a:rPr lang="en-US" sz="1800" kern="0" dirty="0">
                          <a:effectLst/>
                        </a:rPr>
                        <a:t>2 </a:t>
                      </a:r>
                      <a:r>
                        <a:rPr lang="zh-CN" sz="1800" kern="0" dirty="0" smtClean="0">
                          <a:effectLst/>
                        </a:rPr>
                        <a:t>位</a:t>
                      </a:r>
                      <a:r>
                        <a:rPr lang="zh-CN" altLang="en-US" sz="1800" kern="0" dirty="0" smtClean="0">
                          <a:effectLst/>
                        </a:rPr>
                        <a:t>，响应</a:t>
                      </a:r>
                      <a:r>
                        <a:rPr lang="zh-CN" sz="1800" kern="0" dirty="0" smtClean="0">
                          <a:effectLst/>
                        </a:rPr>
                        <a:t>优先级</a:t>
                      </a:r>
                      <a:r>
                        <a:rPr lang="en-US" sz="1800" kern="0" dirty="0" smtClean="0">
                          <a:effectLst/>
                        </a:rPr>
                        <a:t> </a:t>
                      </a:r>
                      <a:r>
                        <a:rPr lang="en-US" sz="1800" kern="0" dirty="0">
                          <a:effectLst/>
                        </a:rPr>
                        <a:t>2 </a:t>
                      </a:r>
                      <a:r>
                        <a:rPr lang="zh-CN" sz="1800" kern="0" dirty="0">
                          <a:effectLst/>
                        </a:rPr>
                        <a:t>位</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3323">
                <a:tc>
                  <a:txBody>
                    <a:bodyPr/>
                    <a:lstStyle/>
                    <a:p>
                      <a:pPr algn="l">
                        <a:spcAft>
                          <a:spcPts val="0"/>
                        </a:spcAft>
                      </a:pPr>
                      <a:r>
                        <a:rPr lang="en-US" sz="1800" kern="0">
                          <a:effectLst/>
                        </a:rPr>
                        <a:t>NVIC_PriorityGroup_3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altLang="en-US" sz="1800" kern="0" dirty="0" smtClean="0">
                          <a:effectLst/>
                        </a:rPr>
                        <a:t>抢</a:t>
                      </a:r>
                      <a:r>
                        <a:rPr lang="zh-CN" altLang="zh-CN" sz="1800" kern="0" dirty="0" smtClean="0">
                          <a:effectLst/>
                        </a:rPr>
                        <a:t>占</a:t>
                      </a:r>
                      <a:r>
                        <a:rPr lang="zh-CN" sz="1800" kern="0" dirty="0" smtClean="0">
                          <a:effectLst/>
                        </a:rPr>
                        <a:t>优先级</a:t>
                      </a:r>
                      <a:r>
                        <a:rPr lang="en-US" sz="1800" kern="0" dirty="0" smtClean="0">
                          <a:effectLst/>
                        </a:rPr>
                        <a:t> </a:t>
                      </a:r>
                      <a:r>
                        <a:rPr lang="en-US" sz="1800" kern="0" dirty="0">
                          <a:effectLst/>
                        </a:rPr>
                        <a:t>3 </a:t>
                      </a:r>
                      <a:r>
                        <a:rPr lang="zh-CN" sz="1800" kern="0" dirty="0" smtClean="0">
                          <a:effectLst/>
                        </a:rPr>
                        <a:t>位</a:t>
                      </a:r>
                      <a:r>
                        <a:rPr lang="zh-CN" altLang="en-US" sz="1800" kern="0" dirty="0" smtClean="0">
                          <a:effectLst/>
                        </a:rPr>
                        <a:t>，响应</a:t>
                      </a:r>
                      <a:r>
                        <a:rPr lang="zh-CN" sz="1800" kern="0" dirty="0" smtClean="0">
                          <a:effectLst/>
                        </a:rPr>
                        <a:t>优先级</a:t>
                      </a:r>
                      <a:r>
                        <a:rPr lang="en-US" sz="1800" kern="0" dirty="0" smtClean="0">
                          <a:effectLst/>
                        </a:rPr>
                        <a:t> </a:t>
                      </a:r>
                      <a:r>
                        <a:rPr lang="en-US" sz="1800" kern="0" dirty="0">
                          <a:effectLst/>
                        </a:rPr>
                        <a:t>1 </a:t>
                      </a:r>
                      <a:r>
                        <a:rPr lang="zh-CN" sz="1800" kern="0" dirty="0">
                          <a:effectLst/>
                        </a:rPr>
                        <a:t>位</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3323">
                <a:tc>
                  <a:txBody>
                    <a:bodyPr/>
                    <a:lstStyle/>
                    <a:p>
                      <a:pPr algn="l">
                        <a:spcAft>
                          <a:spcPts val="0"/>
                        </a:spcAft>
                      </a:pPr>
                      <a:r>
                        <a:rPr lang="en-US" sz="1800" kern="0">
                          <a:effectLst/>
                        </a:rPr>
                        <a:t>NVIC_PriorityGroup_4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altLang="en-US" sz="1800" kern="0" dirty="0" smtClean="0">
                          <a:effectLst/>
                        </a:rPr>
                        <a:t>抢</a:t>
                      </a:r>
                      <a:r>
                        <a:rPr lang="zh-CN" altLang="zh-CN" sz="1800" kern="0" dirty="0" smtClean="0">
                          <a:effectLst/>
                        </a:rPr>
                        <a:t>占</a:t>
                      </a:r>
                      <a:r>
                        <a:rPr lang="zh-CN" sz="1800" kern="0" dirty="0" smtClean="0">
                          <a:effectLst/>
                        </a:rPr>
                        <a:t>优先级</a:t>
                      </a:r>
                      <a:r>
                        <a:rPr lang="en-US" sz="1800" kern="0" dirty="0" smtClean="0">
                          <a:effectLst/>
                        </a:rPr>
                        <a:t> </a:t>
                      </a:r>
                      <a:r>
                        <a:rPr lang="en-US" sz="1800" kern="0" dirty="0">
                          <a:effectLst/>
                        </a:rPr>
                        <a:t>4 </a:t>
                      </a:r>
                      <a:r>
                        <a:rPr lang="zh-CN" sz="1800" kern="0" dirty="0" smtClean="0">
                          <a:effectLst/>
                        </a:rPr>
                        <a:t>位</a:t>
                      </a:r>
                      <a:r>
                        <a:rPr lang="zh-CN" altLang="en-US" sz="1800" kern="0" dirty="0" smtClean="0">
                          <a:effectLst/>
                        </a:rPr>
                        <a:t>，响应</a:t>
                      </a:r>
                      <a:r>
                        <a:rPr lang="zh-CN" sz="1800" kern="0" dirty="0" smtClean="0">
                          <a:effectLst/>
                        </a:rPr>
                        <a:t>优先级</a:t>
                      </a:r>
                      <a:r>
                        <a:rPr lang="en-US" sz="1800" kern="0" dirty="0" smtClean="0">
                          <a:effectLst/>
                        </a:rPr>
                        <a:t> </a:t>
                      </a:r>
                      <a:r>
                        <a:rPr lang="en-US" sz="1800" kern="0" dirty="0">
                          <a:effectLst/>
                        </a:rPr>
                        <a:t>0 </a:t>
                      </a:r>
                      <a:r>
                        <a:rPr lang="zh-CN" sz="1800" kern="0" dirty="0">
                          <a:effectLst/>
                        </a:rPr>
                        <a:t>位</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pPr eaLnBrk="1" hangingPunct="1"/>
            <a:r>
              <a:rPr lang="zh-CN" altLang="en-US" dirty="0" smtClean="0"/>
              <a:t>代码示例</a:t>
            </a:r>
            <a:r>
              <a:rPr lang="en-US" altLang="zh-CN" dirty="0" smtClean="0"/>
              <a:t>1</a:t>
            </a:r>
            <a:r>
              <a:rPr lang="zh-CN" altLang="en-US" dirty="0" smtClean="0"/>
              <a:t>（中断）</a:t>
            </a:r>
            <a:endParaRPr lang="zh-CN" altLang="en-US" dirty="0" smtClean="0"/>
          </a:p>
        </p:txBody>
      </p:sp>
      <p:sp>
        <p:nvSpPr>
          <p:cNvPr id="60419" name="内容占位符 2"/>
          <p:cNvSpPr>
            <a:spLocks noGrp="1"/>
          </p:cNvSpPr>
          <p:nvPr>
            <p:ph idx="1"/>
          </p:nvPr>
        </p:nvSpPr>
        <p:spPr>
          <a:xfrm>
            <a:off x="0" y="1719262"/>
            <a:ext cx="9144000" cy="4986337"/>
          </a:xfrm>
        </p:spPr>
        <p:txBody>
          <a:bodyPr>
            <a:normAutofit/>
          </a:bodyPr>
          <a:lstStyle/>
          <a:p>
            <a:pPr eaLnBrk="1" hangingPunct="1"/>
            <a:r>
              <a:rPr lang="en-US" altLang="zh-CN" sz="2400" dirty="0" smtClean="0"/>
              <a:t> </a:t>
            </a:r>
            <a:r>
              <a:rPr lang="en-US" altLang="zh-CN" sz="2400" dirty="0" smtClean="0">
                <a:solidFill>
                  <a:srgbClr val="0000CC"/>
                </a:solidFill>
              </a:rPr>
              <a:t>/* Configure one bit for preemption priority */</a:t>
            </a:r>
            <a:endParaRPr lang="en-US" altLang="zh-CN" sz="2400" dirty="0" smtClean="0">
              <a:solidFill>
                <a:srgbClr val="0000CC"/>
              </a:solidFill>
            </a:endParaRPr>
          </a:p>
          <a:p>
            <a:pPr eaLnBrk="1" hangingPunct="1"/>
            <a:r>
              <a:rPr lang="en-US" altLang="zh-CN" sz="2400" dirty="0" smtClean="0"/>
              <a:t>  </a:t>
            </a:r>
            <a:r>
              <a:rPr lang="en-US" altLang="zh-CN" sz="2400" dirty="0" err="1" smtClean="0"/>
              <a:t>NVIC_PriorityGroupConfig</a:t>
            </a:r>
            <a:r>
              <a:rPr lang="en-US" altLang="zh-CN" sz="2400" dirty="0" smtClean="0"/>
              <a:t>(</a:t>
            </a:r>
            <a:r>
              <a:rPr lang="en-US" altLang="zh-CN" sz="2400" dirty="0" err="1" smtClean="0"/>
              <a:t>NVIC_PriorityGroup_1</a:t>
            </a:r>
            <a:r>
              <a:rPr lang="en-US" altLang="zh-CN" sz="2400" dirty="0" smtClean="0"/>
              <a:t>);</a:t>
            </a:r>
            <a:endParaRPr lang="en-US" altLang="zh-CN" sz="2400" dirty="0" smtClean="0"/>
          </a:p>
          <a:p>
            <a:pPr eaLnBrk="1" hangingPunct="1"/>
            <a:r>
              <a:rPr lang="en-US" altLang="zh-CN" sz="2400" dirty="0" smtClean="0"/>
              <a:t>  </a:t>
            </a:r>
            <a:r>
              <a:rPr lang="en-US" altLang="zh-CN" sz="2400" dirty="0" smtClean="0">
                <a:solidFill>
                  <a:srgbClr val="0000CC"/>
                </a:solidFill>
              </a:rPr>
              <a:t>/* Enable the </a:t>
            </a:r>
            <a:r>
              <a:rPr lang="en-US" altLang="zh-CN" sz="2400" dirty="0" err="1" smtClean="0">
                <a:solidFill>
                  <a:srgbClr val="0000CC"/>
                </a:solidFill>
              </a:rPr>
              <a:t>TIM2_IRQn</a:t>
            </a:r>
            <a:r>
              <a:rPr lang="en-US" altLang="zh-CN" sz="2400" dirty="0" smtClean="0">
                <a:solidFill>
                  <a:srgbClr val="0000CC"/>
                </a:solidFill>
              </a:rPr>
              <a:t> Interrupt */</a:t>
            </a:r>
            <a:endParaRPr lang="en-US" altLang="zh-CN" sz="2400" dirty="0" smtClean="0">
              <a:solidFill>
                <a:srgbClr val="0000CC"/>
              </a:solidFill>
            </a:endParaRPr>
          </a:p>
          <a:p>
            <a:pPr eaLnBrk="1" hangingPunct="1"/>
            <a:r>
              <a:rPr lang="en-US" altLang="zh-CN" sz="2400" dirty="0" smtClean="0"/>
              <a:t>  </a:t>
            </a:r>
            <a:r>
              <a:rPr lang="en-US" altLang="zh-CN" sz="2400" dirty="0" err="1" smtClean="0"/>
              <a:t>NVIC_InitStructure.NVIC_IRQChannel</a:t>
            </a:r>
            <a:r>
              <a:rPr lang="en-US" altLang="zh-CN" sz="2400" dirty="0" smtClean="0"/>
              <a:t> = </a:t>
            </a:r>
            <a:r>
              <a:rPr lang="en-US" altLang="zh-CN" sz="2400" dirty="0" err="1" smtClean="0"/>
              <a:t>TIM2_IRQn</a:t>
            </a:r>
            <a:r>
              <a:rPr lang="en-US" altLang="zh-CN" sz="2400" dirty="0" smtClean="0"/>
              <a:t>;</a:t>
            </a:r>
            <a:r>
              <a:rPr lang="zh-CN" altLang="en-US" sz="2400" dirty="0" smtClean="0"/>
              <a:t>（表</a:t>
            </a:r>
            <a:r>
              <a:rPr lang="en-US" altLang="zh-CN" sz="2400" dirty="0" smtClean="0"/>
              <a:t>8-4</a:t>
            </a:r>
            <a:r>
              <a:rPr lang="zh-CN" altLang="en-US" sz="2400" dirty="0" smtClean="0"/>
              <a:t>）</a:t>
            </a:r>
            <a:endParaRPr lang="en-US" altLang="zh-CN" sz="2400" dirty="0" smtClean="0"/>
          </a:p>
          <a:p>
            <a:pPr eaLnBrk="1" hangingPunct="1"/>
            <a:r>
              <a:rPr lang="en-US" altLang="zh-CN" sz="2400" dirty="0" smtClean="0"/>
              <a:t>  </a:t>
            </a:r>
            <a:r>
              <a:rPr lang="en-US" altLang="zh-CN" sz="2400" dirty="0" err="1" smtClean="0"/>
              <a:t>NVIC_InitStructure.NVIC_IRQChannelPreemptionPriority</a:t>
            </a:r>
            <a:r>
              <a:rPr lang="en-US" altLang="zh-CN" sz="2400" dirty="0" smtClean="0"/>
              <a:t> = 1;</a:t>
            </a:r>
            <a:endParaRPr lang="en-US" altLang="zh-CN" sz="2400" dirty="0" smtClean="0"/>
          </a:p>
          <a:p>
            <a:pPr eaLnBrk="1" hangingPunct="1"/>
            <a:r>
              <a:rPr lang="en-US" altLang="zh-CN" sz="2400" dirty="0" smtClean="0"/>
              <a:t>  </a:t>
            </a:r>
            <a:r>
              <a:rPr lang="en-US" altLang="zh-CN" sz="2400" dirty="0" err="1" smtClean="0"/>
              <a:t>NVIC_InitStructure.NVIC_IRQChannelSubPriority</a:t>
            </a:r>
            <a:r>
              <a:rPr lang="en-US" altLang="zh-CN" sz="2400" dirty="0" smtClean="0"/>
              <a:t> = 0;</a:t>
            </a:r>
            <a:endParaRPr lang="en-US" altLang="zh-CN" sz="2400" dirty="0" smtClean="0"/>
          </a:p>
          <a:p>
            <a:pPr eaLnBrk="1" hangingPunct="1"/>
            <a:r>
              <a:rPr lang="en-US" altLang="zh-CN" sz="2400" dirty="0" smtClean="0"/>
              <a:t>  </a:t>
            </a:r>
            <a:r>
              <a:rPr lang="en-US" altLang="zh-CN" sz="2400" dirty="0" err="1" smtClean="0"/>
              <a:t>NVIC_InitStructure.NVIC_IRQChannelCmd</a:t>
            </a:r>
            <a:r>
              <a:rPr lang="en-US" altLang="zh-CN" sz="2400" dirty="0" smtClean="0"/>
              <a:t> = ENABLE;</a:t>
            </a:r>
            <a:endParaRPr lang="en-US" altLang="zh-CN" sz="2400" dirty="0" smtClean="0"/>
          </a:p>
          <a:p>
            <a:pPr eaLnBrk="1" hangingPunct="1"/>
            <a:r>
              <a:rPr lang="en-US" altLang="zh-CN" sz="2400" dirty="0" smtClean="0"/>
              <a:t>  </a:t>
            </a:r>
            <a:r>
              <a:rPr lang="en-US" altLang="zh-CN" sz="2400" dirty="0" err="1" smtClean="0"/>
              <a:t>NVIC_Init</a:t>
            </a:r>
            <a:r>
              <a:rPr lang="en-US" altLang="zh-CN" sz="2400" dirty="0" smtClean="0"/>
              <a:t>(&amp;</a:t>
            </a:r>
            <a:r>
              <a:rPr lang="en-US" altLang="zh-CN" sz="2400" dirty="0" err="1" smtClean="0"/>
              <a:t>NVIC_InitStructure</a:t>
            </a:r>
            <a:r>
              <a:rPr lang="en-US" altLang="zh-CN" sz="2400" dirty="0" smtClean="0"/>
              <a:t>);</a:t>
            </a:r>
            <a:endParaRPr lang="en-US" altLang="zh-CN" sz="2400" dirty="0" smtClean="0"/>
          </a:p>
          <a:p>
            <a:pPr eaLnBrk="1" hangingPunct="1"/>
            <a:endParaRPr lang="en-US" altLang="zh-CN" sz="2400" dirty="0"/>
          </a:p>
          <a:p>
            <a:r>
              <a:rPr lang="en-US" altLang="zh-CN" sz="2400" dirty="0" err="1" smtClean="0"/>
              <a:t>TIM2_IRQHandler</a:t>
            </a:r>
            <a:r>
              <a:rPr lang="en-US" altLang="zh-CN" sz="2400" dirty="0" smtClean="0"/>
              <a:t>()</a:t>
            </a:r>
            <a:r>
              <a:rPr lang="zh-CN" altLang="en-US" sz="2400" dirty="0" smtClean="0"/>
              <a:t>（表</a:t>
            </a:r>
            <a:r>
              <a:rPr lang="en-US" altLang="zh-CN" sz="2400" dirty="0" smtClean="0"/>
              <a:t>8-1</a:t>
            </a:r>
            <a:r>
              <a:rPr lang="zh-CN" altLang="en-US" sz="2400" dirty="0" smtClean="0"/>
              <a:t>）</a:t>
            </a:r>
            <a:endParaRPr lang="en-US" altLang="zh-CN" sz="2400" dirty="0" smtClean="0"/>
          </a:p>
          <a:p>
            <a:pPr marL="0" indent="0">
              <a:buNone/>
            </a:pPr>
            <a:r>
              <a:rPr lang="en-US" altLang="zh-CN" sz="2400" dirty="0" smtClean="0"/>
              <a:t>   {// </a:t>
            </a:r>
            <a:r>
              <a:rPr lang="zh-CN" altLang="en-US" sz="2400" dirty="0" smtClean="0"/>
              <a:t>中断服务函数</a:t>
            </a:r>
            <a:r>
              <a:rPr lang="en-US" altLang="zh-CN" sz="2400" dirty="0" smtClean="0"/>
              <a:t>}</a:t>
            </a:r>
            <a:endParaRPr lang="zh-CN" altLang="en-US" sz="24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4774" y="462772"/>
            <a:ext cx="7468769" cy="553998"/>
          </a:xfrm>
          <a:prstGeom prst="rect">
            <a:avLst/>
          </a:prstGeom>
          <a:noFill/>
        </p:spPr>
        <p:txBody>
          <a:bodyPr wrap="square">
            <a:spAutoFit/>
          </a:bodyPr>
          <a:lstStyle/>
          <a:p>
            <a:pPr>
              <a:defRPr/>
            </a:pPr>
            <a:r>
              <a:rPr lang="en-US" altLang="zh-CN" sz="3000" b="1" dirty="0" err="1"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STM32F103</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中断向量表</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表格 3"/>
          <p:cNvGraphicFramePr>
            <a:graphicFrameLocks noGrp="1"/>
          </p:cNvGraphicFramePr>
          <p:nvPr>
            <p:custDataLst>
              <p:tags r:id="rId1"/>
            </p:custDataLst>
          </p:nvPr>
        </p:nvGraphicFramePr>
        <p:xfrm>
          <a:off x="1240790" y="2066290"/>
          <a:ext cx="6772910" cy="226695"/>
        </p:xfrm>
        <a:graphic>
          <a:graphicData uri="http://schemas.openxmlformats.org/drawingml/2006/table">
            <a:tbl>
              <a:tblPr firstRow="1" firstCol="1" bandRow="1">
                <a:tableStyleId>{2D5ABB26-0587-4C30-8999-92F81FD0307C}</a:tableStyleId>
              </a:tblPr>
              <a:tblGrid>
                <a:gridCol w="377825"/>
                <a:gridCol w="479425"/>
                <a:gridCol w="531495"/>
                <a:gridCol w="1660525"/>
                <a:gridCol w="2609215"/>
                <a:gridCol w="1114425"/>
              </a:tblGrid>
              <a:tr h="226695">
                <a:tc>
                  <a:txBody>
                    <a:bodyPr/>
                    <a:lstStyle/>
                    <a:p>
                      <a:pPr algn="l">
                        <a:spcAft>
                          <a:spcPts val="0"/>
                        </a:spcAft>
                      </a:pPr>
                      <a:r>
                        <a:rPr lang="zh-CN" sz="800" kern="0">
                          <a:effectLst/>
                          <a:latin typeface="Times New Roman" panose="02020603050405020304" pitchFamily="18" charset="0"/>
                          <a:ea typeface="宋体" panose="02010600030101010101" pitchFamily="2" charset="-122"/>
                          <a:cs typeface="Times New Roman" panose="02020603050405020304" pitchFamily="18" charset="0"/>
                        </a:rPr>
                        <a:t>位置</a:t>
                      </a:r>
                      <a:endParaRPr lang="zh-CN" sz="800" kern="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800" kern="0">
                          <a:effectLst/>
                          <a:latin typeface="Times New Roman" panose="02020603050405020304" pitchFamily="18" charset="0"/>
                          <a:ea typeface="宋体" panose="02010600030101010101" pitchFamily="2" charset="-122"/>
                          <a:cs typeface="Times New Roman" panose="02020603050405020304" pitchFamily="18" charset="0"/>
                        </a:rPr>
                        <a:t>优先级</a:t>
                      </a:r>
                      <a:endParaRPr lang="zh-CN" sz="800" kern="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800" kern="0" dirty="0" smtClean="0">
                          <a:effectLst/>
                          <a:latin typeface="Times New Roman" panose="02020603050405020304" pitchFamily="18" charset="0"/>
                          <a:ea typeface="宋体" panose="02010600030101010101" pitchFamily="2" charset="-122"/>
                          <a:cs typeface="Times New Roman" panose="02020603050405020304" pitchFamily="18" charset="0"/>
                        </a:rPr>
                        <a:t>类型 </a:t>
                      </a:r>
                      <a:endParaRPr lang="zh-CN" sz="800" kern="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800" kern="0">
                          <a:effectLst/>
                          <a:latin typeface="Times New Roman" panose="02020603050405020304" pitchFamily="18" charset="0"/>
                          <a:ea typeface="宋体" panose="02010600030101010101" pitchFamily="2" charset="-122"/>
                          <a:cs typeface="Times New Roman" panose="02020603050405020304" pitchFamily="18" charset="0"/>
                        </a:rPr>
                        <a:t>名称 </a:t>
                      </a:r>
                      <a:endParaRPr lang="zh-CN" sz="800" kern="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800" kern="0">
                          <a:effectLst/>
                          <a:latin typeface="Times New Roman" panose="02020603050405020304" pitchFamily="18" charset="0"/>
                          <a:ea typeface="宋体" panose="02010600030101010101" pitchFamily="2" charset="-122"/>
                          <a:cs typeface="Times New Roman" panose="02020603050405020304" pitchFamily="18" charset="0"/>
                        </a:rPr>
                        <a:t>说明 </a:t>
                      </a:r>
                      <a:endParaRPr lang="zh-CN" sz="800" kern="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800" kern="0">
                          <a:effectLst/>
                          <a:latin typeface="Times New Roman" panose="02020603050405020304" pitchFamily="18" charset="0"/>
                          <a:ea typeface="宋体" panose="02010600030101010101" pitchFamily="2" charset="-122"/>
                          <a:cs typeface="Times New Roman" panose="02020603050405020304" pitchFamily="18" charset="0"/>
                        </a:rPr>
                        <a:t>地址</a:t>
                      </a:r>
                      <a:endParaRPr lang="zh-CN" sz="800" kern="0">
                        <a:effectLst/>
                        <a:latin typeface="Times New Roman" panose="02020603050405020304" pitchFamily="18" charset="0"/>
                        <a:ea typeface="宋体" panose="02010600030101010101" pitchFamily="2" charset="-122"/>
                        <a:cs typeface="Times New Roman" panose="02020603050405020304" pitchFamily="18" charset="0"/>
                      </a:endParaRPr>
                    </a:p>
                  </a:txBody>
                  <a:tcPr marL="67939" marR="6793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5" name="十六角星 4"/>
          <p:cNvSpPr/>
          <p:nvPr/>
        </p:nvSpPr>
        <p:spPr>
          <a:xfrm>
            <a:off x="2207260" y="1016635"/>
            <a:ext cx="6602730" cy="962025"/>
          </a:xfrm>
          <a:prstGeom prst="star16">
            <a:avLst/>
          </a:prstGeom>
        </p:spPr>
        <p:style>
          <a:lnRef idx="3">
            <a:schemeClr val="accent1"/>
          </a:lnRef>
          <a:fillRef idx="0">
            <a:srgbClr val="FFFFFF"/>
          </a:fillRef>
          <a:effectRef idx="0">
            <a:srgbClr val="FFFFFF"/>
          </a:effectRef>
          <a:fontRef idx="minor">
            <a:schemeClr val="dk1"/>
          </a:fontRef>
        </p:style>
        <p:txBody>
          <a:bodyPr rtlCol="0" anchor="ctr"/>
          <a:p>
            <a:pPr algn="ctr"/>
            <a:r>
              <a:rPr lang="zh-CN" altLang="en-US"/>
              <a:t>我想要用来触发中断的设备不在中断向量表上，怎么办？</a:t>
            </a:r>
            <a:endParaRPr lang="zh-CN" altLang="en-US"/>
          </a:p>
        </p:txBody>
      </p:sp>
      <p:pic>
        <p:nvPicPr>
          <p:cNvPr id="6" name="图片 5"/>
          <p:cNvPicPr>
            <a:picLocks noChangeAspect="1"/>
          </p:cNvPicPr>
          <p:nvPr>
            <p:custDataLst>
              <p:tags r:id="rId2"/>
            </p:custDataLst>
          </p:nvPr>
        </p:nvPicPr>
        <p:blipFill>
          <a:blip r:embed="rId3"/>
          <a:stretch>
            <a:fillRect/>
          </a:stretch>
        </p:blipFill>
        <p:spPr>
          <a:xfrm>
            <a:off x="1227455" y="2292985"/>
            <a:ext cx="6786245" cy="4526280"/>
          </a:xfrm>
          <a:prstGeom prst="rect">
            <a:avLst/>
          </a:prstGeom>
        </p:spPr>
      </p:pic>
      <p:sp>
        <p:nvSpPr>
          <p:cNvPr id="7" name="矩形 6"/>
          <p:cNvSpPr/>
          <p:nvPr/>
        </p:nvSpPr>
        <p:spPr>
          <a:xfrm>
            <a:off x="2644775" y="2310765"/>
            <a:ext cx="2652395" cy="1231265"/>
          </a:xfrm>
          <a:prstGeom prst="rect">
            <a:avLst/>
          </a:prstGeom>
          <a:ln>
            <a:solidFill>
              <a:srgbClr val="FF0000"/>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a:p>
        </p:txBody>
      </p:sp>
      <p:sp>
        <p:nvSpPr>
          <p:cNvPr id="8" name="矩形 7"/>
          <p:cNvSpPr/>
          <p:nvPr/>
        </p:nvSpPr>
        <p:spPr>
          <a:xfrm>
            <a:off x="2644775" y="6567170"/>
            <a:ext cx="2733675" cy="252095"/>
          </a:xfrm>
          <a:prstGeom prst="rect">
            <a:avLst/>
          </a:prstGeom>
          <a:ln>
            <a:solidFill>
              <a:srgbClr val="FF0000"/>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6092" y="419243"/>
            <a:ext cx="8992765" cy="646331"/>
          </a:xfrm>
          <a:prstGeom prst="rect">
            <a:avLst/>
          </a:prstGeom>
          <a:noFill/>
        </p:spPr>
        <p:txBody>
          <a:bodyPr wrap="square">
            <a:spAutoFit/>
          </a:bodyPr>
          <a:lstStyle/>
          <a:p>
            <a:pPr>
              <a:defRPr/>
            </a:pPr>
            <a:r>
              <a:rPr lang="en-US" altLang="zh-CN" sz="3600" b="1" dirty="0" err="1" smtClean="0">
                <a:ln w="10541" cmpd="sng">
                  <a:solidFill>
                    <a:schemeClr val="accent1">
                      <a:shade val="88000"/>
                      <a:satMod val="110000"/>
                    </a:schemeClr>
                  </a:solidFill>
                  <a:prstDash val="solid"/>
                </a:ln>
                <a:solidFill>
                  <a:srgbClr val="66FF33"/>
                </a:solidFill>
                <a:latin typeface="Arial" panose="020B0604020202020204" pitchFamily="34" charset="0"/>
              </a:rPr>
              <a:t>STM32F103</a:t>
            </a:r>
            <a:r>
              <a:rPr lang="zh-CN" altLang="en-US" sz="3600" b="1" dirty="0">
                <a:ln w="10541" cmpd="sng">
                  <a:solidFill>
                    <a:schemeClr val="accent1">
                      <a:shade val="88000"/>
                      <a:satMod val="110000"/>
                    </a:schemeClr>
                  </a:solidFill>
                  <a:prstDash val="solid"/>
                </a:ln>
                <a:solidFill>
                  <a:srgbClr val="66FF33"/>
                </a:solidFill>
                <a:latin typeface="Arial" panose="020B0604020202020204" pitchFamily="34" charset="0"/>
              </a:rPr>
              <a:t>外部中断</a:t>
            </a:r>
            <a:r>
              <a:rPr lang="en-US" altLang="zh-CN" sz="3600" b="1" dirty="0">
                <a:ln w="10541" cmpd="sng">
                  <a:solidFill>
                    <a:schemeClr val="accent1">
                      <a:shade val="88000"/>
                      <a:satMod val="110000"/>
                    </a:schemeClr>
                  </a:solidFill>
                  <a:prstDash val="solid"/>
                </a:ln>
                <a:solidFill>
                  <a:srgbClr val="66FF33"/>
                </a:solidFill>
                <a:latin typeface="Arial" panose="020B0604020202020204" pitchFamily="34" charset="0"/>
              </a:rPr>
              <a:t>/</a:t>
            </a:r>
            <a:r>
              <a:rPr lang="zh-CN" altLang="en-US" sz="3600" b="1" dirty="0">
                <a:ln w="10541" cmpd="sng">
                  <a:solidFill>
                    <a:schemeClr val="accent1">
                      <a:shade val="88000"/>
                      <a:satMod val="110000"/>
                    </a:schemeClr>
                  </a:solidFill>
                  <a:prstDash val="solid"/>
                </a:ln>
                <a:solidFill>
                  <a:srgbClr val="66FF33"/>
                </a:solidFill>
                <a:latin typeface="Arial" panose="020B0604020202020204" pitchFamily="34" charset="0"/>
              </a:rPr>
              <a:t>事件控制器</a:t>
            </a:r>
            <a:r>
              <a:rPr lang="en-US" altLang="zh-CN" sz="3600" b="1" dirty="0">
                <a:ln w="10541" cmpd="sng">
                  <a:solidFill>
                    <a:schemeClr val="accent1">
                      <a:shade val="88000"/>
                      <a:satMod val="110000"/>
                    </a:schemeClr>
                  </a:solidFill>
                  <a:prstDash val="solid"/>
                </a:ln>
                <a:solidFill>
                  <a:srgbClr val="66FF33"/>
                </a:solidFill>
                <a:latin typeface="Arial" panose="020B0604020202020204" pitchFamily="34" charset="0"/>
              </a:rPr>
              <a:t>EXTI</a:t>
            </a:r>
            <a:endParaRPr lang="zh-CN" altLang="en-US" sz="3600" b="1" dirty="0">
              <a:ln w="10541" cmpd="sng">
                <a:solidFill>
                  <a:schemeClr val="accent1">
                    <a:shade val="88000"/>
                    <a:satMod val="110000"/>
                  </a:schemeClr>
                </a:solidFill>
                <a:prstDash val="solid"/>
              </a:ln>
              <a:solidFill>
                <a:srgbClr val="66FF33"/>
              </a:solidFill>
              <a:latin typeface="Arial" panose="020B0604020202020204" pitchFamily="34" charset="0"/>
            </a:endParaRPr>
          </a:p>
        </p:txBody>
      </p:sp>
      <p:sp>
        <p:nvSpPr>
          <p:cNvPr id="3" name="矩形 2"/>
          <p:cNvSpPr/>
          <p:nvPr/>
        </p:nvSpPr>
        <p:spPr>
          <a:xfrm>
            <a:off x="151232" y="985276"/>
            <a:ext cx="7468769" cy="553998"/>
          </a:xfrm>
          <a:prstGeom prst="rect">
            <a:avLst/>
          </a:prstGeom>
          <a:noFill/>
        </p:spPr>
        <p:txBody>
          <a:bodyPr wrap="square">
            <a:spAutoFit/>
          </a:bodyPr>
          <a:lstStyle/>
          <a:p>
            <a:pPr>
              <a:defRPr/>
            </a:pPr>
            <a:r>
              <a:rPr lang="en-US" altLang="zh-CN" sz="3000" b="1" dirty="0" err="1"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EXTI</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内部结构</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矩形 3"/>
          <p:cNvSpPr/>
          <p:nvPr/>
        </p:nvSpPr>
        <p:spPr>
          <a:xfrm>
            <a:off x="433470" y="1574333"/>
            <a:ext cx="3797835" cy="492443"/>
          </a:xfrm>
          <a:prstGeom prst="rect">
            <a:avLst/>
          </a:prstGeom>
        </p:spPr>
        <p:txBody>
          <a:bodyPr wrap="none">
            <a:spAutoFit/>
          </a:bodyPr>
          <a:lstStyle/>
          <a:p>
            <a:r>
              <a:rPr lang="en-US" altLang="zh-CN" sz="2600" dirty="0">
                <a:ln w="10541" cmpd="sng">
                  <a:solidFill>
                    <a:srgbClr val="7030A0"/>
                  </a:solidFill>
                  <a:prstDash val="solid"/>
                </a:ln>
                <a:solidFill>
                  <a:srgbClr val="C00000"/>
                </a:solidFill>
                <a:latin typeface="Arial" panose="020B0604020202020204" pitchFamily="34" charset="0"/>
              </a:rPr>
              <a:t>1</a:t>
            </a:r>
            <a:r>
              <a:rPr lang="en-US" altLang="zh-CN" sz="2600" dirty="0" smtClean="0">
                <a:ln w="10541" cmpd="sng">
                  <a:solidFill>
                    <a:srgbClr val="7030A0"/>
                  </a:solidFill>
                  <a:prstDash val="solid"/>
                </a:ln>
                <a:solidFill>
                  <a:srgbClr val="C00000"/>
                </a:solidFill>
                <a:latin typeface="Arial" panose="020B0604020202020204" pitchFamily="34" charset="0"/>
              </a:rPr>
              <a:t>.</a:t>
            </a:r>
            <a:r>
              <a:rPr lang="zh-CN" altLang="en-US" sz="2600" dirty="0">
                <a:ln w="10541" cmpd="sng">
                  <a:solidFill>
                    <a:srgbClr val="7030A0"/>
                  </a:solidFill>
                  <a:prstDash val="solid"/>
                </a:ln>
                <a:solidFill>
                  <a:srgbClr val="C00000"/>
                </a:solidFill>
                <a:latin typeface="Arial" panose="020B0604020202020204" pitchFamily="34" charset="0"/>
              </a:rPr>
              <a:t>外部中断、事件输入：</a:t>
            </a:r>
            <a:endParaRPr lang="zh-CN" altLang="en-US" sz="2600" dirty="0">
              <a:ln w="10541" cmpd="sng">
                <a:solidFill>
                  <a:srgbClr val="7030A0"/>
                </a:solidFill>
                <a:prstDash val="solid"/>
              </a:ln>
              <a:solidFill>
                <a:srgbClr val="C00000"/>
              </a:solidFill>
              <a:latin typeface="Arial" panose="020B0604020202020204" pitchFamily="34" charset="0"/>
            </a:endParaRPr>
          </a:p>
        </p:txBody>
      </p:sp>
      <p:sp>
        <p:nvSpPr>
          <p:cNvPr id="2" name="矩形 1"/>
          <p:cNvSpPr/>
          <p:nvPr/>
        </p:nvSpPr>
        <p:spPr>
          <a:xfrm>
            <a:off x="6226629" y="2894074"/>
            <a:ext cx="2670626" cy="2169825"/>
          </a:xfrm>
          <a:prstGeom prst="rect">
            <a:avLst/>
          </a:prstGeom>
        </p:spPr>
        <p:txBody>
          <a:bodyPr wrap="square">
            <a:spAutoFit/>
          </a:bodyPr>
          <a:lstStyle/>
          <a:p>
            <a:pPr indent="457200">
              <a:lnSpc>
                <a:spcPct val="150000"/>
              </a:lnSpc>
            </a:pPr>
            <a:r>
              <a:rPr lang="en-US" altLang="zh-CN" dirty="0">
                <a:latin typeface="Times New Roman" panose="02020603050405020304" pitchFamily="18" charset="0"/>
                <a:ea typeface="宋体" panose="02010600030101010101" pitchFamily="2" charset="-122"/>
                <a:cs typeface="Times New Roman" panose="02020603050405020304" pitchFamily="18" charset="0"/>
              </a:rPr>
              <a:t>STM32F103</a:t>
            </a:r>
            <a:r>
              <a:rPr lang="zh-CN" altLang="en-US" dirty="0">
                <a:latin typeface="Times New Roman" panose="02020603050405020304" pitchFamily="18" charset="0"/>
                <a:ea typeface="宋体" panose="02010600030101010101" pitchFamily="2" charset="-122"/>
                <a:cs typeface="Times New Roman" panose="02020603050405020304" pitchFamily="18" charset="0"/>
              </a:rPr>
              <a:t>外部中断</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事件控制器</a:t>
            </a:r>
            <a:r>
              <a:rPr lang="en-US" altLang="zh-CN" dirty="0">
                <a:latin typeface="Times New Roman" panose="02020603050405020304" pitchFamily="18" charset="0"/>
                <a:ea typeface="宋体" panose="02010600030101010101" pitchFamily="2" charset="-122"/>
                <a:cs typeface="Times New Roman" panose="02020603050405020304" pitchFamily="18" charset="0"/>
              </a:rPr>
              <a:t>EXT1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内部信号线上画有一条斜线，旁边标有</a:t>
            </a:r>
            <a:r>
              <a:rPr lang="en-US" altLang="zh-CN" dirty="0">
                <a:latin typeface="Times New Roman" panose="02020603050405020304" pitchFamily="18" charset="0"/>
                <a:ea typeface="宋体" panose="02010600030101010101" pitchFamily="2" charset="-122"/>
                <a:cs typeface="Times New Roman" panose="02020603050405020304" pitchFamily="18" charset="0"/>
              </a:rPr>
              <a:t>19</a:t>
            </a:r>
            <a:r>
              <a:rPr lang="zh-CN" altLang="en-US" dirty="0">
                <a:latin typeface="Times New Roman" panose="02020603050405020304" pitchFamily="18" charset="0"/>
                <a:ea typeface="宋体" panose="02010600030101010101" pitchFamily="2" charset="-122"/>
                <a:cs typeface="Times New Roman" panose="02020603050405020304" pitchFamily="18" charset="0"/>
              </a:rPr>
              <a:t>，表示这样的线路共有</a:t>
            </a:r>
            <a:r>
              <a:rPr lang="en-US" altLang="zh-CN" dirty="0">
                <a:latin typeface="Times New Roman" panose="02020603050405020304" pitchFamily="18" charset="0"/>
                <a:ea typeface="宋体" panose="02010600030101010101" pitchFamily="2" charset="-122"/>
                <a:cs typeface="Times New Roman" panose="02020603050405020304" pitchFamily="18" charset="0"/>
              </a:rPr>
              <a:t>19</a:t>
            </a:r>
            <a:r>
              <a:rPr lang="zh-CN" altLang="en-US" dirty="0">
                <a:latin typeface="Times New Roman" panose="02020603050405020304" pitchFamily="18" charset="0"/>
                <a:ea typeface="宋体" panose="02010600030101010101" pitchFamily="2" charset="-122"/>
                <a:cs typeface="Times New Roman" panose="02020603050405020304" pitchFamily="18" charset="0"/>
              </a:rPr>
              <a:t>套。</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8942" y="2066776"/>
            <a:ext cx="5644255" cy="4417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bwMode="auto">
          <a:xfrm>
            <a:off x="418956" y="2336800"/>
            <a:ext cx="5285159" cy="528245"/>
          </a:xfrm>
          <a:prstGeom prst="rect">
            <a:avLst/>
          </a:prstGeom>
          <a:noFill/>
          <a:ln w="38100">
            <a:solidFill>
              <a:srgbClr val="FF00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8" name="矩形 7"/>
          <p:cNvSpPr/>
          <p:nvPr/>
        </p:nvSpPr>
        <p:spPr bwMode="auto">
          <a:xfrm>
            <a:off x="209288" y="2915847"/>
            <a:ext cx="5285159" cy="3717182"/>
          </a:xfrm>
          <a:prstGeom prst="rect">
            <a:avLst/>
          </a:prstGeom>
          <a:noFill/>
          <a:ln w="38100">
            <a:solidFill>
              <a:srgbClr val="FF00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6" name="椭圆 5"/>
          <p:cNvSpPr/>
          <p:nvPr/>
        </p:nvSpPr>
        <p:spPr bwMode="auto">
          <a:xfrm>
            <a:off x="5602517" y="4876800"/>
            <a:ext cx="522514" cy="1219200"/>
          </a:xfrm>
          <a:prstGeom prst="ellipse">
            <a:avLst/>
          </a:prstGeom>
          <a:noFill/>
          <a:ln w="38100">
            <a:solidFill>
              <a:srgbClr val="FF00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ircle(in)">
                                      <p:cBhvr>
                                        <p:cTn id="12" dur="2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ircle(in)">
                                      <p:cBhvr>
                                        <p:cTn id="1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384449" y="3185436"/>
            <a:ext cx="3609975" cy="345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529" y="520025"/>
            <a:ext cx="3530600" cy="512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标注 3"/>
          <p:cNvSpPr/>
          <p:nvPr/>
        </p:nvSpPr>
        <p:spPr>
          <a:xfrm>
            <a:off x="4384449" y="730948"/>
            <a:ext cx="3657599" cy="1988459"/>
          </a:xfrm>
          <a:prstGeom prst="wedgeRectCallout">
            <a:avLst>
              <a:gd name="adj1" fmla="val -41632"/>
              <a:gd name="adj2" fmla="val 121383"/>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457200">
              <a:lnSpc>
                <a:spcPct val="150000"/>
              </a:lnSpc>
              <a:defRPr/>
            </a:pP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如果将</a:t>
            </a:r>
            <a:r>
              <a:rPr lang="en-US"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STM32F103</a:t>
            </a: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I/O</a:t>
            </a: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引脚映射为</a:t>
            </a:r>
            <a:r>
              <a:rPr lang="en-US"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EXTI</a:t>
            </a: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的外部中断</a:t>
            </a:r>
            <a:r>
              <a:rPr lang="en-US"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事件输入线，必须将该引脚设置为输入模式。</a:t>
            </a:r>
            <a:endPar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5755" y="558332"/>
            <a:ext cx="2873735" cy="492443"/>
          </a:xfrm>
          <a:prstGeom prst="rect">
            <a:avLst/>
          </a:prstGeom>
        </p:spPr>
        <p:txBody>
          <a:bodyPr wrap="none">
            <a:spAutoFit/>
          </a:bodyPr>
          <a:lstStyle/>
          <a:p>
            <a:r>
              <a:rPr lang="en-US" altLang="zh-CN" sz="2600" dirty="0" smtClean="0">
                <a:ln w="10541" cmpd="sng">
                  <a:solidFill>
                    <a:srgbClr val="7030A0"/>
                  </a:solidFill>
                  <a:prstDash val="solid"/>
                </a:ln>
                <a:solidFill>
                  <a:srgbClr val="C00000"/>
                </a:solidFill>
                <a:latin typeface="Arial" panose="020B0604020202020204" pitchFamily="34" charset="0"/>
              </a:rPr>
              <a:t>2.</a:t>
            </a:r>
            <a:r>
              <a:rPr lang="en-US" altLang="zh-CN" sz="2600" dirty="0">
                <a:ln w="10541" cmpd="sng">
                  <a:solidFill>
                    <a:srgbClr val="7030A0"/>
                  </a:solidFill>
                  <a:prstDash val="solid"/>
                </a:ln>
                <a:solidFill>
                  <a:srgbClr val="C00000"/>
                </a:solidFill>
                <a:latin typeface="Arial" panose="020B0604020202020204" pitchFamily="34" charset="0"/>
              </a:rPr>
              <a:t> APB</a:t>
            </a:r>
            <a:r>
              <a:rPr lang="zh-CN" altLang="en-US" sz="2600" dirty="0">
                <a:ln w="10541" cmpd="sng">
                  <a:solidFill>
                    <a:srgbClr val="7030A0"/>
                  </a:solidFill>
                  <a:prstDash val="solid"/>
                </a:ln>
                <a:solidFill>
                  <a:srgbClr val="C00000"/>
                </a:solidFill>
                <a:latin typeface="Arial" panose="020B0604020202020204" pitchFamily="34" charset="0"/>
              </a:rPr>
              <a:t>外设接口：</a:t>
            </a:r>
            <a:endParaRPr lang="zh-CN" altLang="en-US" sz="2600" dirty="0">
              <a:ln w="10541" cmpd="sng">
                <a:solidFill>
                  <a:srgbClr val="7030A0"/>
                </a:solidFill>
                <a:prstDash val="solid"/>
              </a:ln>
              <a:solidFill>
                <a:srgbClr val="C00000"/>
              </a:solidFill>
              <a:latin typeface="Arial" panose="020B0604020202020204" pitchFamily="34" charset="0"/>
            </a:endParaRPr>
          </a:p>
        </p:txBody>
      </p:sp>
      <p:sp>
        <p:nvSpPr>
          <p:cNvPr id="3" name="矩形 2"/>
          <p:cNvSpPr/>
          <p:nvPr/>
        </p:nvSpPr>
        <p:spPr>
          <a:xfrm>
            <a:off x="326572" y="1272452"/>
            <a:ext cx="8527142" cy="1754326"/>
          </a:xfrm>
          <a:prstGeom prst="rect">
            <a:avLst/>
          </a:prstGeom>
        </p:spPr>
        <p:txBody>
          <a:bodyPr wrap="square">
            <a:spAutoFit/>
          </a:bodyPr>
          <a:lstStyle/>
          <a:p>
            <a:pPr indent="457200">
              <a:lnSpc>
                <a:spcPct val="150000"/>
              </a:lnSpc>
            </a:pPr>
            <a:r>
              <a:rPr lang="en-US" altLang="zh-CN" dirty="0">
                <a:latin typeface="Times New Roman" panose="02020603050405020304" pitchFamily="18" charset="0"/>
                <a:ea typeface="宋体" panose="02010600030101010101" pitchFamily="2" charset="-122"/>
                <a:cs typeface="Times New Roman" panose="02020603050405020304" pitchFamily="18" charset="0"/>
              </a:rPr>
              <a:t>APB</a:t>
            </a:r>
            <a:r>
              <a:rPr lang="zh-CN" altLang="en-US" dirty="0">
                <a:latin typeface="Times New Roman" panose="02020603050405020304" pitchFamily="18" charset="0"/>
                <a:ea typeface="宋体" panose="02010600030101010101" pitchFamily="2" charset="-122"/>
                <a:cs typeface="Times New Roman" panose="02020603050405020304" pitchFamily="18" charset="0"/>
              </a:rPr>
              <a:t>外设模块接口是</a:t>
            </a:r>
            <a:r>
              <a:rPr lang="en-US" altLang="zh-CN" dirty="0">
                <a:latin typeface="Times New Roman" panose="02020603050405020304" pitchFamily="18" charset="0"/>
                <a:ea typeface="宋体" panose="02010600030101010101" pitchFamily="2" charset="-122"/>
                <a:cs typeface="Times New Roman" panose="02020603050405020304" pitchFamily="18" charset="0"/>
              </a:rPr>
              <a:t>STM32F103</a:t>
            </a:r>
            <a:r>
              <a:rPr lang="zh-CN" altLang="en-US" dirty="0">
                <a:latin typeface="Times New Roman" panose="02020603050405020304" pitchFamily="18" charset="0"/>
                <a:ea typeface="宋体" panose="02010600030101010101" pitchFamily="2" charset="-122"/>
                <a:cs typeface="Times New Roman" panose="02020603050405020304" pitchFamily="18" charset="0"/>
              </a:rPr>
              <a:t>微控制器每个功能模块都有的部分，</a:t>
            </a:r>
            <a:r>
              <a:rPr lang="en-US" altLang="zh-CN" dirty="0">
                <a:latin typeface="Times New Roman" panose="02020603050405020304" pitchFamily="18" charset="0"/>
                <a:ea typeface="宋体" panose="02010600030101010101" pitchFamily="2" charset="-122"/>
                <a:cs typeface="Times New Roman" panose="02020603050405020304" pitchFamily="18" charset="0"/>
              </a:rPr>
              <a:t>CPU</a:t>
            </a:r>
            <a:r>
              <a:rPr lang="zh-CN" altLang="en-US" dirty="0">
                <a:latin typeface="Times New Roman" panose="02020603050405020304" pitchFamily="18" charset="0"/>
                <a:ea typeface="宋体" panose="02010600030101010101" pitchFamily="2" charset="-122"/>
                <a:cs typeface="Times New Roman" panose="02020603050405020304" pitchFamily="18" charset="0"/>
              </a:rPr>
              <a:t>通过这样的接口访问各个功能模块。</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50000"/>
              </a:lnSpc>
            </a:pPr>
            <a:r>
              <a:rPr lang="zh-CN" altLang="en-US" dirty="0">
                <a:latin typeface="Times New Roman" panose="02020603050405020304" pitchFamily="18" charset="0"/>
                <a:ea typeface="宋体" panose="02010600030101010101" pitchFamily="2" charset="-122"/>
                <a:cs typeface="Times New Roman" panose="02020603050405020304" pitchFamily="18" charset="0"/>
              </a:rPr>
              <a:t>尤其需要注意的是，如果使用</a:t>
            </a:r>
            <a:r>
              <a:rPr lang="en-US" altLang="zh-CN" dirty="0">
                <a:latin typeface="Times New Roman" panose="02020603050405020304" pitchFamily="18" charset="0"/>
                <a:ea typeface="宋体" panose="02010600030101010101" pitchFamily="2" charset="-122"/>
                <a:cs typeface="Times New Roman" panose="02020603050405020304" pitchFamily="18" charset="0"/>
              </a:rPr>
              <a:t>STM32F103</a:t>
            </a:r>
            <a:r>
              <a:rPr lang="zh-CN" altLang="en-US" dirty="0">
                <a:latin typeface="Times New Roman" panose="02020603050405020304" pitchFamily="18" charset="0"/>
                <a:ea typeface="宋体" panose="02010600030101010101" pitchFamily="2" charset="-122"/>
                <a:cs typeface="Times New Roman" panose="02020603050405020304" pitchFamily="18" charset="0"/>
              </a:rPr>
              <a:t>引脚的外部中断</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事件映射功能，</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必须打开</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APB2</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总线上该引脚对应端口的时钟以及</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AFIO</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功能时钟</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矩形 3"/>
          <p:cNvSpPr/>
          <p:nvPr/>
        </p:nvSpPr>
        <p:spPr>
          <a:xfrm>
            <a:off x="355599" y="3791850"/>
            <a:ext cx="8498115" cy="1338828"/>
          </a:xfrm>
          <a:prstGeom prst="rect">
            <a:avLst/>
          </a:prstGeom>
        </p:spPr>
        <p:txBody>
          <a:bodyPr wrap="square">
            <a:spAutoFit/>
          </a:bodyPr>
          <a:lstStyle/>
          <a:p>
            <a:pPr indent="457200">
              <a:lnSpc>
                <a:spcPct val="150000"/>
              </a:lnSpc>
            </a:pPr>
            <a:r>
              <a:rPr lang="en-US" altLang="zh-CN" dirty="0">
                <a:latin typeface="Times New Roman" panose="02020603050405020304" pitchFamily="18" charset="0"/>
                <a:ea typeface="宋体" panose="02010600030101010101" pitchFamily="2" charset="-122"/>
                <a:cs typeface="Times New Roman" panose="02020603050405020304" pitchFamily="18" charset="0"/>
              </a:rPr>
              <a:t>EXTI</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中的边沿检测器共有</a:t>
            </a:r>
            <a:r>
              <a:rPr lang="en-US" altLang="zh-CN" dirty="0">
                <a:latin typeface="Times New Roman" panose="02020603050405020304" pitchFamily="18" charset="0"/>
                <a:ea typeface="宋体" panose="02010600030101010101" pitchFamily="2" charset="-122"/>
                <a:cs typeface="Times New Roman" panose="02020603050405020304" pitchFamily="18" charset="0"/>
              </a:rPr>
              <a:t>19</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个，用来连接</a:t>
            </a:r>
            <a:r>
              <a:rPr lang="en-US" altLang="zh-CN" dirty="0">
                <a:latin typeface="Times New Roman" panose="02020603050405020304" pitchFamily="18" charset="0"/>
                <a:ea typeface="宋体" panose="02010600030101010101" pitchFamily="2" charset="-122"/>
                <a:cs typeface="Times New Roman" panose="02020603050405020304" pitchFamily="18" charset="0"/>
              </a:rPr>
              <a:t>19</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个外部中断</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事件输入线，是</a:t>
            </a:r>
            <a:r>
              <a:rPr lang="en-US" altLang="zh-CN" dirty="0">
                <a:latin typeface="Times New Roman" panose="02020603050405020304" pitchFamily="18" charset="0"/>
                <a:ea typeface="宋体" panose="02010600030101010101" pitchFamily="2" charset="-122"/>
                <a:cs typeface="Times New Roman" panose="02020603050405020304" pitchFamily="18" charset="0"/>
              </a:rPr>
              <a:t>EXTI</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的主体部分。每个边沿检测器由边沿检测电路、控制寄存器、门电路和脉冲发生器等部分组成。</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矩形 4"/>
          <p:cNvSpPr/>
          <p:nvPr/>
        </p:nvSpPr>
        <p:spPr>
          <a:xfrm>
            <a:off x="312057" y="3220472"/>
            <a:ext cx="2557110" cy="492443"/>
          </a:xfrm>
          <a:prstGeom prst="rect">
            <a:avLst/>
          </a:prstGeom>
        </p:spPr>
        <p:txBody>
          <a:bodyPr wrap="none">
            <a:spAutoFit/>
          </a:bodyPr>
          <a:lstStyle/>
          <a:p>
            <a:r>
              <a:rPr lang="en-US" altLang="zh-CN" sz="2600" dirty="0" smtClean="0">
                <a:ln w="10541" cmpd="sng">
                  <a:solidFill>
                    <a:srgbClr val="7030A0"/>
                  </a:solidFill>
                  <a:prstDash val="solid"/>
                </a:ln>
                <a:solidFill>
                  <a:srgbClr val="C00000"/>
                </a:solidFill>
                <a:latin typeface="Arial" panose="020B0604020202020204" pitchFamily="34" charset="0"/>
              </a:rPr>
              <a:t>3. </a:t>
            </a:r>
            <a:r>
              <a:rPr lang="zh-CN" altLang="en-US" sz="2600" dirty="0" smtClean="0">
                <a:ln w="10541" cmpd="sng">
                  <a:solidFill>
                    <a:srgbClr val="7030A0"/>
                  </a:solidFill>
                  <a:prstDash val="solid"/>
                </a:ln>
                <a:solidFill>
                  <a:srgbClr val="C00000"/>
                </a:solidFill>
                <a:latin typeface="Arial" panose="020B0604020202020204" pitchFamily="34" charset="0"/>
              </a:rPr>
              <a:t>边沿</a:t>
            </a:r>
            <a:r>
              <a:rPr lang="zh-CN" altLang="en-US" sz="2600" dirty="0">
                <a:ln w="10541" cmpd="sng">
                  <a:solidFill>
                    <a:srgbClr val="7030A0"/>
                  </a:solidFill>
                  <a:prstDash val="solid"/>
                </a:ln>
                <a:solidFill>
                  <a:srgbClr val="C00000"/>
                </a:solidFill>
                <a:latin typeface="Arial" panose="020B0604020202020204" pitchFamily="34" charset="0"/>
              </a:rPr>
              <a:t>检测器：</a:t>
            </a:r>
            <a:endParaRPr lang="zh-CN" altLang="en-US" sz="2600" dirty="0">
              <a:ln w="10541" cmpd="sng">
                <a:solidFill>
                  <a:srgbClr val="7030A0"/>
                </a:solidFill>
                <a:prstDash val="solid"/>
              </a:ln>
              <a:solidFill>
                <a:srgbClr val="C00000"/>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7347" y="415068"/>
            <a:ext cx="7468769" cy="553998"/>
          </a:xfrm>
          <a:prstGeom prst="rect">
            <a:avLst/>
          </a:prstGeom>
          <a:noFill/>
        </p:spPr>
        <p:txBody>
          <a:bodyPr wrap="square">
            <a:spAutoFit/>
          </a:bodyPr>
          <a:lstStyle/>
          <a:p>
            <a:pPr>
              <a:defRPr/>
            </a:pPr>
            <a:r>
              <a:rPr lang="en-US" altLang="zh-CN" sz="3000" b="1" dirty="0" err="1"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EXTI</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工作原理</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259297" y="1008266"/>
            <a:ext cx="5557932" cy="492443"/>
          </a:xfrm>
          <a:prstGeom prst="rect">
            <a:avLst/>
          </a:prstGeom>
        </p:spPr>
        <p:txBody>
          <a:bodyPr wrap="none">
            <a:spAutoFit/>
          </a:bodyPr>
          <a:lstStyle/>
          <a:p>
            <a:r>
              <a:rPr lang="en-US" altLang="zh-CN" sz="2600" dirty="0" smtClean="0">
                <a:ln w="10541" cmpd="sng">
                  <a:solidFill>
                    <a:srgbClr val="7030A0"/>
                  </a:solidFill>
                  <a:prstDash val="solid"/>
                </a:ln>
                <a:solidFill>
                  <a:srgbClr val="C00000"/>
                </a:solidFill>
                <a:latin typeface="Arial" panose="020B0604020202020204" pitchFamily="34" charset="0"/>
              </a:rPr>
              <a:t>1.</a:t>
            </a:r>
            <a:r>
              <a:rPr lang="zh-CN" altLang="en-US" sz="2600" dirty="0">
                <a:ln w="10541" cmpd="sng">
                  <a:solidFill>
                    <a:srgbClr val="7030A0"/>
                  </a:solidFill>
                  <a:prstDash val="solid"/>
                </a:ln>
                <a:solidFill>
                  <a:srgbClr val="C00000"/>
                </a:solidFill>
                <a:latin typeface="Arial" panose="020B0604020202020204" pitchFamily="34" charset="0"/>
              </a:rPr>
              <a:t>外部中断</a:t>
            </a:r>
            <a:r>
              <a:rPr lang="en-US" altLang="zh-CN" sz="2600" dirty="0">
                <a:ln w="10541" cmpd="sng">
                  <a:solidFill>
                    <a:srgbClr val="7030A0"/>
                  </a:solidFill>
                  <a:prstDash val="solid"/>
                </a:ln>
                <a:solidFill>
                  <a:srgbClr val="C00000"/>
                </a:solidFill>
                <a:latin typeface="Arial" panose="020B0604020202020204" pitchFamily="34" charset="0"/>
              </a:rPr>
              <a:t>/</a:t>
            </a:r>
            <a:r>
              <a:rPr lang="zh-CN" altLang="en-US" sz="2600" dirty="0">
                <a:ln w="10541" cmpd="sng">
                  <a:solidFill>
                    <a:srgbClr val="7030A0"/>
                  </a:solidFill>
                  <a:prstDash val="solid"/>
                </a:ln>
                <a:solidFill>
                  <a:srgbClr val="C00000"/>
                </a:solidFill>
                <a:latin typeface="Arial" panose="020B0604020202020204" pitchFamily="34" charset="0"/>
              </a:rPr>
              <a:t>事件请求的产生和传输：</a:t>
            </a:r>
            <a:endParaRPr lang="zh-CN" altLang="en-US" sz="2600" dirty="0">
              <a:ln w="10541" cmpd="sng">
                <a:solidFill>
                  <a:srgbClr val="7030A0"/>
                </a:solidFill>
                <a:prstDash val="solid"/>
              </a:ln>
              <a:solidFill>
                <a:srgbClr val="C00000"/>
              </a:solidFill>
              <a:latin typeface="Arial" panose="020B0604020202020204" pitchFamily="34" charset="0"/>
            </a:endParaRPr>
          </a:p>
        </p:txBody>
      </p:sp>
      <p:sp>
        <p:nvSpPr>
          <p:cNvPr id="4" name="矩形 3"/>
          <p:cNvSpPr/>
          <p:nvPr/>
        </p:nvSpPr>
        <p:spPr>
          <a:xfrm>
            <a:off x="6071256" y="122454"/>
            <a:ext cx="2921135" cy="6740307"/>
          </a:xfrm>
          <a:prstGeom prst="rect">
            <a:avLst/>
          </a:prstGeom>
        </p:spPr>
        <p:txBody>
          <a:bodyPr wrap="square">
            <a:spAutoFit/>
          </a:bodyPr>
          <a:lstStyle/>
          <a:p>
            <a:pPr marL="285750" indent="-285750">
              <a:buFont typeface="Wingdings" panose="05000000000000000000" pitchFamily="2" charset="2"/>
              <a:buChar char="Ø"/>
            </a:pPr>
            <a:r>
              <a:rPr lang="zh-CN" altLang="en-US" dirty="0" smtClean="0"/>
              <a:t>外部</a:t>
            </a:r>
            <a:r>
              <a:rPr lang="zh-CN" altLang="en-US" dirty="0"/>
              <a:t>信号从</a:t>
            </a:r>
            <a:r>
              <a:rPr lang="zh-CN" altLang="en-US" dirty="0" smtClean="0"/>
              <a:t>编号</a:t>
            </a:r>
            <a:r>
              <a:rPr lang="en-US" altLang="zh-CN" dirty="0" smtClean="0"/>
              <a:t>1</a:t>
            </a:r>
            <a:r>
              <a:rPr lang="zh-CN" altLang="en-US" dirty="0" smtClean="0"/>
              <a:t>的</a:t>
            </a:r>
            <a:r>
              <a:rPr lang="en-US" altLang="zh-CN" dirty="0" err="1" smtClean="0"/>
              <a:t>STM32F103</a:t>
            </a:r>
            <a:r>
              <a:rPr lang="zh-CN" altLang="en-US" dirty="0"/>
              <a:t>微控制器引脚进入。</a:t>
            </a:r>
            <a:endParaRPr lang="zh-CN" altLang="en-US" dirty="0"/>
          </a:p>
          <a:p>
            <a:pPr marL="285750" indent="-285750">
              <a:buFont typeface="Wingdings" panose="05000000000000000000" pitchFamily="2" charset="2"/>
              <a:buChar char="Ø"/>
            </a:pPr>
            <a:r>
              <a:rPr lang="zh-CN" altLang="en-US" dirty="0" smtClean="0"/>
              <a:t>经过</a:t>
            </a:r>
            <a:r>
              <a:rPr lang="zh-CN" altLang="en-US" dirty="0"/>
              <a:t>边沿检测电路，这个边沿检测电路受到上升沿触发选择寄存器和下降沿触发选择寄存器控制，用户可以配置这两个寄存器选择在哪一个边沿产生中断</a:t>
            </a:r>
            <a:r>
              <a:rPr lang="en-US" altLang="zh-CN" dirty="0"/>
              <a:t>/</a:t>
            </a:r>
            <a:r>
              <a:rPr lang="zh-CN" altLang="en-US" dirty="0" smtClean="0"/>
              <a:t>事件。</a:t>
            </a:r>
            <a:endParaRPr lang="zh-CN" altLang="en-US" dirty="0"/>
          </a:p>
          <a:p>
            <a:pPr marL="285750" indent="-285750">
              <a:buFont typeface="Wingdings" panose="05000000000000000000" pitchFamily="2" charset="2"/>
              <a:buChar char="Ø"/>
            </a:pPr>
            <a:r>
              <a:rPr lang="zh-CN" altLang="en-US" dirty="0" smtClean="0"/>
              <a:t>经过</a:t>
            </a:r>
            <a:r>
              <a:rPr lang="zh-CN" altLang="en-US" dirty="0"/>
              <a:t>编号</a:t>
            </a:r>
            <a:r>
              <a:rPr lang="en-US" altLang="zh-CN" dirty="0"/>
              <a:t>3</a:t>
            </a:r>
            <a:r>
              <a:rPr lang="zh-CN" altLang="en-US" dirty="0"/>
              <a:t>的或门，这个或门的另一个输入是中断</a:t>
            </a:r>
            <a:r>
              <a:rPr lang="en-US" altLang="zh-CN" dirty="0"/>
              <a:t>/</a:t>
            </a:r>
            <a:r>
              <a:rPr lang="zh-CN" altLang="en-US" dirty="0"/>
              <a:t>事件</a:t>
            </a:r>
            <a:r>
              <a:rPr lang="zh-CN" altLang="en-US" dirty="0" smtClean="0"/>
              <a:t>寄存器</a:t>
            </a:r>
            <a:r>
              <a:rPr lang="zh-CN" altLang="en-US" dirty="0"/>
              <a:t>。</a:t>
            </a:r>
            <a:endParaRPr lang="en-US" altLang="zh-CN" dirty="0" smtClean="0"/>
          </a:p>
          <a:p>
            <a:pPr marL="285750" indent="-285750">
              <a:buFont typeface="Wingdings" panose="05000000000000000000" pitchFamily="2" charset="2"/>
              <a:buChar char="Ø"/>
            </a:pPr>
            <a:r>
              <a:rPr lang="zh-CN" altLang="en-US" dirty="0" smtClean="0"/>
              <a:t>外部</a:t>
            </a:r>
            <a:r>
              <a:rPr lang="zh-CN" altLang="en-US" dirty="0"/>
              <a:t>请求信号进入编号</a:t>
            </a:r>
            <a:r>
              <a:rPr lang="en-US" altLang="zh-CN" dirty="0"/>
              <a:t>4</a:t>
            </a:r>
            <a:r>
              <a:rPr lang="zh-CN" altLang="en-US" dirty="0"/>
              <a:t>的与门，这个与门的另一个输入是事件屏蔽寄存器</a:t>
            </a:r>
            <a:r>
              <a:rPr lang="zh-CN" altLang="en-US" dirty="0" smtClean="0"/>
              <a:t>。</a:t>
            </a:r>
            <a:endParaRPr lang="en-US" altLang="zh-CN" dirty="0" smtClean="0"/>
          </a:p>
          <a:p>
            <a:pPr marL="285750" indent="-285750">
              <a:buFont typeface="Wingdings" panose="05000000000000000000" pitchFamily="2" charset="2"/>
              <a:buChar char="Ø"/>
            </a:pPr>
            <a:r>
              <a:rPr lang="zh-CN" altLang="en-US" dirty="0" smtClean="0"/>
              <a:t>外部</a:t>
            </a:r>
            <a:r>
              <a:rPr lang="zh-CN" altLang="en-US" dirty="0"/>
              <a:t>请求信号进入挂起请求寄存器，挂起请求寄存器记录了外部信号的电平变化。外部请求信号经过挂起请求寄存器后，最后进入编号</a:t>
            </a:r>
            <a:r>
              <a:rPr lang="en-US" altLang="zh-CN" dirty="0"/>
              <a:t>6</a:t>
            </a:r>
            <a:r>
              <a:rPr lang="zh-CN" altLang="en-US" dirty="0"/>
              <a:t>的与门。</a:t>
            </a:r>
            <a:endParaRPr lang="zh-CN" altLang="en-US" dirty="0"/>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7347" y="1643865"/>
            <a:ext cx="5644255" cy="4417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bwMode="auto">
          <a:xfrm>
            <a:off x="317361" y="1913889"/>
            <a:ext cx="5285159" cy="528245"/>
          </a:xfrm>
          <a:prstGeom prst="rect">
            <a:avLst/>
          </a:prstGeom>
          <a:noFill/>
          <a:ln w="38100">
            <a:solidFill>
              <a:srgbClr val="FF00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7" name="矩形 6"/>
          <p:cNvSpPr/>
          <p:nvPr/>
        </p:nvSpPr>
        <p:spPr bwMode="auto">
          <a:xfrm>
            <a:off x="107693" y="2492936"/>
            <a:ext cx="5285159" cy="3717182"/>
          </a:xfrm>
          <a:prstGeom prst="rect">
            <a:avLst/>
          </a:prstGeom>
          <a:noFill/>
          <a:ln w="38100">
            <a:solidFill>
              <a:srgbClr val="FF00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8" name="椭圆 7"/>
          <p:cNvSpPr/>
          <p:nvPr/>
        </p:nvSpPr>
        <p:spPr bwMode="auto">
          <a:xfrm>
            <a:off x="5500922" y="4453889"/>
            <a:ext cx="522514" cy="1219200"/>
          </a:xfrm>
          <a:prstGeom prst="ellipse">
            <a:avLst/>
          </a:prstGeom>
          <a:noFill/>
          <a:ln w="38100">
            <a:solidFill>
              <a:srgbClr val="FF00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ircle(in)">
                                      <p:cBhvr>
                                        <p:cTn id="12" dur="2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circle(in)">
                                      <p:cBhvr>
                                        <p:cTn id="1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9297" y="616388"/>
            <a:ext cx="2464136" cy="492443"/>
          </a:xfrm>
          <a:prstGeom prst="rect">
            <a:avLst/>
          </a:prstGeom>
        </p:spPr>
        <p:txBody>
          <a:bodyPr wrap="none">
            <a:spAutoFit/>
          </a:bodyPr>
          <a:lstStyle/>
          <a:p>
            <a:r>
              <a:rPr lang="en-US" altLang="zh-CN" sz="2600" dirty="0" smtClean="0">
                <a:ln w="10541" cmpd="sng">
                  <a:solidFill>
                    <a:srgbClr val="7030A0"/>
                  </a:solidFill>
                  <a:prstDash val="solid"/>
                </a:ln>
                <a:solidFill>
                  <a:srgbClr val="C00000"/>
                </a:solidFill>
                <a:latin typeface="Arial" panose="020B0604020202020204" pitchFamily="34" charset="0"/>
              </a:rPr>
              <a:t>2.</a:t>
            </a:r>
            <a:r>
              <a:rPr lang="zh-CN" altLang="en-US" sz="2600" dirty="0">
                <a:ln w="10541" cmpd="sng">
                  <a:solidFill>
                    <a:srgbClr val="7030A0"/>
                  </a:solidFill>
                  <a:prstDash val="solid"/>
                </a:ln>
                <a:solidFill>
                  <a:srgbClr val="C00000"/>
                </a:solidFill>
                <a:latin typeface="Arial" panose="020B0604020202020204" pitchFamily="34" charset="0"/>
              </a:rPr>
              <a:t>事件与中断：</a:t>
            </a:r>
            <a:endParaRPr lang="zh-CN" altLang="en-US" sz="2600" dirty="0">
              <a:ln w="10541" cmpd="sng">
                <a:solidFill>
                  <a:srgbClr val="7030A0"/>
                </a:solidFill>
                <a:prstDash val="solid"/>
              </a:ln>
              <a:solidFill>
                <a:srgbClr val="C00000"/>
              </a:solidFill>
              <a:latin typeface="Arial" panose="020B0604020202020204" pitchFamily="34" charset="0"/>
            </a:endParaRPr>
          </a:p>
        </p:txBody>
      </p:sp>
      <p:sp>
        <p:nvSpPr>
          <p:cNvPr id="3" name="矩形 2"/>
          <p:cNvSpPr/>
          <p:nvPr/>
        </p:nvSpPr>
        <p:spPr>
          <a:xfrm>
            <a:off x="388636" y="1294509"/>
            <a:ext cx="8261877" cy="3675045"/>
          </a:xfrm>
          <a:prstGeom prst="rect">
            <a:avLst/>
          </a:prstGeom>
        </p:spPr>
        <p:txBody>
          <a:bodyPr wrap="square">
            <a:spAutoFit/>
          </a:bodyPr>
          <a:lstStyle/>
          <a:p>
            <a:pPr marL="285750" indent="-285750">
              <a:lnSpc>
                <a:spcPct val="200000"/>
              </a:lnSpc>
              <a:buFont typeface="Wingdings" panose="05000000000000000000" pitchFamily="2" charset="2"/>
              <a:buChar char="u"/>
            </a:pPr>
            <a:r>
              <a:rPr lang="zh-CN" altLang="en-US" sz="2000" dirty="0" smtClean="0">
                <a:latin typeface="宋体" panose="02010600030101010101" pitchFamily="2" charset="-122"/>
                <a:ea typeface="宋体" panose="02010600030101010101" pitchFamily="2" charset="-122"/>
              </a:rPr>
              <a:t>一路</a:t>
            </a:r>
            <a:r>
              <a:rPr lang="zh-CN" altLang="en-US" sz="2000" dirty="0">
                <a:latin typeface="宋体" panose="02010600030101010101" pitchFamily="2" charset="-122"/>
                <a:ea typeface="宋体" panose="02010600030101010101" pitchFamily="2" charset="-122"/>
              </a:rPr>
              <a:t>信号（中断）会被送至</a:t>
            </a:r>
            <a:r>
              <a:rPr lang="en-US" altLang="zh-CN" sz="2000" dirty="0">
                <a:latin typeface="宋体" panose="02010600030101010101" pitchFamily="2" charset="-122"/>
                <a:ea typeface="宋体" panose="02010600030101010101" pitchFamily="2" charset="-122"/>
              </a:rPr>
              <a:t>NVIC</a:t>
            </a:r>
            <a:r>
              <a:rPr lang="zh-CN" altLang="en-US" sz="2000" dirty="0">
                <a:latin typeface="宋体" panose="02010600030101010101" pitchFamily="2" charset="-122"/>
                <a:ea typeface="宋体" panose="02010600030101010101" pitchFamily="2" charset="-122"/>
              </a:rPr>
              <a:t>向</a:t>
            </a:r>
            <a:r>
              <a:rPr lang="en-US" altLang="zh-CN" sz="2000" dirty="0">
                <a:latin typeface="宋体" panose="02010600030101010101" pitchFamily="2" charset="-122"/>
                <a:ea typeface="宋体" panose="02010600030101010101" pitchFamily="2" charset="-122"/>
              </a:rPr>
              <a:t>CPU</a:t>
            </a:r>
            <a:r>
              <a:rPr lang="zh-CN" altLang="en-US" sz="2000" dirty="0">
                <a:latin typeface="宋体" panose="02010600030101010101" pitchFamily="2" charset="-122"/>
                <a:ea typeface="宋体" panose="02010600030101010101" pitchFamily="2" charset="-122"/>
              </a:rPr>
              <a:t>产生中断请求，至于</a:t>
            </a:r>
            <a:r>
              <a:rPr lang="en-US" altLang="zh-CN" sz="2000" dirty="0">
                <a:latin typeface="宋体" panose="02010600030101010101" pitchFamily="2" charset="-122"/>
                <a:ea typeface="宋体" panose="02010600030101010101" pitchFamily="2" charset="-122"/>
              </a:rPr>
              <a:t>CPU</a:t>
            </a:r>
            <a:r>
              <a:rPr lang="zh-CN" altLang="en-US" sz="2000" dirty="0">
                <a:latin typeface="宋体" panose="02010600030101010101" pitchFamily="2" charset="-122"/>
                <a:ea typeface="宋体" panose="02010600030101010101" pitchFamily="2" charset="-122"/>
              </a:rPr>
              <a:t>如何响应，由用户编写或系统默认的对应的中断服务程序决定</a:t>
            </a:r>
            <a:r>
              <a:rPr lang="zh-CN" altLang="en-US" sz="2000" dirty="0" smtClean="0">
                <a:latin typeface="宋体" panose="02010600030101010101" pitchFamily="2" charset="-122"/>
                <a:ea typeface="宋体" panose="02010600030101010101" pitchFamily="2" charset="-122"/>
              </a:rPr>
              <a:t>。</a:t>
            </a:r>
            <a:endParaRPr lang="en-US" altLang="zh-CN" sz="2000" dirty="0" smtClean="0">
              <a:latin typeface="宋体" panose="02010600030101010101" pitchFamily="2" charset="-122"/>
              <a:ea typeface="宋体" panose="02010600030101010101" pitchFamily="2" charset="-122"/>
            </a:endParaRPr>
          </a:p>
          <a:p>
            <a:pPr marL="285750" indent="-285750">
              <a:lnSpc>
                <a:spcPct val="200000"/>
              </a:lnSpc>
              <a:buFont typeface="Wingdings" panose="05000000000000000000" pitchFamily="2" charset="2"/>
              <a:buChar char="u"/>
            </a:pPr>
            <a:endParaRPr lang="zh-CN" altLang="en-US" sz="2000" dirty="0">
              <a:latin typeface="宋体" panose="02010600030101010101" pitchFamily="2" charset="-122"/>
              <a:ea typeface="宋体" panose="02010600030101010101" pitchFamily="2" charset="-122"/>
            </a:endParaRPr>
          </a:p>
          <a:p>
            <a:pPr marL="285750" indent="-285750">
              <a:lnSpc>
                <a:spcPct val="200000"/>
              </a:lnSpc>
              <a:buFont typeface="Wingdings" panose="05000000000000000000" pitchFamily="2" charset="2"/>
              <a:buChar char="u"/>
            </a:pPr>
            <a:r>
              <a:rPr lang="zh-CN" altLang="en-US" sz="2000" dirty="0" smtClean="0">
                <a:latin typeface="宋体" panose="02010600030101010101" pitchFamily="2" charset="-122"/>
                <a:ea typeface="宋体" panose="02010600030101010101" pitchFamily="2" charset="-122"/>
              </a:rPr>
              <a:t>另</a:t>
            </a:r>
            <a:r>
              <a:rPr lang="zh-CN" altLang="en-US" sz="2000" dirty="0">
                <a:latin typeface="宋体" panose="02010600030101010101" pitchFamily="2" charset="-122"/>
                <a:ea typeface="宋体" panose="02010600030101010101" pitchFamily="2" charset="-122"/>
              </a:rPr>
              <a:t>一路信号（事件）会向其它功能模块（如定时器、</a:t>
            </a:r>
            <a:r>
              <a:rPr lang="en-US" altLang="zh-CN" sz="2000" dirty="0">
                <a:latin typeface="宋体" panose="02010600030101010101" pitchFamily="2" charset="-122"/>
                <a:ea typeface="宋体" panose="02010600030101010101" pitchFamily="2" charset="-122"/>
              </a:rPr>
              <a:t>USART</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DMA</a:t>
            </a:r>
            <a:r>
              <a:rPr lang="zh-CN" altLang="en-US" sz="2000" dirty="0">
                <a:latin typeface="宋体" panose="02010600030101010101" pitchFamily="2" charset="-122"/>
                <a:ea typeface="宋体" panose="02010600030101010101" pitchFamily="2" charset="-122"/>
              </a:rPr>
              <a:t>等）发送脉冲触发信号，至于其它功能模块会如何响应这个脉冲触发信号，则由对应的模块自己决定。</a:t>
            </a:r>
            <a:endParaRPr lang="zh-CN" altLang="en-US" sz="20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7347" y="415068"/>
            <a:ext cx="7468769" cy="553998"/>
          </a:xfrm>
          <a:prstGeom prst="rect">
            <a:avLst/>
          </a:prstGeom>
          <a:noFill/>
        </p:spPr>
        <p:txBody>
          <a:bodyPr wrap="square">
            <a:spAutoFit/>
          </a:bodyPr>
          <a:lstStyle/>
          <a:p>
            <a:pPr>
              <a:defRPr/>
            </a:pPr>
            <a:r>
              <a:rPr lang="en-US" altLang="zh-CN" sz="3000" b="1" dirty="0" err="1"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EXTI</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主要特性</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428171" y="969066"/>
            <a:ext cx="8469085" cy="3785652"/>
          </a:xfrm>
          <a:prstGeom prst="rect">
            <a:avLst/>
          </a:prstGeom>
        </p:spPr>
        <p:txBody>
          <a:bodyPr wrap="square">
            <a:spAutoFit/>
          </a:bodyPr>
          <a:lstStyle/>
          <a:p>
            <a:pPr>
              <a:lnSpc>
                <a:spcPct val="150000"/>
              </a:lnSpc>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STM32F103</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微控制器的外部中断</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事件控制器</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EXTI</a:t>
            </a:r>
            <a:r>
              <a:rPr lang="zh-CN" altLang="en-US" sz="2000" b="1"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dirty="0" smtClean="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sz="2000" b="1" dirty="0" smtClean="0">
                <a:latin typeface="Times New Roman" panose="02020603050405020304" pitchFamily="18" charset="0"/>
                <a:ea typeface="宋体" panose="02010600030101010101" pitchFamily="2" charset="-122"/>
                <a:cs typeface="Times New Roman" panose="02020603050405020304" pitchFamily="18" charset="0"/>
              </a:rPr>
              <a:t>具有</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以下主要特性：</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每个外部中断∕事件输入线都可以独立地配置它的触发事件（上升沿、下降沿或双边沿），并能够单独地被屏蔽。</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每个外部中断都有专用的标志位（请求挂起寄存器），保持着它的中断请求。</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可以将多达</a:t>
            </a:r>
            <a:r>
              <a:rPr lang="en-US" altLang="zh-CN" dirty="0">
                <a:latin typeface="Times New Roman" panose="02020603050405020304" pitchFamily="18" charset="0"/>
                <a:ea typeface="宋体" panose="02010600030101010101" pitchFamily="2" charset="-122"/>
                <a:cs typeface="Times New Roman" panose="02020603050405020304" pitchFamily="18" charset="0"/>
              </a:rPr>
              <a:t>112</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个通用</a:t>
            </a:r>
            <a:r>
              <a:rPr lang="en-US" altLang="zh-CN" dirty="0">
                <a:latin typeface="Times New Roman" panose="02020603050405020304" pitchFamily="18" charset="0"/>
                <a:ea typeface="宋体" panose="02010600030101010101" pitchFamily="2" charset="-122"/>
                <a:cs typeface="Times New Roman" panose="02020603050405020304" pitchFamily="18" charset="0"/>
              </a:rPr>
              <a:t>I/O</a:t>
            </a:r>
            <a:r>
              <a:rPr lang="zh-CN" altLang="en-US" dirty="0">
                <a:latin typeface="Times New Roman" panose="02020603050405020304" pitchFamily="18" charset="0"/>
                <a:ea typeface="宋体" panose="02010600030101010101" pitchFamily="2" charset="-122"/>
                <a:cs typeface="Times New Roman" panose="02020603050405020304" pitchFamily="18" charset="0"/>
              </a:rPr>
              <a:t>引脚映射到</a:t>
            </a:r>
            <a:r>
              <a:rPr lang="en-US" altLang="zh-CN" dirty="0">
                <a:latin typeface="Times New Roman" panose="02020603050405020304" pitchFamily="18" charset="0"/>
                <a:ea typeface="宋体" panose="02010600030101010101" pitchFamily="2" charset="-122"/>
                <a:cs typeface="Times New Roman" panose="02020603050405020304" pitchFamily="18" charset="0"/>
              </a:rPr>
              <a:t>16</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个外部中断∕事件输入线上。</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可以检测脉冲宽度低于</a:t>
            </a:r>
            <a:r>
              <a:rPr lang="en-US" altLang="zh-CN" dirty="0">
                <a:latin typeface="Times New Roman" panose="02020603050405020304" pitchFamily="18" charset="0"/>
                <a:ea typeface="宋体" panose="02010600030101010101" pitchFamily="2" charset="-122"/>
                <a:cs typeface="Times New Roman" panose="02020603050405020304" pitchFamily="18" charset="0"/>
              </a:rPr>
              <a:t>APB2</a:t>
            </a:r>
            <a:r>
              <a:rPr lang="zh-CN" altLang="en-US" dirty="0">
                <a:latin typeface="Times New Roman" panose="02020603050405020304" pitchFamily="18" charset="0"/>
                <a:ea typeface="宋体" panose="02010600030101010101" pitchFamily="2" charset="-122"/>
                <a:cs typeface="Times New Roman" panose="02020603050405020304" pitchFamily="18" charset="0"/>
              </a:rPr>
              <a:t>时钟宽度的外部信号。</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1860" y="464801"/>
            <a:ext cx="7468769" cy="553998"/>
          </a:xfrm>
          <a:prstGeom prst="rect">
            <a:avLst/>
          </a:prstGeom>
          <a:noFill/>
        </p:spPr>
        <p:txBody>
          <a:bodyPr wrap="square">
            <a:spAutoFit/>
          </a:bodyPr>
          <a:lstStyle/>
          <a:p>
            <a:pPr>
              <a:defRPr/>
            </a:pPr>
            <a:r>
              <a:rPr lang="en-US" altLang="zh-CN" sz="3000" b="1" dirty="0" err="1"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STM32F10x</a:t>
            </a:r>
            <a:r>
              <a:rPr lang="zh-CN" altLang="en-US" sz="3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的</a:t>
            </a:r>
            <a:r>
              <a:rPr lang="en-US" altLang="zh-CN" sz="3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EXTI</a:t>
            </a:r>
            <a:r>
              <a:rPr lang="zh-CN" altLang="en-US" sz="3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相关</a:t>
            </a:r>
            <a:r>
              <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库函数</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346386" y="1018799"/>
            <a:ext cx="3318537" cy="492443"/>
          </a:xfrm>
          <a:prstGeom prst="rect">
            <a:avLst/>
          </a:prstGeom>
        </p:spPr>
        <p:txBody>
          <a:bodyPr wrap="none">
            <a:spAutoFit/>
          </a:bodyPr>
          <a:lstStyle/>
          <a:p>
            <a:r>
              <a:rPr lang="en-US" altLang="zh-CN" sz="2600" dirty="0">
                <a:ln w="10541" cmpd="sng">
                  <a:solidFill>
                    <a:srgbClr val="7030A0"/>
                  </a:solidFill>
                  <a:prstDash val="solid"/>
                </a:ln>
                <a:solidFill>
                  <a:srgbClr val="C00000"/>
                </a:solidFill>
                <a:latin typeface="Arial" panose="020B0604020202020204" pitchFamily="34" charset="0"/>
              </a:rPr>
              <a:t>1</a:t>
            </a:r>
            <a:r>
              <a:rPr lang="en-US" altLang="zh-CN" sz="2600" dirty="0" smtClean="0">
                <a:ln w="10541" cmpd="sng">
                  <a:solidFill>
                    <a:srgbClr val="7030A0"/>
                  </a:solidFill>
                  <a:prstDash val="solid"/>
                </a:ln>
                <a:solidFill>
                  <a:srgbClr val="C00000"/>
                </a:solidFill>
                <a:latin typeface="Arial" panose="020B0604020202020204" pitchFamily="34" charset="0"/>
              </a:rPr>
              <a:t>.</a:t>
            </a:r>
            <a:r>
              <a:rPr lang="zh-CN" altLang="en-US" sz="2600" dirty="0">
                <a:ln w="10541" cmpd="sng">
                  <a:solidFill>
                    <a:srgbClr val="7030A0"/>
                  </a:solidFill>
                  <a:prstDash val="solid"/>
                </a:ln>
                <a:solidFill>
                  <a:srgbClr val="C00000"/>
                </a:solidFill>
                <a:latin typeface="Arial" panose="020B0604020202020204" pitchFamily="34" charset="0"/>
              </a:rPr>
              <a:t>函数</a:t>
            </a:r>
            <a:r>
              <a:rPr lang="en-US" altLang="zh-CN" sz="2600" dirty="0" err="1">
                <a:ln w="10541" cmpd="sng">
                  <a:solidFill>
                    <a:srgbClr val="7030A0"/>
                  </a:solidFill>
                  <a:prstDash val="solid"/>
                </a:ln>
                <a:solidFill>
                  <a:srgbClr val="C00000"/>
                </a:solidFill>
                <a:latin typeface="Arial" panose="020B0604020202020204" pitchFamily="34" charset="0"/>
              </a:rPr>
              <a:t>EXTI_DeInit</a:t>
            </a:r>
            <a:r>
              <a:rPr lang="zh-CN" altLang="en-US" sz="2600" dirty="0" smtClean="0">
                <a:ln w="10541" cmpd="sng">
                  <a:solidFill>
                    <a:srgbClr val="7030A0"/>
                  </a:solidFill>
                  <a:prstDash val="solid"/>
                </a:ln>
                <a:solidFill>
                  <a:srgbClr val="C00000"/>
                </a:solidFill>
                <a:latin typeface="Arial" panose="020B0604020202020204" pitchFamily="34" charset="0"/>
              </a:rPr>
              <a:t>：</a:t>
            </a:r>
            <a:endParaRPr lang="zh-CN" altLang="en-US" sz="2600" dirty="0">
              <a:ln w="10541" cmpd="sng">
                <a:solidFill>
                  <a:srgbClr val="7030A0"/>
                </a:solidFill>
                <a:prstDash val="solid"/>
              </a:ln>
              <a:solidFill>
                <a:srgbClr val="C00000"/>
              </a:solidFill>
              <a:latin typeface="Arial" panose="020B0604020202020204" pitchFamily="34" charset="0"/>
            </a:endParaRPr>
          </a:p>
        </p:txBody>
      </p:sp>
      <p:graphicFrame>
        <p:nvGraphicFramePr>
          <p:cNvPr id="4" name="表格 3"/>
          <p:cNvGraphicFramePr>
            <a:graphicFrameLocks noGrp="1"/>
          </p:cNvGraphicFramePr>
          <p:nvPr/>
        </p:nvGraphicFramePr>
        <p:xfrm>
          <a:off x="647427" y="1569298"/>
          <a:ext cx="7611202" cy="1950720"/>
        </p:xfrm>
        <a:graphic>
          <a:graphicData uri="http://schemas.openxmlformats.org/drawingml/2006/table">
            <a:tbl>
              <a:tblPr firstRow="1" firstCol="1" bandRow="1">
                <a:tableStyleId>{2D5ABB26-0587-4C30-8999-92F81FD0307C}</a:tableStyleId>
              </a:tblPr>
              <a:tblGrid>
                <a:gridCol w="2422349"/>
                <a:gridCol w="5188853"/>
              </a:tblGrid>
              <a:tr h="0">
                <a:tc>
                  <a:txBody>
                    <a:bodyPr/>
                    <a:lstStyle/>
                    <a:p>
                      <a:pPr algn="l">
                        <a:spcAft>
                          <a:spcPts val="0"/>
                        </a:spcAft>
                      </a:pPr>
                      <a:r>
                        <a:rPr lang="zh-CN" sz="1600" kern="0">
                          <a:effectLst/>
                        </a:rPr>
                        <a:t>函数名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a:effectLst/>
                        </a:rPr>
                        <a:t>EXTI_DeInit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函数原形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a:effectLst/>
                        </a:rPr>
                        <a:t>EXTI_DeInit(void)</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功能描述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将外设</a:t>
                      </a:r>
                      <a:r>
                        <a:rPr lang="en-US" sz="1600" kern="0">
                          <a:effectLst/>
                        </a:rPr>
                        <a:t> EXTI </a:t>
                      </a:r>
                      <a:r>
                        <a:rPr lang="zh-CN" sz="1600" kern="0">
                          <a:effectLst/>
                        </a:rPr>
                        <a:t>寄存器重设为缺省值</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输入参数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输出参数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返回值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先决条件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被调用函数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dirty="0">
                          <a:effectLst/>
                        </a:rPr>
                        <a:t>无</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5" name="矩形 4"/>
          <p:cNvSpPr/>
          <p:nvPr/>
        </p:nvSpPr>
        <p:spPr>
          <a:xfrm>
            <a:off x="414383" y="3566062"/>
            <a:ext cx="2837636" cy="492443"/>
          </a:xfrm>
          <a:prstGeom prst="rect">
            <a:avLst/>
          </a:prstGeom>
        </p:spPr>
        <p:txBody>
          <a:bodyPr wrap="none">
            <a:spAutoFit/>
          </a:bodyPr>
          <a:lstStyle/>
          <a:p>
            <a:r>
              <a:rPr lang="en-US" altLang="zh-CN" sz="2600" dirty="0" smtClean="0">
                <a:ln w="10541" cmpd="sng">
                  <a:solidFill>
                    <a:srgbClr val="7030A0"/>
                  </a:solidFill>
                  <a:prstDash val="solid"/>
                </a:ln>
                <a:solidFill>
                  <a:srgbClr val="C00000"/>
                </a:solidFill>
                <a:latin typeface="Arial" panose="020B0604020202020204" pitchFamily="34" charset="0"/>
              </a:rPr>
              <a:t>2.</a:t>
            </a:r>
            <a:r>
              <a:rPr lang="zh-CN" altLang="en-US" sz="2600" dirty="0">
                <a:ln w="10541" cmpd="sng">
                  <a:solidFill>
                    <a:srgbClr val="7030A0"/>
                  </a:solidFill>
                  <a:prstDash val="solid"/>
                </a:ln>
                <a:solidFill>
                  <a:srgbClr val="C00000"/>
                </a:solidFill>
                <a:latin typeface="Arial" panose="020B0604020202020204" pitchFamily="34" charset="0"/>
              </a:rPr>
              <a:t>函数</a:t>
            </a:r>
            <a:r>
              <a:rPr lang="en-US" altLang="zh-CN" sz="2600" dirty="0" err="1">
                <a:ln w="10541" cmpd="sng">
                  <a:solidFill>
                    <a:srgbClr val="7030A0"/>
                  </a:solidFill>
                  <a:prstDash val="solid"/>
                </a:ln>
                <a:solidFill>
                  <a:srgbClr val="C00000"/>
                </a:solidFill>
                <a:latin typeface="Arial" panose="020B0604020202020204" pitchFamily="34" charset="0"/>
              </a:rPr>
              <a:t>EXTI_Init</a:t>
            </a:r>
            <a:r>
              <a:rPr lang="zh-CN" altLang="en-US" sz="2600" dirty="0" smtClean="0">
                <a:ln w="10541" cmpd="sng">
                  <a:solidFill>
                    <a:srgbClr val="7030A0"/>
                  </a:solidFill>
                  <a:prstDash val="solid"/>
                </a:ln>
                <a:solidFill>
                  <a:srgbClr val="C00000"/>
                </a:solidFill>
                <a:latin typeface="Arial" panose="020B0604020202020204" pitchFamily="34" charset="0"/>
              </a:rPr>
              <a:t>：</a:t>
            </a:r>
            <a:endParaRPr lang="zh-CN" altLang="en-US" sz="2600" dirty="0">
              <a:ln w="10541" cmpd="sng">
                <a:solidFill>
                  <a:srgbClr val="7030A0"/>
                </a:solidFill>
                <a:prstDash val="solid"/>
              </a:ln>
              <a:solidFill>
                <a:srgbClr val="C00000"/>
              </a:solidFill>
              <a:latin typeface="Arial" panose="020B0604020202020204" pitchFamily="34" charset="0"/>
            </a:endParaRPr>
          </a:p>
        </p:txBody>
      </p:sp>
      <p:graphicFrame>
        <p:nvGraphicFramePr>
          <p:cNvPr id="6" name="表格 5"/>
          <p:cNvGraphicFramePr>
            <a:graphicFrameLocks noGrp="1"/>
          </p:cNvGraphicFramePr>
          <p:nvPr/>
        </p:nvGraphicFramePr>
        <p:xfrm>
          <a:off x="640581" y="4058505"/>
          <a:ext cx="8111533" cy="1950720"/>
        </p:xfrm>
        <a:graphic>
          <a:graphicData uri="http://schemas.openxmlformats.org/drawingml/2006/table">
            <a:tbl>
              <a:tblPr firstRow="1" firstCol="1" bandRow="1">
                <a:tableStyleId>{2D5ABB26-0587-4C30-8999-92F81FD0307C}</a:tableStyleId>
              </a:tblPr>
              <a:tblGrid>
                <a:gridCol w="1957616"/>
                <a:gridCol w="6153917"/>
              </a:tblGrid>
              <a:tr h="0">
                <a:tc>
                  <a:txBody>
                    <a:bodyPr/>
                    <a:lstStyle/>
                    <a:p>
                      <a:pPr algn="l">
                        <a:spcAft>
                          <a:spcPts val="0"/>
                        </a:spcAft>
                      </a:pPr>
                      <a:r>
                        <a:rPr lang="zh-CN" sz="1600" kern="0" dirty="0">
                          <a:effectLst/>
                        </a:rPr>
                        <a:t>函数名 </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a:effectLst/>
                        </a:rPr>
                        <a:t>EXTI_Init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函数原形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a:effectLst/>
                        </a:rPr>
                        <a:t>void EXTI_Init(EXTI_InitTypeDef* EXTI_InitStruct)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功能描述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根据</a:t>
                      </a:r>
                      <a:r>
                        <a:rPr lang="en-US" sz="1600" kern="0">
                          <a:effectLst/>
                        </a:rPr>
                        <a:t> EXTI_InitStruct </a:t>
                      </a:r>
                      <a:r>
                        <a:rPr lang="zh-CN" sz="1600" kern="0">
                          <a:effectLst/>
                        </a:rPr>
                        <a:t>中指定的参数初始化外设</a:t>
                      </a:r>
                      <a:r>
                        <a:rPr lang="en-US" sz="1600" kern="0">
                          <a:effectLst/>
                        </a:rPr>
                        <a:t> EXTI </a:t>
                      </a:r>
                      <a:r>
                        <a:rPr lang="zh-CN" sz="1600" kern="0">
                          <a:effectLst/>
                        </a:rPr>
                        <a:t>寄存器</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输入参数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dirty="0" err="1">
                          <a:effectLst/>
                        </a:rPr>
                        <a:t>EXTI_InitStruct</a:t>
                      </a:r>
                      <a:r>
                        <a:rPr lang="zh-CN" sz="1600" kern="0" dirty="0" smtClean="0">
                          <a:effectLst/>
                        </a:rPr>
                        <a:t>：</a:t>
                      </a:r>
                      <a:r>
                        <a:rPr lang="en-US" altLang="zh-CN" sz="1600" kern="0" dirty="0" err="1" smtClean="0">
                          <a:effectLst/>
                        </a:rPr>
                        <a:t>EXTI_Line</a:t>
                      </a:r>
                      <a:r>
                        <a:rPr lang="zh-CN" altLang="en-US" sz="1600" kern="0" dirty="0" smtClean="0">
                          <a:effectLst/>
                        </a:rPr>
                        <a:t>、</a:t>
                      </a:r>
                      <a:r>
                        <a:rPr lang="en-US" altLang="zh-CN" sz="1600" kern="0" dirty="0" err="1" smtClean="0">
                          <a:effectLst/>
                        </a:rPr>
                        <a:t>EXTI_Mode</a:t>
                      </a:r>
                      <a:r>
                        <a:rPr lang="zh-CN" altLang="en-US" sz="1600" kern="0" dirty="0" smtClean="0">
                          <a:effectLst/>
                        </a:rPr>
                        <a:t>、</a:t>
                      </a:r>
                      <a:r>
                        <a:rPr lang="en-US" altLang="zh-CN" sz="1600" kern="0" dirty="0" err="1" smtClean="0">
                          <a:effectLst/>
                        </a:rPr>
                        <a:t>EXTI_Trigger</a:t>
                      </a:r>
                      <a:r>
                        <a:rPr lang="zh-CN" altLang="en-US" sz="1600" kern="0" dirty="0" smtClean="0">
                          <a:effectLst/>
                        </a:rPr>
                        <a:t>、</a:t>
                      </a:r>
                      <a:r>
                        <a:rPr lang="en-US" altLang="zh-CN" sz="1600" kern="0" dirty="0" err="1" smtClean="0">
                          <a:effectLst/>
                        </a:rPr>
                        <a:t>EXTI_LineCmd</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输出参数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返回值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先决条件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被调用函数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dirty="0">
                          <a:effectLst/>
                        </a:rPr>
                        <a:t>无</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5697" y="430977"/>
            <a:ext cx="4174541" cy="492443"/>
          </a:xfrm>
          <a:prstGeom prst="rect">
            <a:avLst/>
          </a:prstGeom>
        </p:spPr>
        <p:txBody>
          <a:bodyPr wrap="none">
            <a:spAutoFit/>
          </a:bodyPr>
          <a:lstStyle/>
          <a:p>
            <a:r>
              <a:rPr lang="en-US" altLang="zh-CN" sz="2600" dirty="0" smtClean="0">
                <a:ln w="10541" cmpd="sng">
                  <a:solidFill>
                    <a:srgbClr val="7030A0"/>
                  </a:solidFill>
                  <a:prstDash val="solid"/>
                </a:ln>
                <a:solidFill>
                  <a:srgbClr val="C00000"/>
                </a:solidFill>
                <a:latin typeface="Arial" panose="020B0604020202020204" pitchFamily="34" charset="0"/>
              </a:rPr>
              <a:t>3.</a:t>
            </a:r>
            <a:r>
              <a:rPr lang="zh-CN" altLang="en-US" sz="2600" dirty="0">
                <a:ln w="10541" cmpd="sng">
                  <a:solidFill>
                    <a:srgbClr val="7030A0"/>
                  </a:solidFill>
                  <a:prstDash val="solid"/>
                </a:ln>
                <a:solidFill>
                  <a:srgbClr val="C00000"/>
                </a:solidFill>
                <a:latin typeface="Arial" panose="020B0604020202020204" pitchFamily="34" charset="0"/>
              </a:rPr>
              <a:t>函数</a:t>
            </a:r>
            <a:r>
              <a:rPr lang="en-US" altLang="zh-CN" sz="2600" dirty="0" err="1">
                <a:ln w="10541" cmpd="sng">
                  <a:solidFill>
                    <a:srgbClr val="7030A0"/>
                  </a:solidFill>
                  <a:prstDash val="solid"/>
                </a:ln>
                <a:solidFill>
                  <a:srgbClr val="C00000"/>
                </a:solidFill>
                <a:latin typeface="Arial" panose="020B0604020202020204" pitchFamily="34" charset="0"/>
              </a:rPr>
              <a:t>EXTI_GetITStatus</a:t>
            </a:r>
            <a:r>
              <a:rPr lang="zh-CN" altLang="en-US" sz="2600" dirty="0" smtClean="0">
                <a:ln w="10541" cmpd="sng">
                  <a:solidFill>
                    <a:srgbClr val="7030A0"/>
                  </a:solidFill>
                  <a:prstDash val="solid"/>
                </a:ln>
                <a:solidFill>
                  <a:srgbClr val="C00000"/>
                </a:solidFill>
                <a:latin typeface="Arial" panose="020B0604020202020204" pitchFamily="34" charset="0"/>
              </a:rPr>
              <a:t>：</a:t>
            </a:r>
            <a:endParaRPr lang="zh-CN" altLang="en-US" sz="2600" dirty="0">
              <a:ln w="10541" cmpd="sng">
                <a:solidFill>
                  <a:srgbClr val="7030A0"/>
                </a:solidFill>
                <a:prstDash val="solid"/>
              </a:ln>
              <a:solidFill>
                <a:srgbClr val="C00000"/>
              </a:solidFill>
              <a:latin typeface="Arial" panose="020B0604020202020204" pitchFamily="34" charset="0"/>
            </a:endParaRPr>
          </a:p>
        </p:txBody>
      </p:sp>
      <p:graphicFrame>
        <p:nvGraphicFramePr>
          <p:cNvPr id="3" name="表格 2"/>
          <p:cNvGraphicFramePr>
            <a:graphicFrameLocks noGrp="1"/>
          </p:cNvGraphicFramePr>
          <p:nvPr/>
        </p:nvGraphicFramePr>
        <p:xfrm>
          <a:off x="585786" y="1010504"/>
          <a:ext cx="8064728" cy="2468880"/>
        </p:xfrm>
        <a:graphic>
          <a:graphicData uri="http://schemas.openxmlformats.org/drawingml/2006/table">
            <a:tbl>
              <a:tblPr firstRow="1" firstCol="1" bandRow="1">
                <a:tableStyleId>{2D5ABB26-0587-4C30-8999-92F81FD0307C}</a:tableStyleId>
              </a:tblPr>
              <a:tblGrid>
                <a:gridCol w="1997757"/>
                <a:gridCol w="6066971"/>
              </a:tblGrid>
              <a:tr h="0">
                <a:tc>
                  <a:txBody>
                    <a:bodyPr/>
                    <a:lstStyle/>
                    <a:p>
                      <a:pPr algn="l">
                        <a:spcAft>
                          <a:spcPts val="0"/>
                        </a:spcAft>
                      </a:pPr>
                      <a:r>
                        <a:rPr lang="zh-CN" sz="1800" kern="0">
                          <a:effectLst/>
                        </a:rPr>
                        <a:t>函数名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800" kern="0">
                          <a:effectLst/>
                        </a:rPr>
                        <a:t>EXTI_GetITStatus</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800" kern="0">
                          <a:effectLst/>
                        </a:rPr>
                        <a:t>函数原形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800" kern="0">
                          <a:effectLst/>
                        </a:rPr>
                        <a:t>ITStatus EXTI_GetITStatus(u32 EXTI_Line)</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800" kern="0">
                          <a:effectLst/>
                        </a:rPr>
                        <a:t>功能描述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rPr>
                        <a:t>检查指定的</a:t>
                      </a:r>
                      <a:r>
                        <a:rPr lang="en-US" sz="1800" kern="0">
                          <a:effectLst/>
                        </a:rPr>
                        <a:t> EXTI </a:t>
                      </a:r>
                      <a:r>
                        <a:rPr lang="zh-CN" sz="1800" kern="0">
                          <a:effectLst/>
                        </a:rPr>
                        <a:t>线路触发请求发生与否</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800" kern="0">
                          <a:effectLst/>
                        </a:rPr>
                        <a:t>输入参数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800" kern="0">
                          <a:effectLst/>
                        </a:rPr>
                        <a:t>EXTI_Line</a:t>
                      </a:r>
                      <a:r>
                        <a:rPr lang="zh-CN" sz="1800" kern="0">
                          <a:effectLst/>
                        </a:rPr>
                        <a:t>：待检查</a:t>
                      </a:r>
                      <a:r>
                        <a:rPr lang="en-US" sz="1800" kern="0">
                          <a:effectLst/>
                        </a:rPr>
                        <a:t> EXTI </a:t>
                      </a:r>
                      <a:r>
                        <a:rPr lang="zh-CN" sz="1800" kern="0">
                          <a:effectLst/>
                        </a:rPr>
                        <a:t>线路的挂起位</a:t>
                      </a:r>
                      <a:endParaRPr lang="zh-CN" sz="1800" kern="100">
                        <a:effectLst/>
                      </a:endParaRPr>
                    </a:p>
                    <a:p>
                      <a:pPr algn="l">
                        <a:spcAft>
                          <a:spcPts val="0"/>
                        </a:spcAft>
                      </a:pPr>
                      <a:r>
                        <a:rPr lang="zh-CN" sz="1800" kern="0">
                          <a:effectLst/>
                        </a:rPr>
                        <a:t>参阅</a:t>
                      </a:r>
                      <a:r>
                        <a:rPr lang="en-US" sz="1800" kern="0">
                          <a:effectLst/>
                        </a:rPr>
                        <a:t> Section</a:t>
                      </a:r>
                      <a:r>
                        <a:rPr lang="zh-CN" sz="1800" kern="0">
                          <a:effectLst/>
                        </a:rPr>
                        <a:t>：</a:t>
                      </a:r>
                      <a:r>
                        <a:rPr lang="en-US" sz="1800" kern="0">
                          <a:effectLst/>
                        </a:rPr>
                        <a:t> EXTI_Line </a:t>
                      </a:r>
                      <a:r>
                        <a:rPr lang="zh-CN" sz="1800" kern="0">
                          <a:effectLst/>
                        </a:rPr>
                        <a:t>查阅更多该参数允许取值范围</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800" kern="0">
                          <a:effectLst/>
                        </a:rPr>
                        <a:t>输出参数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800" kern="0">
                          <a:effectLst/>
                        </a:rPr>
                        <a:t>返回值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800" kern="0">
                          <a:effectLst/>
                        </a:rPr>
                        <a:t>EXTI_Line </a:t>
                      </a:r>
                      <a:r>
                        <a:rPr lang="zh-CN" sz="1800" kern="0">
                          <a:effectLst/>
                        </a:rPr>
                        <a:t>的新状态（</a:t>
                      </a:r>
                      <a:r>
                        <a:rPr lang="en-US" sz="1800" kern="0">
                          <a:effectLst/>
                        </a:rPr>
                        <a:t>SET </a:t>
                      </a:r>
                      <a:r>
                        <a:rPr lang="zh-CN" sz="1800" kern="0">
                          <a:effectLst/>
                        </a:rPr>
                        <a:t>或者</a:t>
                      </a:r>
                      <a:r>
                        <a:rPr lang="en-US" sz="1800" kern="0">
                          <a:effectLst/>
                        </a:rPr>
                        <a:t> RESET</a:t>
                      </a:r>
                      <a:r>
                        <a:rPr lang="zh-CN" sz="1800" kern="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800" kern="0">
                          <a:effectLst/>
                        </a:rPr>
                        <a:t>先决条件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a:effectLst/>
                        </a:rPr>
                        <a:t>无</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800" kern="0">
                          <a:effectLst/>
                        </a:rPr>
                        <a:t>被调用函数 </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800" kern="0" dirty="0">
                          <a:effectLst/>
                        </a:rPr>
                        <a:t>无</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矩形 3"/>
          <p:cNvSpPr/>
          <p:nvPr/>
        </p:nvSpPr>
        <p:spPr>
          <a:xfrm>
            <a:off x="305526" y="3544292"/>
            <a:ext cx="4527201" cy="492443"/>
          </a:xfrm>
          <a:prstGeom prst="rect">
            <a:avLst/>
          </a:prstGeom>
        </p:spPr>
        <p:txBody>
          <a:bodyPr wrap="none">
            <a:spAutoFit/>
          </a:bodyPr>
          <a:lstStyle/>
          <a:p>
            <a:r>
              <a:rPr lang="en-US" altLang="zh-CN" sz="2600" dirty="0" smtClean="0">
                <a:ln w="10541" cmpd="sng">
                  <a:solidFill>
                    <a:srgbClr val="7030A0"/>
                  </a:solidFill>
                  <a:prstDash val="solid"/>
                </a:ln>
                <a:solidFill>
                  <a:srgbClr val="C00000"/>
                </a:solidFill>
                <a:latin typeface="Arial" panose="020B0604020202020204" pitchFamily="34" charset="0"/>
              </a:rPr>
              <a:t>4.</a:t>
            </a:r>
            <a:r>
              <a:rPr lang="zh-CN" altLang="en-US" sz="2600" dirty="0">
                <a:ln w="10541" cmpd="sng">
                  <a:solidFill>
                    <a:srgbClr val="7030A0"/>
                  </a:solidFill>
                  <a:prstDash val="solid"/>
                </a:ln>
                <a:solidFill>
                  <a:srgbClr val="C00000"/>
                </a:solidFill>
                <a:latin typeface="Arial" panose="020B0604020202020204" pitchFamily="34" charset="0"/>
              </a:rPr>
              <a:t>函数</a:t>
            </a:r>
            <a:r>
              <a:rPr lang="en-US" altLang="zh-CN" sz="2600" dirty="0" err="1">
                <a:ln w="10541" cmpd="sng">
                  <a:solidFill>
                    <a:srgbClr val="7030A0"/>
                  </a:solidFill>
                  <a:prstDash val="solid"/>
                </a:ln>
                <a:solidFill>
                  <a:srgbClr val="C00000"/>
                </a:solidFill>
                <a:latin typeface="Arial" panose="020B0604020202020204" pitchFamily="34" charset="0"/>
              </a:rPr>
              <a:t>EXTI_GetFlagStatus</a:t>
            </a:r>
            <a:r>
              <a:rPr lang="zh-CN" altLang="en-US" sz="2600" dirty="0" smtClean="0">
                <a:ln w="10541" cmpd="sng">
                  <a:solidFill>
                    <a:srgbClr val="7030A0"/>
                  </a:solidFill>
                  <a:prstDash val="solid"/>
                </a:ln>
                <a:solidFill>
                  <a:srgbClr val="C00000"/>
                </a:solidFill>
                <a:latin typeface="Arial" panose="020B0604020202020204" pitchFamily="34" charset="0"/>
              </a:rPr>
              <a:t>：</a:t>
            </a:r>
            <a:endParaRPr lang="zh-CN" altLang="en-US" sz="2600" dirty="0">
              <a:ln w="10541" cmpd="sng">
                <a:solidFill>
                  <a:srgbClr val="7030A0"/>
                </a:solidFill>
                <a:prstDash val="solid"/>
              </a:ln>
              <a:solidFill>
                <a:srgbClr val="C00000"/>
              </a:solidFill>
              <a:latin typeface="Arial" panose="020B0604020202020204" pitchFamily="34" charset="0"/>
            </a:endParaRPr>
          </a:p>
        </p:txBody>
      </p:sp>
      <p:graphicFrame>
        <p:nvGraphicFramePr>
          <p:cNvPr id="5" name="表格 4"/>
          <p:cNvGraphicFramePr>
            <a:graphicFrameLocks noGrp="1"/>
          </p:cNvGraphicFramePr>
          <p:nvPr/>
        </p:nvGraphicFramePr>
        <p:xfrm>
          <a:off x="571273" y="4109305"/>
          <a:ext cx="7963127" cy="2407608"/>
        </p:xfrm>
        <a:graphic>
          <a:graphicData uri="http://schemas.openxmlformats.org/drawingml/2006/table">
            <a:tbl>
              <a:tblPr firstRow="1" firstCol="1" bandRow="1">
                <a:tableStyleId>{2D5ABB26-0587-4C30-8999-92F81FD0307C}</a:tableStyleId>
              </a:tblPr>
              <a:tblGrid>
                <a:gridCol w="1968727"/>
                <a:gridCol w="5994400"/>
              </a:tblGrid>
              <a:tr h="300951">
                <a:tc>
                  <a:txBody>
                    <a:bodyPr/>
                    <a:lstStyle/>
                    <a:p>
                      <a:pPr algn="l">
                        <a:spcAft>
                          <a:spcPts val="0"/>
                        </a:spcAft>
                      </a:pPr>
                      <a:r>
                        <a:rPr lang="zh-CN" sz="1600" kern="0">
                          <a:effectLst/>
                        </a:rPr>
                        <a:t>函数名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a:effectLst/>
                        </a:rPr>
                        <a:t>EXTI_GetFlagStatus</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0951">
                <a:tc>
                  <a:txBody>
                    <a:bodyPr/>
                    <a:lstStyle/>
                    <a:p>
                      <a:pPr algn="l">
                        <a:spcAft>
                          <a:spcPts val="0"/>
                        </a:spcAft>
                      </a:pPr>
                      <a:r>
                        <a:rPr lang="zh-CN" sz="1600" kern="0">
                          <a:effectLst/>
                        </a:rPr>
                        <a:t>函数原形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a:effectLst/>
                        </a:rPr>
                        <a:t>FlagStatus EXTI_GetFlagStatus(u32 EXTI_Line)</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0951">
                <a:tc>
                  <a:txBody>
                    <a:bodyPr/>
                    <a:lstStyle/>
                    <a:p>
                      <a:pPr algn="l">
                        <a:spcAft>
                          <a:spcPts val="0"/>
                        </a:spcAft>
                      </a:pPr>
                      <a:r>
                        <a:rPr lang="zh-CN" sz="1600" kern="0">
                          <a:effectLst/>
                        </a:rPr>
                        <a:t>功能描述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检查指定的</a:t>
                      </a:r>
                      <a:r>
                        <a:rPr lang="en-US" sz="1600" kern="0">
                          <a:effectLst/>
                        </a:rPr>
                        <a:t> EXTI </a:t>
                      </a:r>
                      <a:r>
                        <a:rPr lang="zh-CN" sz="1600" kern="0">
                          <a:effectLst/>
                        </a:rPr>
                        <a:t>线路标志位设置与否</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0951">
                <a:tc>
                  <a:txBody>
                    <a:bodyPr/>
                    <a:lstStyle/>
                    <a:p>
                      <a:pPr algn="l">
                        <a:spcAft>
                          <a:spcPts val="0"/>
                        </a:spcAft>
                      </a:pPr>
                      <a:r>
                        <a:rPr lang="zh-CN" sz="1600" kern="0">
                          <a:effectLst/>
                        </a:rPr>
                        <a:t>输入参数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a:effectLst/>
                        </a:rPr>
                        <a:t>EXTI_Line</a:t>
                      </a:r>
                      <a:r>
                        <a:rPr lang="zh-CN" sz="1600" kern="0">
                          <a:effectLst/>
                        </a:rPr>
                        <a:t>：待检查的</a:t>
                      </a:r>
                      <a:r>
                        <a:rPr lang="en-US" sz="1600" kern="0">
                          <a:effectLst/>
                        </a:rPr>
                        <a:t> EXTI </a:t>
                      </a:r>
                      <a:r>
                        <a:rPr lang="zh-CN" sz="1600" kern="0">
                          <a:effectLst/>
                        </a:rPr>
                        <a:t>线路标志位</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0951">
                <a:tc>
                  <a:txBody>
                    <a:bodyPr/>
                    <a:lstStyle/>
                    <a:p>
                      <a:pPr algn="l">
                        <a:spcAft>
                          <a:spcPts val="0"/>
                        </a:spcAft>
                      </a:pPr>
                      <a:r>
                        <a:rPr lang="zh-CN" sz="1600" kern="0">
                          <a:effectLst/>
                        </a:rPr>
                        <a:t>输出参数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0951">
                <a:tc>
                  <a:txBody>
                    <a:bodyPr/>
                    <a:lstStyle/>
                    <a:p>
                      <a:pPr algn="l">
                        <a:spcAft>
                          <a:spcPts val="0"/>
                        </a:spcAft>
                      </a:pPr>
                      <a:r>
                        <a:rPr lang="zh-CN" sz="1600" kern="0">
                          <a:effectLst/>
                        </a:rPr>
                        <a:t>返回值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a:effectLst/>
                        </a:rPr>
                        <a:t>EXTI_Line </a:t>
                      </a:r>
                      <a:r>
                        <a:rPr lang="zh-CN" sz="1600" kern="0">
                          <a:effectLst/>
                        </a:rPr>
                        <a:t>的新状态（</a:t>
                      </a:r>
                      <a:r>
                        <a:rPr lang="en-US" sz="1600" kern="0">
                          <a:effectLst/>
                        </a:rPr>
                        <a:t>SET </a:t>
                      </a:r>
                      <a:r>
                        <a:rPr lang="zh-CN" sz="1600" kern="0">
                          <a:effectLst/>
                        </a:rPr>
                        <a:t>或者</a:t>
                      </a:r>
                      <a:r>
                        <a:rPr lang="en-US" sz="1600" kern="0">
                          <a:effectLst/>
                        </a:rPr>
                        <a:t> RESET</a:t>
                      </a:r>
                      <a:r>
                        <a:rPr lang="zh-CN" sz="1600" kern="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0951">
                <a:tc>
                  <a:txBody>
                    <a:bodyPr/>
                    <a:lstStyle/>
                    <a:p>
                      <a:pPr algn="l">
                        <a:spcAft>
                          <a:spcPts val="0"/>
                        </a:spcAft>
                      </a:pPr>
                      <a:r>
                        <a:rPr lang="zh-CN" sz="1600" kern="0">
                          <a:effectLst/>
                        </a:rPr>
                        <a:t>先决条件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0951">
                <a:tc>
                  <a:txBody>
                    <a:bodyPr/>
                    <a:lstStyle/>
                    <a:p>
                      <a:pPr algn="l">
                        <a:spcAft>
                          <a:spcPts val="0"/>
                        </a:spcAft>
                      </a:pPr>
                      <a:r>
                        <a:rPr lang="zh-CN" sz="1600" kern="0">
                          <a:effectLst/>
                        </a:rPr>
                        <a:t>被调用函数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dirty="0">
                          <a:effectLst/>
                        </a:rPr>
                        <a:t>无</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1982" y="496292"/>
            <a:ext cx="3837910" cy="492443"/>
          </a:xfrm>
          <a:prstGeom prst="rect">
            <a:avLst/>
          </a:prstGeom>
        </p:spPr>
        <p:txBody>
          <a:bodyPr wrap="none">
            <a:spAutoFit/>
          </a:bodyPr>
          <a:lstStyle/>
          <a:p>
            <a:r>
              <a:rPr lang="en-US" altLang="zh-CN" sz="2600" dirty="0" smtClean="0">
                <a:ln w="10541" cmpd="sng">
                  <a:solidFill>
                    <a:srgbClr val="7030A0"/>
                  </a:solidFill>
                  <a:prstDash val="solid"/>
                </a:ln>
                <a:solidFill>
                  <a:srgbClr val="C00000"/>
                </a:solidFill>
                <a:latin typeface="Arial" panose="020B0604020202020204" pitchFamily="34" charset="0"/>
              </a:rPr>
              <a:t>5.</a:t>
            </a:r>
            <a:r>
              <a:rPr lang="zh-CN" altLang="en-US" sz="2600" dirty="0">
                <a:ln w="10541" cmpd="sng">
                  <a:solidFill>
                    <a:srgbClr val="7030A0"/>
                  </a:solidFill>
                  <a:prstDash val="solid"/>
                </a:ln>
                <a:solidFill>
                  <a:srgbClr val="C00000"/>
                </a:solidFill>
                <a:latin typeface="Arial" panose="020B0604020202020204" pitchFamily="34" charset="0"/>
              </a:rPr>
              <a:t>函数</a:t>
            </a:r>
            <a:r>
              <a:rPr lang="en-US" altLang="zh-CN" sz="2600" dirty="0" err="1">
                <a:ln w="10541" cmpd="sng">
                  <a:solidFill>
                    <a:srgbClr val="7030A0"/>
                  </a:solidFill>
                  <a:prstDash val="solid"/>
                </a:ln>
                <a:solidFill>
                  <a:srgbClr val="C00000"/>
                </a:solidFill>
                <a:latin typeface="Arial" panose="020B0604020202020204" pitchFamily="34" charset="0"/>
              </a:rPr>
              <a:t>EXTI_ClearFlag</a:t>
            </a:r>
            <a:r>
              <a:rPr lang="zh-CN" altLang="en-US" sz="2600" dirty="0" smtClean="0">
                <a:ln w="10541" cmpd="sng">
                  <a:solidFill>
                    <a:srgbClr val="7030A0"/>
                  </a:solidFill>
                  <a:prstDash val="solid"/>
                </a:ln>
                <a:solidFill>
                  <a:srgbClr val="C00000"/>
                </a:solidFill>
                <a:latin typeface="Arial" panose="020B0604020202020204" pitchFamily="34" charset="0"/>
              </a:rPr>
              <a:t>：</a:t>
            </a:r>
            <a:endParaRPr lang="zh-CN" altLang="en-US" sz="2600" dirty="0">
              <a:ln w="10541" cmpd="sng">
                <a:solidFill>
                  <a:srgbClr val="7030A0"/>
                </a:solidFill>
                <a:prstDash val="solid"/>
              </a:ln>
              <a:solidFill>
                <a:srgbClr val="C00000"/>
              </a:solidFill>
              <a:latin typeface="Arial" panose="020B0604020202020204" pitchFamily="34" charset="0"/>
            </a:endParaRPr>
          </a:p>
        </p:txBody>
      </p:sp>
      <p:graphicFrame>
        <p:nvGraphicFramePr>
          <p:cNvPr id="3" name="表格 2"/>
          <p:cNvGraphicFramePr>
            <a:graphicFrameLocks noGrp="1"/>
          </p:cNvGraphicFramePr>
          <p:nvPr/>
        </p:nvGraphicFramePr>
        <p:xfrm>
          <a:off x="426810" y="988735"/>
          <a:ext cx="8122104" cy="1950720"/>
        </p:xfrm>
        <a:graphic>
          <a:graphicData uri="http://schemas.openxmlformats.org/drawingml/2006/table">
            <a:tbl>
              <a:tblPr firstRow="1" firstCol="1" bandRow="1">
                <a:tableStyleId>{2D5ABB26-0587-4C30-8999-92F81FD0307C}</a:tableStyleId>
              </a:tblPr>
              <a:tblGrid>
                <a:gridCol w="2538775"/>
                <a:gridCol w="5583329"/>
              </a:tblGrid>
              <a:tr h="0">
                <a:tc>
                  <a:txBody>
                    <a:bodyPr/>
                    <a:lstStyle/>
                    <a:p>
                      <a:pPr algn="l">
                        <a:spcAft>
                          <a:spcPts val="0"/>
                        </a:spcAft>
                      </a:pPr>
                      <a:r>
                        <a:rPr lang="zh-CN" sz="1600" kern="0" dirty="0">
                          <a:effectLst/>
                        </a:rPr>
                        <a:t>函数名 </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a:effectLst/>
                        </a:rPr>
                        <a:t>EXTI_ClearFlag</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函数原形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a:effectLst/>
                        </a:rPr>
                        <a:t>void EXTI_ClearFlag(u32 EXTI_Line)</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功能描述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清除</a:t>
                      </a:r>
                      <a:r>
                        <a:rPr lang="en-US" sz="1600" kern="0">
                          <a:effectLst/>
                        </a:rPr>
                        <a:t> EXTI </a:t>
                      </a:r>
                      <a:r>
                        <a:rPr lang="zh-CN" sz="1600" kern="0">
                          <a:effectLst/>
                        </a:rPr>
                        <a:t>线路挂起标志位</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输入参数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a:effectLst/>
                        </a:rPr>
                        <a:t>EXTI_Line</a:t>
                      </a:r>
                      <a:r>
                        <a:rPr lang="zh-CN" sz="1600" kern="0">
                          <a:effectLst/>
                        </a:rPr>
                        <a:t>：待清除标志位的</a:t>
                      </a:r>
                      <a:r>
                        <a:rPr lang="en-US" sz="1600" kern="0">
                          <a:effectLst/>
                        </a:rPr>
                        <a:t> EXTI </a:t>
                      </a:r>
                      <a:r>
                        <a:rPr lang="zh-CN" sz="1600" kern="0">
                          <a:effectLst/>
                        </a:rPr>
                        <a:t>线路</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输出参数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返回值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a:effectLst/>
                        </a:rPr>
                        <a:t>先决条件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l">
                        <a:spcAft>
                          <a:spcPts val="0"/>
                        </a:spcAft>
                      </a:pPr>
                      <a:r>
                        <a:rPr lang="zh-CN" sz="1600" kern="0" dirty="0">
                          <a:effectLst/>
                        </a:rPr>
                        <a:t>被调用函数 </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dirty="0">
                          <a:effectLst/>
                        </a:rPr>
                        <a:t>无</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矩形 3"/>
          <p:cNvSpPr/>
          <p:nvPr/>
        </p:nvSpPr>
        <p:spPr>
          <a:xfrm>
            <a:off x="309320" y="3072578"/>
            <a:ext cx="5101076" cy="492443"/>
          </a:xfrm>
          <a:prstGeom prst="rect">
            <a:avLst/>
          </a:prstGeom>
        </p:spPr>
        <p:txBody>
          <a:bodyPr wrap="none">
            <a:spAutoFit/>
          </a:bodyPr>
          <a:lstStyle/>
          <a:p>
            <a:r>
              <a:rPr lang="en-US" altLang="zh-CN" sz="2600" dirty="0" smtClean="0">
                <a:ln w="10541" cmpd="sng">
                  <a:solidFill>
                    <a:srgbClr val="7030A0"/>
                  </a:solidFill>
                  <a:prstDash val="solid"/>
                </a:ln>
                <a:solidFill>
                  <a:srgbClr val="C00000"/>
                </a:solidFill>
                <a:latin typeface="Arial" panose="020B0604020202020204" pitchFamily="34" charset="0"/>
              </a:rPr>
              <a:t>6.</a:t>
            </a:r>
            <a:r>
              <a:rPr lang="zh-CN" altLang="en-US" sz="2600" dirty="0">
                <a:ln w="10541" cmpd="sng">
                  <a:solidFill>
                    <a:srgbClr val="7030A0"/>
                  </a:solidFill>
                  <a:prstDash val="solid"/>
                </a:ln>
                <a:solidFill>
                  <a:srgbClr val="C00000"/>
                </a:solidFill>
                <a:latin typeface="Arial" panose="020B0604020202020204" pitchFamily="34" charset="0"/>
              </a:rPr>
              <a:t>函数</a:t>
            </a:r>
            <a:r>
              <a:rPr lang="en-US" altLang="zh-CN" sz="2600" dirty="0" err="1">
                <a:ln w="10541" cmpd="sng">
                  <a:solidFill>
                    <a:srgbClr val="7030A0"/>
                  </a:solidFill>
                  <a:prstDash val="solid"/>
                </a:ln>
                <a:solidFill>
                  <a:srgbClr val="C00000"/>
                </a:solidFill>
                <a:latin typeface="Arial" panose="020B0604020202020204" pitchFamily="34" charset="0"/>
              </a:rPr>
              <a:t>EXTI_ClearITPendingBit</a:t>
            </a:r>
            <a:r>
              <a:rPr lang="zh-CN" altLang="en-US" sz="2600" dirty="0" smtClean="0">
                <a:ln w="10541" cmpd="sng">
                  <a:solidFill>
                    <a:srgbClr val="7030A0"/>
                  </a:solidFill>
                  <a:prstDash val="solid"/>
                </a:ln>
                <a:solidFill>
                  <a:srgbClr val="C00000"/>
                </a:solidFill>
                <a:latin typeface="Arial" panose="020B0604020202020204" pitchFamily="34" charset="0"/>
              </a:rPr>
              <a:t>：</a:t>
            </a:r>
            <a:endParaRPr lang="zh-CN" altLang="en-US" sz="2600" dirty="0">
              <a:ln w="10541" cmpd="sng">
                <a:solidFill>
                  <a:srgbClr val="7030A0"/>
                </a:solidFill>
                <a:prstDash val="solid"/>
              </a:ln>
              <a:solidFill>
                <a:srgbClr val="C00000"/>
              </a:solidFill>
              <a:latin typeface="Arial" panose="020B0604020202020204" pitchFamily="34" charset="0"/>
            </a:endParaRPr>
          </a:p>
        </p:txBody>
      </p:sp>
      <p:graphicFrame>
        <p:nvGraphicFramePr>
          <p:cNvPr id="5" name="表格 4"/>
          <p:cNvGraphicFramePr>
            <a:graphicFrameLocks noGrp="1"/>
          </p:cNvGraphicFramePr>
          <p:nvPr/>
        </p:nvGraphicFramePr>
        <p:xfrm>
          <a:off x="484867" y="3693791"/>
          <a:ext cx="8093075" cy="2605408"/>
        </p:xfrm>
        <a:graphic>
          <a:graphicData uri="http://schemas.openxmlformats.org/drawingml/2006/table">
            <a:tbl>
              <a:tblPr firstRow="1" firstCol="1" bandRow="1">
                <a:tableStyleId>{2D5ABB26-0587-4C30-8999-92F81FD0307C}</a:tableStyleId>
              </a:tblPr>
              <a:tblGrid>
                <a:gridCol w="2669474"/>
                <a:gridCol w="5423601"/>
              </a:tblGrid>
              <a:tr h="325676">
                <a:tc>
                  <a:txBody>
                    <a:bodyPr/>
                    <a:lstStyle/>
                    <a:p>
                      <a:pPr algn="l">
                        <a:spcAft>
                          <a:spcPts val="0"/>
                        </a:spcAft>
                      </a:pPr>
                      <a:r>
                        <a:rPr lang="zh-CN" sz="1600" kern="0">
                          <a:effectLst/>
                        </a:rPr>
                        <a:t>函数名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a:effectLst/>
                        </a:rPr>
                        <a:t>EXTI_ClearITPendingBit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5676">
                <a:tc>
                  <a:txBody>
                    <a:bodyPr/>
                    <a:lstStyle/>
                    <a:p>
                      <a:pPr algn="l">
                        <a:spcAft>
                          <a:spcPts val="0"/>
                        </a:spcAft>
                      </a:pPr>
                      <a:r>
                        <a:rPr lang="zh-CN" sz="1600" kern="0">
                          <a:effectLst/>
                        </a:rPr>
                        <a:t>函数原形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a:effectLst/>
                        </a:rPr>
                        <a:t>void EXTI_ClearITPendingBit(u32 EXTI_Line)</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5676">
                <a:tc>
                  <a:txBody>
                    <a:bodyPr/>
                    <a:lstStyle/>
                    <a:p>
                      <a:pPr algn="l">
                        <a:spcAft>
                          <a:spcPts val="0"/>
                        </a:spcAft>
                      </a:pPr>
                      <a:r>
                        <a:rPr lang="zh-CN" sz="1600" kern="0">
                          <a:effectLst/>
                        </a:rPr>
                        <a:t>功能描述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清除</a:t>
                      </a:r>
                      <a:r>
                        <a:rPr lang="en-US" sz="1600" kern="0">
                          <a:effectLst/>
                        </a:rPr>
                        <a:t> EXTI </a:t>
                      </a:r>
                      <a:r>
                        <a:rPr lang="zh-CN" sz="1600" kern="0">
                          <a:effectLst/>
                        </a:rPr>
                        <a:t>线路挂起位</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5676">
                <a:tc>
                  <a:txBody>
                    <a:bodyPr/>
                    <a:lstStyle/>
                    <a:p>
                      <a:pPr algn="l">
                        <a:spcAft>
                          <a:spcPts val="0"/>
                        </a:spcAft>
                      </a:pPr>
                      <a:r>
                        <a:rPr lang="zh-CN" sz="1600" kern="0">
                          <a:effectLst/>
                        </a:rPr>
                        <a:t>输入参数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en-US" sz="1600" kern="0">
                          <a:effectLst/>
                        </a:rPr>
                        <a:t>EXTI_Line</a:t>
                      </a:r>
                      <a:r>
                        <a:rPr lang="zh-CN" sz="1600" kern="0">
                          <a:effectLst/>
                        </a:rPr>
                        <a:t>：待清除</a:t>
                      </a:r>
                      <a:r>
                        <a:rPr lang="en-US" sz="1600" kern="0">
                          <a:effectLst/>
                        </a:rPr>
                        <a:t> EXTI </a:t>
                      </a:r>
                      <a:r>
                        <a:rPr lang="zh-CN" sz="1600" kern="0">
                          <a:effectLst/>
                        </a:rPr>
                        <a:t>线路的挂起位</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5676">
                <a:tc>
                  <a:txBody>
                    <a:bodyPr/>
                    <a:lstStyle/>
                    <a:p>
                      <a:pPr algn="l">
                        <a:spcAft>
                          <a:spcPts val="0"/>
                        </a:spcAft>
                      </a:pPr>
                      <a:r>
                        <a:rPr lang="zh-CN" sz="1600" kern="0">
                          <a:effectLst/>
                        </a:rPr>
                        <a:t>输出参数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5676">
                <a:tc>
                  <a:txBody>
                    <a:bodyPr/>
                    <a:lstStyle/>
                    <a:p>
                      <a:pPr algn="l">
                        <a:spcAft>
                          <a:spcPts val="0"/>
                        </a:spcAft>
                      </a:pPr>
                      <a:r>
                        <a:rPr lang="zh-CN" sz="1600" kern="0">
                          <a:effectLst/>
                        </a:rPr>
                        <a:t>返回值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5676">
                <a:tc>
                  <a:txBody>
                    <a:bodyPr/>
                    <a:lstStyle/>
                    <a:p>
                      <a:pPr algn="l">
                        <a:spcAft>
                          <a:spcPts val="0"/>
                        </a:spcAft>
                      </a:pPr>
                      <a:r>
                        <a:rPr lang="zh-CN" sz="1600" kern="0">
                          <a:effectLst/>
                        </a:rPr>
                        <a:t>先决条件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a:effectLst/>
                        </a:rPr>
                        <a:t>无</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5676">
                <a:tc>
                  <a:txBody>
                    <a:bodyPr/>
                    <a:lstStyle/>
                    <a:p>
                      <a:pPr algn="l">
                        <a:spcAft>
                          <a:spcPts val="0"/>
                        </a:spcAft>
                      </a:pPr>
                      <a:r>
                        <a:rPr lang="zh-CN" sz="1600" kern="0">
                          <a:effectLst/>
                        </a:rPr>
                        <a:t>被调用函数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0" dirty="0">
                          <a:effectLst/>
                        </a:rPr>
                        <a:t>无</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2204" y="419243"/>
            <a:ext cx="8470251" cy="646331"/>
          </a:xfrm>
          <a:prstGeom prst="rect">
            <a:avLst/>
          </a:prstGeom>
          <a:noFill/>
        </p:spPr>
        <p:txBody>
          <a:bodyPr wrap="square">
            <a:spAutoFit/>
          </a:bodyPr>
          <a:lstStyle/>
          <a:p>
            <a:pPr>
              <a:defRPr/>
            </a:pPr>
            <a:r>
              <a:rPr lang="en-US" altLang="zh-CN" sz="3600" b="1" dirty="0" err="1" smtClean="0">
                <a:ln w="10541" cmpd="sng">
                  <a:solidFill>
                    <a:schemeClr val="accent1">
                      <a:shade val="88000"/>
                      <a:satMod val="110000"/>
                    </a:schemeClr>
                  </a:solidFill>
                  <a:prstDash val="solid"/>
                </a:ln>
                <a:solidFill>
                  <a:srgbClr val="66FF33"/>
                </a:solidFill>
                <a:latin typeface="Arial" panose="020B0604020202020204" pitchFamily="34" charset="0"/>
              </a:rPr>
              <a:t>EXTI</a:t>
            </a:r>
            <a:r>
              <a:rPr lang="zh-CN" altLang="en-US" sz="3600" b="1" dirty="0">
                <a:ln w="10541" cmpd="sng">
                  <a:solidFill>
                    <a:schemeClr val="accent1">
                      <a:shade val="88000"/>
                      <a:satMod val="110000"/>
                    </a:schemeClr>
                  </a:solidFill>
                  <a:prstDash val="solid"/>
                </a:ln>
                <a:solidFill>
                  <a:srgbClr val="66FF33"/>
                </a:solidFill>
                <a:latin typeface="Arial" panose="020B0604020202020204" pitchFamily="34" charset="0"/>
              </a:rPr>
              <a:t>项目实例</a:t>
            </a:r>
            <a:endParaRPr lang="zh-CN" altLang="en-US" sz="3600" b="1" dirty="0">
              <a:ln w="10541" cmpd="sng">
                <a:solidFill>
                  <a:schemeClr val="accent1">
                    <a:shade val="88000"/>
                    <a:satMod val="110000"/>
                  </a:schemeClr>
                </a:solidFill>
                <a:prstDash val="solid"/>
              </a:ln>
              <a:solidFill>
                <a:srgbClr val="66FF33"/>
              </a:solidFill>
              <a:latin typeface="Arial" panose="020B0604020202020204" pitchFamily="34" charset="0"/>
            </a:endParaRPr>
          </a:p>
        </p:txBody>
      </p:sp>
      <p:sp>
        <p:nvSpPr>
          <p:cNvPr id="4" name="矩形 3"/>
          <p:cNvSpPr/>
          <p:nvPr/>
        </p:nvSpPr>
        <p:spPr>
          <a:xfrm>
            <a:off x="310889" y="995628"/>
            <a:ext cx="7468769" cy="553998"/>
          </a:xfrm>
          <a:prstGeom prst="rect">
            <a:avLst/>
          </a:prstGeom>
          <a:noFill/>
        </p:spPr>
        <p:txBody>
          <a:bodyPr wrap="square">
            <a:spAutoFit/>
          </a:bodyPr>
          <a:lstStyle/>
          <a:p>
            <a:pPr>
              <a:defRPr/>
            </a:pPr>
            <a:r>
              <a:rPr lang="zh-CN" altLang="en-US" sz="3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rPr>
              <a:t>项目分析</a:t>
            </a:r>
            <a:endParaRPr lang="zh-CN" altLang="en-US" sz="3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TextBox 6"/>
          <p:cNvSpPr txBox="1"/>
          <p:nvPr/>
        </p:nvSpPr>
        <p:spPr>
          <a:xfrm>
            <a:off x="3245314" y="1349830"/>
            <a:ext cx="2689356" cy="369332"/>
          </a:xfrm>
          <a:prstGeom prst="rect">
            <a:avLst/>
          </a:prstGeom>
          <a:noFill/>
          <a:ln>
            <a:solidFill>
              <a:schemeClr val="accent1"/>
            </a:solidFill>
          </a:ln>
        </p:spPr>
        <p:txBody>
          <a:bodyPr wrap="square" rtlCol="0">
            <a:spAutoFit/>
          </a:bodyPr>
          <a:lstStyle/>
          <a:p>
            <a:pPr algn="ct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建立中断向量表</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9" name="直接箭头连接符 8"/>
          <p:cNvCxnSpPr>
            <a:stCxn id="7" idx="2"/>
          </p:cNvCxnSpPr>
          <p:nvPr/>
        </p:nvCxnSpPr>
        <p:spPr bwMode="auto">
          <a:xfrm>
            <a:off x="4589992" y="1719162"/>
            <a:ext cx="0" cy="385410"/>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10" name="TextBox 9"/>
          <p:cNvSpPr txBox="1"/>
          <p:nvPr/>
        </p:nvSpPr>
        <p:spPr>
          <a:xfrm>
            <a:off x="3259828" y="2119086"/>
            <a:ext cx="2689356" cy="369332"/>
          </a:xfrm>
          <a:prstGeom prst="rect">
            <a:avLst/>
          </a:prstGeom>
          <a:noFill/>
          <a:ln>
            <a:solidFill>
              <a:schemeClr val="accent1"/>
            </a:solidFill>
          </a:ln>
        </p:spPr>
        <p:txBody>
          <a:bodyPr wrap="square" rtlCol="0">
            <a:spAutoFit/>
          </a:bodyPr>
          <a:lstStyle/>
          <a:p>
            <a:pPr algn="ct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分配栈空间并初始化</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1" name="直接箭头连接符 10"/>
          <p:cNvCxnSpPr/>
          <p:nvPr/>
        </p:nvCxnSpPr>
        <p:spPr bwMode="auto">
          <a:xfrm>
            <a:off x="4582738" y="2495664"/>
            <a:ext cx="0" cy="385410"/>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12" name="TextBox 11"/>
          <p:cNvSpPr txBox="1"/>
          <p:nvPr/>
        </p:nvSpPr>
        <p:spPr>
          <a:xfrm>
            <a:off x="3281602" y="2895588"/>
            <a:ext cx="2689356" cy="369332"/>
          </a:xfrm>
          <a:prstGeom prst="rect">
            <a:avLst/>
          </a:prstGeom>
          <a:noFill/>
          <a:ln>
            <a:solidFill>
              <a:schemeClr val="accent1"/>
            </a:solidFill>
          </a:ln>
        </p:spPr>
        <p:txBody>
          <a:bodyPr wrap="square" rtlCol="0">
            <a:spAutoFit/>
          </a:bodyPr>
          <a:lstStyle/>
          <a:p>
            <a:pPr algn="ct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GPIO</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初始化</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3" name="直接箭头连接符 12"/>
          <p:cNvCxnSpPr/>
          <p:nvPr/>
        </p:nvCxnSpPr>
        <p:spPr bwMode="auto">
          <a:xfrm>
            <a:off x="4589998" y="3272166"/>
            <a:ext cx="0" cy="385410"/>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14" name="TextBox 13"/>
          <p:cNvSpPr txBox="1"/>
          <p:nvPr/>
        </p:nvSpPr>
        <p:spPr>
          <a:xfrm>
            <a:off x="3259834" y="3657563"/>
            <a:ext cx="2689356" cy="369332"/>
          </a:xfrm>
          <a:prstGeom prst="rect">
            <a:avLst/>
          </a:prstGeom>
          <a:noFill/>
          <a:ln>
            <a:solidFill>
              <a:schemeClr val="accent1"/>
            </a:solidFill>
          </a:ln>
        </p:spPr>
        <p:txBody>
          <a:bodyPr wrap="square" rtlCol="0">
            <a:spAutoFit/>
          </a:bodyPr>
          <a:lstStyle/>
          <a:p>
            <a:pPr algn="ct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EXTI</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中断线管脚映射</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箭头连接符 16"/>
          <p:cNvCxnSpPr/>
          <p:nvPr/>
        </p:nvCxnSpPr>
        <p:spPr bwMode="auto">
          <a:xfrm>
            <a:off x="4582738" y="4026895"/>
            <a:ext cx="0" cy="385410"/>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18" name="TextBox 17"/>
          <p:cNvSpPr txBox="1"/>
          <p:nvPr/>
        </p:nvSpPr>
        <p:spPr>
          <a:xfrm>
            <a:off x="3281602" y="4434039"/>
            <a:ext cx="2689356" cy="369332"/>
          </a:xfrm>
          <a:prstGeom prst="rect">
            <a:avLst/>
          </a:prstGeom>
          <a:noFill/>
          <a:ln>
            <a:solidFill>
              <a:schemeClr val="accent1"/>
            </a:solidFill>
          </a:ln>
        </p:spPr>
        <p:txBody>
          <a:bodyPr wrap="square" rtlCol="0">
            <a:spAutoFit/>
          </a:bodyPr>
          <a:lstStyle/>
          <a:p>
            <a:pPr algn="ct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EXTI</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中断初始化</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9" name="直接箭头连接符 18"/>
          <p:cNvCxnSpPr/>
          <p:nvPr/>
        </p:nvCxnSpPr>
        <p:spPr bwMode="auto">
          <a:xfrm>
            <a:off x="4573378" y="4803371"/>
            <a:ext cx="0" cy="385410"/>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20" name="TextBox 19"/>
          <p:cNvSpPr txBox="1"/>
          <p:nvPr/>
        </p:nvSpPr>
        <p:spPr>
          <a:xfrm>
            <a:off x="3272242" y="5214651"/>
            <a:ext cx="2689356" cy="369332"/>
          </a:xfrm>
          <a:prstGeom prst="rect">
            <a:avLst/>
          </a:prstGeom>
          <a:noFill/>
          <a:ln>
            <a:solidFill>
              <a:schemeClr val="accent1"/>
            </a:solidFill>
          </a:ln>
        </p:spPr>
        <p:txBody>
          <a:bodyPr wrap="square" rtlCol="0">
            <a:spAutoFit/>
          </a:bodyPr>
          <a:lstStyle/>
          <a:p>
            <a:pPr algn="ct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NVIC</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初始化，中断使能</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TextBox 20"/>
          <p:cNvSpPr txBox="1"/>
          <p:nvPr/>
        </p:nvSpPr>
        <p:spPr>
          <a:xfrm>
            <a:off x="3274342" y="5968607"/>
            <a:ext cx="2689356" cy="646331"/>
          </a:xfrm>
          <a:prstGeom prst="rect">
            <a:avLst/>
          </a:prstGeom>
          <a:noFill/>
          <a:ln>
            <a:solidFill>
              <a:schemeClr val="accent1"/>
            </a:solidFill>
          </a:ln>
        </p:spPr>
        <p:txBody>
          <a:bodyPr wrap="square" rtlCol="0">
            <a:spAutoFit/>
          </a:bodyPr>
          <a:lstStyle/>
          <a:p>
            <a:pPr algn="ct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编写对应的中断服务程序</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3" name="直接箭头连接符 22"/>
          <p:cNvCxnSpPr/>
          <p:nvPr/>
        </p:nvCxnSpPr>
        <p:spPr bwMode="auto">
          <a:xfrm>
            <a:off x="4582738" y="5583197"/>
            <a:ext cx="0" cy="385410"/>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25" name="左大括号 24"/>
          <p:cNvSpPr/>
          <p:nvPr/>
        </p:nvSpPr>
        <p:spPr bwMode="auto">
          <a:xfrm>
            <a:off x="2780860" y="1445791"/>
            <a:ext cx="402187" cy="961179"/>
          </a:xfrm>
          <a:prstGeom prst="leftBrace">
            <a:avLst>
              <a:gd name="adj1" fmla="val 8333"/>
              <a:gd name="adj2" fmla="val 44714"/>
            </a:avLst>
          </a:prstGeom>
          <a:no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26" name="左大括号 25"/>
          <p:cNvSpPr/>
          <p:nvPr/>
        </p:nvSpPr>
        <p:spPr bwMode="auto">
          <a:xfrm>
            <a:off x="2732166" y="3119780"/>
            <a:ext cx="450881" cy="2279537"/>
          </a:xfrm>
          <a:prstGeom prst="leftBrace">
            <a:avLst>
              <a:gd name="adj1" fmla="val 8333"/>
              <a:gd name="adj2" fmla="val 44714"/>
            </a:avLst>
          </a:prstGeom>
          <a:no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27" name="TextBox 26"/>
          <p:cNvSpPr txBox="1"/>
          <p:nvPr/>
        </p:nvSpPr>
        <p:spPr>
          <a:xfrm>
            <a:off x="27356" y="1547389"/>
            <a:ext cx="2685145" cy="646331"/>
          </a:xfrm>
          <a:prstGeom prst="rect">
            <a:avLst/>
          </a:prstGeom>
          <a:noFill/>
        </p:spPr>
        <p:txBody>
          <a:bodyPr wrap="square" rtlCol="0">
            <a:spAutoFit/>
          </a:bodyPr>
          <a:lstStyle/>
          <a:p>
            <a:pPr algn="ct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启动代码文件</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startup_stm32f10x_yy.s</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 name="TextBox 27"/>
          <p:cNvSpPr txBox="1"/>
          <p:nvPr/>
        </p:nvSpPr>
        <p:spPr>
          <a:xfrm>
            <a:off x="27355" y="3838544"/>
            <a:ext cx="2685145" cy="646331"/>
          </a:xfrm>
          <a:prstGeom prst="rect">
            <a:avLst/>
          </a:prstGeom>
          <a:noFill/>
        </p:spPr>
        <p:txBody>
          <a:bodyPr wrap="square" rtlCol="0">
            <a:spAutoFit/>
          </a:bodyPr>
          <a:lstStyle/>
          <a:p>
            <a:pPr algn="ct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用户应用主程序文件</a:t>
            </a:r>
            <a:endParaRPr lang="en-US" altLang="zh-CN" dirty="0" smtClean="0">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main.c</a:t>
            </a:r>
            <a:endParaRPr lang="en-US" altLang="zh-CN" dirty="0" smtClean="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TextBox 28"/>
          <p:cNvSpPr txBox="1"/>
          <p:nvPr/>
        </p:nvSpPr>
        <p:spPr>
          <a:xfrm>
            <a:off x="27354" y="5982638"/>
            <a:ext cx="2685145" cy="646331"/>
          </a:xfrm>
          <a:prstGeom prst="rect">
            <a:avLst/>
          </a:prstGeom>
          <a:noFill/>
        </p:spPr>
        <p:txBody>
          <a:bodyPr wrap="square" rtlCol="0">
            <a:spAutoFit/>
          </a:bodyPr>
          <a:lstStyle/>
          <a:p>
            <a:pPr algn="ct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中断服务程序文件</a:t>
            </a:r>
            <a:endParaRPr lang="en-US" altLang="zh-CN" dirty="0" smtClean="0">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Stm32f10x_it.c</a:t>
            </a:r>
            <a:endParaRPr lang="en-US" altLang="zh-CN" dirty="0" smtClean="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1" name="直接箭头连接符 30"/>
          <p:cNvCxnSpPr/>
          <p:nvPr/>
        </p:nvCxnSpPr>
        <p:spPr bwMode="auto">
          <a:xfrm flipH="1">
            <a:off x="2364162" y="6277259"/>
            <a:ext cx="881152" cy="0"/>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3" name="竖卷形 2"/>
          <p:cNvSpPr/>
          <p:nvPr/>
        </p:nvSpPr>
        <p:spPr bwMode="auto">
          <a:xfrm>
            <a:off x="6104942" y="1911867"/>
            <a:ext cx="1015997" cy="3672116"/>
          </a:xfrm>
          <a:prstGeom prst="verticalScroll">
            <a:avLst/>
          </a:prstGeom>
          <a:gradFill>
            <a:gsLst>
              <a:gs pos="0">
                <a:srgbClr val="FF3399"/>
              </a:gs>
              <a:gs pos="25000">
                <a:srgbClr val="FF6633"/>
              </a:gs>
              <a:gs pos="50000">
                <a:srgbClr val="FFFF00"/>
              </a:gs>
              <a:gs pos="75000">
                <a:srgbClr val="01A78F"/>
              </a:gs>
              <a:gs pos="100000">
                <a:srgbClr val="3366FF"/>
              </a:gs>
            </a:gsLst>
            <a:lin ang="5400000" scaled="0"/>
          </a:gra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1600" b="0" i="0" u="none" strike="noStrike" cap="none" normalizeH="0" baseline="0" dirty="0" smtClean="0">
              <a:ln>
                <a:noFill/>
              </a:ln>
              <a:solidFill>
                <a:schemeClr val="tx1"/>
              </a:solidFill>
              <a:effectLst/>
              <a:latin typeface="Arial" panose="020B0604020202020204" pitchFamily="34" charset="0"/>
            </a:endParaRPr>
          </a:p>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smtClean="0">
                <a:ln>
                  <a:noFill/>
                </a:ln>
                <a:solidFill>
                  <a:schemeClr val="tx1"/>
                </a:solidFill>
                <a:effectLst/>
                <a:latin typeface="Arial" panose="020B0604020202020204" pitchFamily="34" charset="0"/>
              </a:rPr>
              <a:t>外</a:t>
            </a:r>
            <a:endParaRPr kumimoji="0" lang="en-US" altLang="zh-CN" sz="2400" b="0" i="0" u="none" strike="noStrike" cap="none" normalizeH="0" baseline="0" dirty="0" smtClean="0">
              <a:ln>
                <a:noFill/>
              </a:ln>
              <a:solidFill>
                <a:schemeClr val="tx1"/>
              </a:solidFill>
              <a:effectLst/>
              <a:latin typeface="Arial" panose="020B0604020202020204" pitchFamily="34" charset="0"/>
            </a:endParaRPr>
          </a:p>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smtClean="0">
                <a:ln>
                  <a:noFill/>
                </a:ln>
                <a:solidFill>
                  <a:schemeClr val="tx1"/>
                </a:solidFill>
                <a:effectLst/>
                <a:latin typeface="Arial" panose="020B0604020202020204" pitchFamily="34" charset="0"/>
              </a:rPr>
              <a:t>部</a:t>
            </a:r>
            <a:endParaRPr kumimoji="0" lang="en-US" altLang="zh-CN" sz="2400" b="0" i="0" u="none" strike="noStrike" cap="none" normalizeH="0" baseline="0" dirty="0" smtClean="0">
              <a:ln>
                <a:noFill/>
              </a:ln>
              <a:solidFill>
                <a:schemeClr val="tx1"/>
              </a:solidFill>
              <a:effectLst/>
              <a:latin typeface="Arial" panose="020B0604020202020204" pitchFamily="34" charset="0"/>
            </a:endParaRPr>
          </a:p>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smtClean="0">
                <a:ln>
                  <a:noFill/>
                </a:ln>
                <a:solidFill>
                  <a:schemeClr val="tx1"/>
                </a:solidFill>
                <a:effectLst/>
                <a:latin typeface="Arial" panose="020B0604020202020204" pitchFamily="34" charset="0"/>
              </a:rPr>
              <a:t>中</a:t>
            </a:r>
            <a:endParaRPr kumimoji="0" lang="en-US" altLang="zh-CN" sz="2400" b="0" i="0" u="none" strike="noStrike" cap="none" normalizeH="0" baseline="0" dirty="0" smtClean="0">
              <a:ln>
                <a:noFill/>
              </a:ln>
              <a:solidFill>
                <a:schemeClr val="tx1"/>
              </a:solidFill>
              <a:effectLst/>
              <a:latin typeface="Arial" panose="020B0604020202020204" pitchFamily="34" charset="0"/>
            </a:endParaRPr>
          </a:p>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smtClean="0">
                <a:ln>
                  <a:noFill/>
                </a:ln>
                <a:solidFill>
                  <a:schemeClr val="tx1"/>
                </a:solidFill>
                <a:effectLst/>
                <a:latin typeface="Arial" panose="020B0604020202020204" pitchFamily="34" charset="0"/>
              </a:rPr>
              <a:t>断</a:t>
            </a:r>
            <a:endParaRPr kumimoji="0" lang="en-US" altLang="zh-CN" sz="2400" b="0" i="0" u="none" strike="noStrike" cap="none" normalizeH="0" baseline="0" dirty="0" smtClean="0">
              <a:ln>
                <a:noFill/>
              </a:ln>
              <a:solidFill>
                <a:schemeClr val="tx1"/>
              </a:solidFill>
              <a:effectLst/>
              <a:latin typeface="Arial" panose="020B0604020202020204" pitchFamily="34" charset="0"/>
            </a:endParaRPr>
          </a:p>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smtClean="0">
                <a:ln>
                  <a:noFill/>
                </a:ln>
                <a:solidFill>
                  <a:schemeClr val="tx1"/>
                </a:solidFill>
                <a:effectLst/>
                <a:latin typeface="Arial" panose="020B0604020202020204" pitchFamily="34" charset="0"/>
              </a:rPr>
              <a:t>建</a:t>
            </a:r>
            <a:endParaRPr kumimoji="0" lang="en-US" altLang="zh-CN" sz="2400" b="0" i="0" u="none" strike="noStrike" cap="none" normalizeH="0" baseline="0" dirty="0" smtClean="0">
              <a:ln>
                <a:noFill/>
              </a:ln>
              <a:solidFill>
                <a:schemeClr val="tx1"/>
              </a:solidFill>
              <a:effectLst/>
              <a:latin typeface="Arial" panose="020B0604020202020204" pitchFamily="34" charset="0"/>
            </a:endParaRPr>
          </a:p>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smtClean="0">
                <a:ln>
                  <a:noFill/>
                </a:ln>
                <a:solidFill>
                  <a:schemeClr val="tx1"/>
                </a:solidFill>
                <a:effectLst/>
                <a:latin typeface="Arial" panose="020B0604020202020204" pitchFamily="34" charset="0"/>
              </a:rPr>
              <a:t>立</a:t>
            </a:r>
            <a:endParaRPr kumimoji="0" lang="en-US" altLang="zh-CN" sz="2400" b="0" i="0" u="none" strike="noStrike" cap="none" normalizeH="0" baseline="0" dirty="0" smtClean="0">
              <a:ln>
                <a:noFill/>
              </a:ln>
              <a:solidFill>
                <a:schemeClr val="tx1"/>
              </a:solidFill>
              <a:effectLst/>
              <a:latin typeface="Arial" panose="020B0604020202020204" pitchFamily="34" charset="0"/>
            </a:endParaRPr>
          </a:p>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smtClean="0">
                <a:ln>
                  <a:noFill/>
                </a:ln>
                <a:solidFill>
                  <a:schemeClr val="tx1"/>
                </a:solidFill>
                <a:effectLst/>
                <a:latin typeface="Arial" panose="020B0604020202020204" pitchFamily="34" charset="0"/>
              </a:rPr>
              <a:t>过</a:t>
            </a:r>
            <a:endParaRPr kumimoji="0" lang="en-US" altLang="zh-CN" sz="2400" b="0" i="0" u="none" strike="noStrike" cap="none" normalizeH="0" baseline="0" dirty="0" smtClean="0">
              <a:ln>
                <a:noFill/>
              </a:ln>
              <a:solidFill>
                <a:schemeClr val="tx1"/>
              </a:solidFill>
              <a:effectLst/>
              <a:latin typeface="Arial" panose="020B0604020202020204" pitchFamily="34" charset="0"/>
            </a:endParaRPr>
          </a:p>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smtClean="0">
                <a:ln>
                  <a:noFill/>
                </a:ln>
                <a:solidFill>
                  <a:schemeClr val="tx1"/>
                </a:solidFill>
                <a:effectLst/>
                <a:latin typeface="Arial" panose="020B0604020202020204" pitchFamily="34" charset="0"/>
              </a:rPr>
              <a:t>程</a:t>
            </a:r>
            <a:endParaRPr kumimoji="0" lang="zh-CN" altLang="en-US" sz="2400" b="0" i="0" u="none" strike="noStrike" cap="none" normalizeH="0" baseline="0" dirty="0" smtClean="0">
              <a:ln>
                <a:noFill/>
              </a:ln>
              <a:solidFill>
                <a:schemeClr val="tx1"/>
              </a:solidFill>
              <a:effectLst/>
              <a:latin typeface="Arial" panose="020B0604020202020204" pitchFamily="34" charset="0"/>
            </a:endParaRPr>
          </a:p>
        </p:txBody>
      </p:sp>
      <p:sp>
        <p:nvSpPr>
          <p:cNvPr id="24" name="TextBox 11"/>
          <p:cNvSpPr txBox="1"/>
          <p:nvPr/>
        </p:nvSpPr>
        <p:spPr>
          <a:xfrm>
            <a:off x="7556053" y="2890950"/>
            <a:ext cx="1255856" cy="378608"/>
          </a:xfrm>
          <a:prstGeom prst="rect">
            <a:avLst/>
          </a:prstGeom>
          <a:noFill/>
          <a:ln>
            <a:solidFill>
              <a:schemeClr val="accent1"/>
            </a:solidFill>
          </a:ln>
        </p:spPr>
        <p:txBody>
          <a:bodyPr wrap="square" rtlCol="0">
            <a:spAutoFit/>
          </a:bodyPr>
          <a:lstStyle/>
          <a:p>
            <a:pPr algn="ct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GPIO</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引脚</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 name="TextBox 11"/>
          <p:cNvSpPr txBox="1"/>
          <p:nvPr/>
        </p:nvSpPr>
        <p:spPr>
          <a:xfrm>
            <a:off x="7556053" y="4383015"/>
            <a:ext cx="1255856" cy="369332"/>
          </a:xfrm>
          <a:prstGeom prst="rect">
            <a:avLst/>
          </a:prstGeom>
          <a:noFill/>
          <a:ln>
            <a:solidFill>
              <a:schemeClr val="accent1"/>
            </a:solidFill>
          </a:ln>
        </p:spPr>
        <p:txBody>
          <a:bodyPr wrap="square" rtlCol="0">
            <a:spAutoFit/>
          </a:bodyPr>
          <a:lstStyle/>
          <a:p>
            <a:pPr algn="ct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EXTI</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管线</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2" name="TextBox 11"/>
          <p:cNvSpPr txBox="1"/>
          <p:nvPr/>
        </p:nvSpPr>
        <p:spPr>
          <a:xfrm>
            <a:off x="7541856" y="5214651"/>
            <a:ext cx="1255856" cy="369332"/>
          </a:xfrm>
          <a:prstGeom prst="rect">
            <a:avLst/>
          </a:prstGeom>
          <a:noFill/>
          <a:ln>
            <a:solidFill>
              <a:schemeClr val="accent1"/>
            </a:solidFill>
          </a:ln>
        </p:spPr>
        <p:txBody>
          <a:bodyPr wrap="square" rtlCol="0">
            <a:spAutoFit/>
          </a:bodyPr>
          <a:lstStyle/>
          <a:p>
            <a:pPr algn="ctr"/>
            <a:r>
              <a:rPr lang="en-US" altLang="zh-CN" dirty="0" err="1" smtClean="0">
                <a:latin typeface="Times New Roman" panose="02020603050405020304" pitchFamily="18" charset="0"/>
                <a:ea typeface="宋体" panose="02010600030101010101" pitchFamily="2" charset="-122"/>
                <a:cs typeface="Times New Roman" panose="02020603050405020304" pitchFamily="18" charset="0"/>
              </a:rPr>
              <a:t>NVIC</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通道</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 name="TextBox 11"/>
          <p:cNvSpPr txBox="1"/>
          <p:nvPr/>
        </p:nvSpPr>
        <p:spPr>
          <a:xfrm>
            <a:off x="7541856" y="5954093"/>
            <a:ext cx="1255856" cy="646331"/>
          </a:xfrm>
          <a:prstGeom prst="rect">
            <a:avLst/>
          </a:prstGeom>
          <a:noFill/>
          <a:ln>
            <a:solidFill>
              <a:schemeClr val="accent1"/>
            </a:solidFill>
          </a:ln>
        </p:spPr>
        <p:txBody>
          <a:bodyPr wrap="square" rtlCol="0">
            <a:spAutoFit/>
          </a:bodyPr>
          <a:lstStyle/>
          <a:p>
            <a:pPr algn="ct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中断服务函数</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4" name="直接箭头连接符 33"/>
          <p:cNvCxnSpPr>
            <a:stCxn id="24" idx="2"/>
            <a:endCxn id="30" idx="0"/>
          </p:cNvCxnSpPr>
          <p:nvPr/>
        </p:nvCxnSpPr>
        <p:spPr bwMode="auto">
          <a:xfrm>
            <a:off x="8183981" y="3269558"/>
            <a:ext cx="0" cy="1113457"/>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35" name="直接箭头连接符 34"/>
          <p:cNvCxnSpPr>
            <a:endCxn id="32" idx="0"/>
          </p:cNvCxnSpPr>
          <p:nvPr/>
        </p:nvCxnSpPr>
        <p:spPr bwMode="auto">
          <a:xfrm>
            <a:off x="8169784" y="4752347"/>
            <a:ext cx="0" cy="462304"/>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cxnSp>
        <p:nvCxnSpPr>
          <p:cNvPr id="36" name="直接箭头连接符 35"/>
          <p:cNvCxnSpPr/>
          <p:nvPr/>
        </p:nvCxnSpPr>
        <p:spPr bwMode="auto">
          <a:xfrm>
            <a:off x="8183981" y="5568683"/>
            <a:ext cx="0" cy="385410"/>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par>
                          <p:cTn id="17" fill="hold">
                            <p:stCondLst>
                              <p:cond delay="1000"/>
                            </p:stCondLst>
                            <p:childTnLst>
                              <p:par>
                                <p:cTn id="18" presetID="22" presetClass="entr" presetSubtype="4"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down)">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00"/>
                                        <p:tgtEl>
                                          <p:spTgt spid="11"/>
                                        </p:tgtEl>
                                      </p:cBhvr>
                                    </p:animEffect>
                                  </p:childTnLst>
                                </p:cTn>
                              </p:par>
                            </p:childTnLst>
                          </p:cTn>
                        </p:par>
                        <p:par>
                          <p:cTn id="26" fill="hold">
                            <p:stCondLst>
                              <p:cond delay="500"/>
                            </p:stCondLst>
                            <p:childTnLst>
                              <p:par>
                                <p:cTn id="27" presetID="22" presetClass="entr" presetSubtype="4"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down)">
                                      <p:cBhvr>
                                        <p:cTn id="29" dur="500"/>
                                        <p:tgtEl>
                                          <p:spTgt spid="12"/>
                                        </p:tgtEl>
                                      </p:cBhvr>
                                    </p:animEffect>
                                  </p:childTnLst>
                                </p:cTn>
                              </p:par>
                            </p:childTnLst>
                          </p:cTn>
                        </p:par>
                        <p:par>
                          <p:cTn id="30" fill="hold">
                            <p:stCondLst>
                              <p:cond delay="1000"/>
                            </p:stCondLst>
                            <p:childTnLst>
                              <p:par>
                                <p:cTn id="31" presetID="22" presetClass="entr" presetSubtype="4" fill="hold"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down)">
                                      <p:cBhvr>
                                        <p:cTn id="33" dur="500"/>
                                        <p:tgtEl>
                                          <p:spTgt spid="13"/>
                                        </p:tgtEl>
                                      </p:cBhvr>
                                    </p:animEffect>
                                  </p:childTnLst>
                                </p:cTn>
                              </p:par>
                            </p:childTnLst>
                          </p:cTn>
                        </p:par>
                        <p:par>
                          <p:cTn id="34" fill="hold">
                            <p:stCondLst>
                              <p:cond delay="1500"/>
                            </p:stCondLst>
                            <p:childTnLst>
                              <p:par>
                                <p:cTn id="35" presetID="22" presetClass="entr" presetSubtype="4"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down)">
                                      <p:cBhvr>
                                        <p:cTn id="37" dur="500"/>
                                        <p:tgtEl>
                                          <p:spTgt spid="14"/>
                                        </p:tgtEl>
                                      </p:cBhvr>
                                    </p:animEffect>
                                  </p:childTnLst>
                                </p:cTn>
                              </p:par>
                            </p:childTnLst>
                          </p:cTn>
                        </p:par>
                        <p:par>
                          <p:cTn id="38" fill="hold">
                            <p:stCondLst>
                              <p:cond delay="2000"/>
                            </p:stCondLst>
                            <p:childTnLst>
                              <p:par>
                                <p:cTn id="39" presetID="22" presetClass="entr" presetSubtype="4" fill="hold"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down)">
                                      <p:cBhvr>
                                        <p:cTn id="41" dur="500"/>
                                        <p:tgtEl>
                                          <p:spTgt spid="17"/>
                                        </p:tgtEl>
                                      </p:cBhvr>
                                    </p:animEffect>
                                  </p:childTnLst>
                                </p:cTn>
                              </p:par>
                            </p:childTnLst>
                          </p:cTn>
                        </p:par>
                        <p:par>
                          <p:cTn id="42" fill="hold">
                            <p:stCondLst>
                              <p:cond delay="2500"/>
                            </p:stCondLst>
                            <p:childTnLst>
                              <p:par>
                                <p:cTn id="43" presetID="22" presetClass="entr" presetSubtype="4" fill="hold" grpId="0" nodeType="after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wipe(down)">
                                      <p:cBhvr>
                                        <p:cTn id="45" dur="500"/>
                                        <p:tgtEl>
                                          <p:spTgt spid="18"/>
                                        </p:tgtEl>
                                      </p:cBhvr>
                                    </p:animEffect>
                                  </p:childTnLst>
                                </p:cTn>
                              </p:par>
                            </p:childTnLst>
                          </p:cTn>
                        </p:par>
                        <p:par>
                          <p:cTn id="46" fill="hold">
                            <p:stCondLst>
                              <p:cond delay="30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par>
                          <p:cTn id="50" fill="hold">
                            <p:stCondLst>
                              <p:cond delay="3500"/>
                            </p:stCondLst>
                            <p:childTnLst>
                              <p:par>
                                <p:cTn id="51" presetID="22" presetClass="entr" presetSubtype="4"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down)">
                                      <p:cBhvr>
                                        <p:cTn id="53" dur="500"/>
                                        <p:tgtEl>
                                          <p:spTgt spid="2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wipe(down)">
                                      <p:cBhvr>
                                        <p:cTn id="58" dur="500"/>
                                        <p:tgtEl>
                                          <p:spTgt spid="23"/>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wipe(down)">
                                      <p:cBhvr>
                                        <p:cTn id="61" dur="500"/>
                                        <p:tgtEl>
                                          <p:spTgt spid="21"/>
                                        </p:tgtEl>
                                      </p:cBhvr>
                                    </p:animEffect>
                                  </p:childTnLst>
                                </p:cTn>
                              </p:par>
                            </p:childTnLst>
                          </p:cTn>
                        </p:par>
                      </p:childTnLst>
                    </p:cTn>
                  </p:par>
                  <p:par>
                    <p:cTn id="62" fill="hold">
                      <p:stCondLst>
                        <p:cond delay="indefinite"/>
                      </p:stCondLst>
                      <p:childTnLst>
                        <p:par>
                          <p:cTn id="63" fill="hold">
                            <p:stCondLst>
                              <p:cond delay="0"/>
                            </p:stCondLst>
                            <p:childTnLst>
                              <p:par>
                                <p:cTn id="64" presetID="21" presetClass="entr" presetSubtype="1" fill="hold" grpId="0" nodeType="click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heel(1)">
                                      <p:cBhvr>
                                        <p:cTn id="66" dur="2000"/>
                                        <p:tgtEl>
                                          <p:spTgt spid="25"/>
                                        </p:tgtEl>
                                      </p:cBhvr>
                                    </p:animEffect>
                                  </p:childTnLst>
                                </p:cTn>
                              </p:par>
                              <p:par>
                                <p:cTn id="67" presetID="21" presetClass="entr" presetSubtype="1"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wheel(1)">
                                      <p:cBhvr>
                                        <p:cTn id="69" dur="20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21" presetClass="entr" presetSubtype="1" fill="hold" grpId="0" nodeType="click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wheel(1)">
                                      <p:cBhvr>
                                        <p:cTn id="74" dur="2000"/>
                                        <p:tgtEl>
                                          <p:spTgt spid="26"/>
                                        </p:tgtEl>
                                      </p:cBhvr>
                                    </p:animEffect>
                                  </p:childTnLst>
                                </p:cTn>
                              </p:par>
                              <p:par>
                                <p:cTn id="75" presetID="21" presetClass="entr" presetSubtype="1"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wheel(1)">
                                      <p:cBhvr>
                                        <p:cTn id="77" dur="2000"/>
                                        <p:tgtEl>
                                          <p:spTgt spid="28"/>
                                        </p:tgtEl>
                                      </p:cBhvr>
                                    </p:animEffect>
                                  </p:childTnLst>
                                </p:cTn>
                              </p:par>
                            </p:childTnLst>
                          </p:cTn>
                        </p:par>
                      </p:childTnLst>
                    </p:cTn>
                  </p:par>
                  <p:par>
                    <p:cTn id="78" fill="hold">
                      <p:stCondLst>
                        <p:cond delay="indefinite"/>
                      </p:stCondLst>
                      <p:childTnLst>
                        <p:par>
                          <p:cTn id="79" fill="hold">
                            <p:stCondLst>
                              <p:cond delay="0"/>
                            </p:stCondLst>
                            <p:childTnLst>
                              <p:par>
                                <p:cTn id="80" presetID="21" presetClass="entr" presetSubtype="1" fill="hold" nodeType="click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wheel(1)">
                                      <p:cBhvr>
                                        <p:cTn id="82" dur="2000"/>
                                        <p:tgtEl>
                                          <p:spTgt spid="31"/>
                                        </p:tgtEl>
                                      </p:cBhvr>
                                    </p:animEffect>
                                  </p:childTnLst>
                                </p:cTn>
                              </p:par>
                              <p:par>
                                <p:cTn id="83" presetID="21" presetClass="entr" presetSubtype="1"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wheel(1)">
                                      <p:cBhvr>
                                        <p:cTn id="85" dur="2000"/>
                                        <p:tgtEl>
                                          <p:spTgt spid="29"/>
                                        </p:tgtEl>
                                      </p:cBhvr>
                                    </p:animEffect>
                                  </p:childTnLst>
                                </p:cTn>
                              </p:par>
                            </p:childTnLst>
                          </p:cTn>
                        </p:par>
                        <p:par>
                          <p:cTn id="86" fill="hold">
                            <p:stCondLst>
                              <p:cond delay="2000"/>
                            </p:stCondLst>
                            <p:childTnLst>
                              <p:par>
                                <p:cTn id="87" presetID="22" presetClass="entr" presetSubtype="4" fill="hold" grpId="0" nodeType="after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wipe(down)">
                                      <p:cBhvr>
                                        <p:cTn id="89" dur="500"/>
                                        <p:tgtEl>
                                          <p:spTgt spid="24"/>
                                        </p:tgtEl>
                                      </p:cBhvr>
                                    </p:animEffect>
                                  </p:childTnLst>
                                </p:cTn>
                              </p:par>
                            </p:childTnLst>
                          </p:cTn>
                        </p:par>
                        <p:par>
                          <p:cTn id="90" fill="hold">
                            <p:stCondLst>
                              <p:cond delay="2500"/>
                            </p:stCondLst>
                            <p:childTnLst>
                              <p:par>
                                <p:cTn id="91" presetID="22" presetClass="entr" presetSubtype="4" fill="hold" grpId="0" nodeType="after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wipe(down)">
                                      <p:cBhvr>
                                        <p:cTn id="93" dur="500"/>
                                        <p:tgtEl>
                                          <p:spTgt spid="30"/>
                                        </p:tgtEl>
                                      </p:cBhvr>
                                    </p:animEffect>
                                  </p:childTnLst>
                                </p:cTn>
                              </p:par>
                            </p:childTnLst>
                          </p:cTn>
                        </p:par>
                        <p:par>
                          <p:cTn id="94" fill="hold">
                            <p:stCondLst>
                              <p:cond delay="3000"/>
                            </p:stCondLst>
                            <p:childTnLst>
                              <p:par>
                                <p:cTn id="95" presetID="22" presetClass="entr" presetSubtype="4" fill="hold" grpId="0" nodeType="after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wipe(down)">
                                      <p:cBhvr>
                                        <p:cTn id="97" dur="500"/>
                                        <p:tgtEl>
                                          <p:spTgt spid="32"/>
                                        </p:tgtEl>
                                      </p:cBhvr>
                                    </p:animEffect>
                                  </p:childTnLst>
                                </p:cTn>
                              </p:par>
                            </p:childTnLst>
                          </p:cTn>
                        </p:par>
                        <p:par>
                          <p:cTn id="98" fill="hold">
                            <p:stCondLst>
                              <p:cond delay="3500"/>
                            </p:stCondLst>
                            <p:childTnLst>
                              <p:par>
                                <p:cTn id="99" presetID="22" presetClass="entr" presetSubtype="4" fill="hold" grpId="0" nodeType="after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wipe(down)">
                                      <p:cBhvr>
                                        <p:cTn id="101" dur="500"/>
                                        <p:tgtEl>
                                          <p:spTgt spid="33"/>
                                        </p:tgtEl>
                                      </p:cBhvr>
                                    </p:animEffect>
                                  </p:childTnLst>
                                </p:cTn>
                              </p:par>
                            </p:childTnLst>
                          </p:cTn>
                        </p:par>
                        <p:par>
                          <p:cTn id="102" fill="hold">
                            <p:stCondLst>
                              <p:cond delay="4000"/>
                            </p:stCondLst>
                            <p:childTnLst>
                              <p:par>
                                <p:cTn id="103" presetID="22" presetClass="entr" presetSubtype="4" fill="hold" nodeType="afterEffect">
                                  <p:stCondLst>
                                    <p:cond delay="0"/>
                                  </p:stCondLst>
                                  <p:childTnLst>
                                    <p:set>
                                      <p:cBhvr>
                                        <p:cTn id="104" dur="1" fill="hold">
                                          <p:stCondLst>
                                            <p:cond delay="0"/>
                                          </p:stCondLst>
                                        </p:cTn>
                                        <p:tgtEl>
                                          <p:spTgt spid="34"/>
                                        </p:tgtEl>
                                        <p:attrNameLst>
                                          <p:attrName>style.visibility</p:attrName>
                                        </p:attrNameLst>
                                      </p:cBhvr>
                                      <p:to>
                                        <p:strVal val="visible"/>
                                      </p:to>
                                    </p:set>
                                    <p:animEffect transition="in" filter="wipe(down)">
                                      <p:cBhvr>
                                        <p:cTn id="105" dur="500"/>
                                        <p:tgtEl>
                                          <p:spTgt spid="34"/>
                                        </p:tgtEl>
                                      </p:cBhvr>
                                    </p:animEffect>
                                  </p:childTnLst>
                                </p:cTn>
                              </p:par>
                            </p:childTnLst>
                          </p:cTn>
                        </p:par>
                        <p:par>
                          <p:cTn id="106" fill="hold">
                            <p:stCondLst>
                              <p:cond delay="4500"/>
                            </p:stCondLst>
                            <p:childTnLst>
                              <p:par>
                                <p:cTn id="107" presetID="22" presetClass="entr" presetSubtype="4" fill="hold" nodeType="after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wipe(down)">
                                      <p:cBhvr>
                                        <p:cTn id="109" dur="500"/>
                                        <p:tgtEl>
                                          <p:spTgt spid="35"/>
                                        </p:tgtEl>
                                      </p:cBhvr>
                                    </p:animEffect>
                                  </p:childTnLst>
                                </p:cTn>
                              </p:par>
                            </p:childTnLst>
                          </p:cTn>
                        </p:par>
                        <p:par>
                          <p:cTn id="110" fill="hold">
                            <p:stCondLst>
                              <p:cond delay="5000"/>
                            </p:stCondLst>
                            <p:childTnLst>
                              <p:par>
                                <p:cTn id="111" presetID="22" presetClass="entr" presetSubtype="4" fill="hold" nodeType="afterEffect">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wipe(down)">
                                      <p:cBhvr>
                                        <p:cTn id="11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P spid="14" grpId="0" animBg="1"/>
      <p:bldP spid="18" grpId="0" animBg="1"/>
      <p:bldP spid="20" grpId="0" animBg="1"/>
      <p:bldP spid="21" grpId="0" animBg="1"/>
      <p:bldP spid="25" grpId="0" animBg="1"/>
      <p:bldP spid="26" grpId="0" animBg="1"/>
      <p:bldP spid="27" grpId="0"/>
      <p:bldP spid="28" grpId="0"/>
      <p:bldP spid="29" grpId="0"/>
      <p:bldP spid="3" grpId="0" animBg="1"/>
      <p:bldP spid="24" grpId="0" animBg="1"/>
      <p:bldP spid="30" grpId="0" animBg="1"/>
      <p:bldP spid="32" grpId="0" animBg="1"/>
      <p:bldP spid="3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pPr eaLnBrk="1" hangingPunct="1"/>
            <a:r>
              <a:rPr lang="zh-CN" altLang="en-US" dirty="0" smtClean="0"/>
              <a:t>代码示例</a:t>
            </a:r>
            <a:r>
              <a:rPr lang="en-US" altLang="zh-CN" dirty="0" smtClean="0"/>
              <a:t>2</a:t>
            </a:r>
            <a:r>
              <a:rPr lang="zh-CN" altLang="en-US" dirty="0" smtClean="0"/>
              <a:t>（外部中断配置）</a:t>
            </a:r>
            <a:endParaRPr lang="zh-CN" altLang="en-US" dirty="0" smtClean="0"/>
          </a:p>
        </p:txBody>
      </p:sp>
      <p:sp>
        <p:nvSpPr>
          <p:cNvPr id="60419" name="内容占位符 2"/>
          <p:cNvSpPr>
            <a:spLocks noGrp="1"/>
          </p:cNvSpPr>
          <p:nvPr>
            <p:ph idx="1"/>
          </p:nvPr>
        </p:nvSpPr>
        <p:spPr>
          <a:xfrm>
            <a:off x="0" y="1719263"/>
            <a:ext cx="9144000" cy="4411662"/>
          </a:xfrm>
        </p:spPr>
        <p:txBody>
          <a:bodyPr/>
          <a:lstStyle/>
          <a:p>
            <a:endParaRPr lang="en-US" altLang="zh-CN" sz="2400" dirty="0" smtClean="0"/>
          </a:p>
          <a:p>
            <a:r>
              <a:rPr lang="en-US" altLang="zh-CN" sz="2400" dirty="0" err="1" smtClean="0"/>
              <a:t>GPIO_EXTILineConfig</a:t>
            </a:r>
            <a:r>
              <a:rPr lang="en-US" altLang="zh-CN" sz="2400" dirty="0" smtClean="0"/>
              <a:t>(</a:t>
            </a:r>
            <a:r>
              <a:rPr lang="en-US" altLang="zh-CN" sz="2400" dirty="0" err="1" smtClean="0"/>
              <a:t>GPIO_PortSourceGPIOE,GPIO_PinSource3</a:t>
            </a:r>
            <a:r>
              <a:rPr lang="en-US" altLang="zh-CN" sz="2400" dirty="0"/>
              <a:t>);</a:t>
            </a:r>
            <a:endParaRPr lang="en-US" altLang="zh-CN" sz="2400" dirty="0"/>
          </a:p>
          <a:p>
            <a:r>
              <a:rPr lang="en-US" altLang="zh-CN" sz="2400" dirty="0" err="1" smtClean="0"/>
              <a:t>EXTI_InitStructure.EXTI_Line</a:t>
            </a:r>
            <a:r>
              <a:rPr lang="en-US" altLang="zh-CN" sz="2400" dirty="0" smtClean="0"/>
              <a:t>=</a:t>
            </a:r>
            <a:r>
              <a:rPr lang="en-US" altLang="zh-CN" sz="2400" dirty="0" err="1" smtClean="0"/>
              <a:t>EXTI_Line3</a:t>
            </a:r>
            <a:r>
              <a:rPr lang="en-US" altLang="zh-CN" sz="2400" dirty="0"/>
              <a:t>;</a:t>
            </a:r>
            <a:endParaRPr lang="en-US" altLang="zh-CN" sz="2400" dirty="0"/>
          </a:p>
          <a:p>
            <a:r>
              <a:rPr lang="en-US" altLang="zh-CN" sz="2400" dirty="0" err="1" smtClean="0"/>
              <a:t>EXTI_InitStructure.EXTI_Mode</a:t>
            </a:r>
            <a:r>
              <a:rPr lang="en-US" altLang="zh-CN" sz="2400" dirty="0" smtClean="0"/>
              <a:t> </a:t>
            </a:r>
            <a:r>
              <a:rPr lang="en-US" altLang="zh-CN" sz="2400" dirty="0"/>
              <a:t>= </a:t>
            </a:r>
            <a:r>
              <a:rPr lang="en-US" altLang="zh-CN" sz="2400" dirty="0" err="1"/>
              <a:t>EXTI_Mode_Interrupt</a:t>
            </a:r>
            <a:r>
              <a:rPr lang="en-US" altLang="zh-CN" sz="2400" dirty="0"/>
              <a:t>;	</a:t>
            </a:r>
            <a:endParaRPr lang="en-US" altLang="zh-CN" sz="2400" dirty="0"/>
          </a:p>
          <a:p>
            <a:r>
              <a:rPr lang="en-US" altLang="zh-CN" sz="2400" dirty="0" err="1" smtClean="0"/>
              <a:t>EXTI_InitStructure.EXTI_Trigger</a:t>
            </a:r>
            <a:r>
              <a:rPr lang="en-US" altLang="zh-CN" sz="2400" dirty="0" smtClean="0"/>
              <a:t> </a:t>
            </a:r>
            <a:r>
              <a:rPr lang="en-US" altLang="zh-CN" sz="2400" dirty="0"/>
              <a:t>= </a:t>
            </a:r>
            <a:r>
              <a:rPr lang="en-US" altLang="zh-CN" sz="2400" dirty="0" err="1"/>
              <a:t>EXTI_Trigger_Falling</a:t>
            </a:r>
            <a:r>
              <a:rPr lang="en-US" altLang="zh-CN" sz="2400" dirty="0"/>
              <a:t>;</a:t>
            </a:r>
            <a:endParaRPr lang="en-US" altLang="zh-CN" sz="2400" dirty="0"/>
          </a:p>
          <a:p>
            <a:r>
              <a:rPr lang="en-US" altLang="zh-CN" sz="2400" dirty="0" err="1" smtClean="0"/>
              <a:t>EXTI_Init</a:t>
            </a:r>
            <a:r>
              <a:rPr lang="en-US" altLang="zh-CN" sz="2400" dirty="0"/>
              <a:t>(&amp;</a:t>
            </a:r>
            <a:r>
              <a:rPr lang="en-US" altLang="zh-CN" sz="2400" dirty="0" err="1"/>
              <a:t>EXTI_InitStructure</a:t>
            </a:r>
            <a:r>
              <a:rPr lang="en-US" altLang="zh-CN" sz="2400" dirty="0"/>
              <a:t>);</a:t>
            </a:r>
            <a:endParaRPr lang="zh-CN" altLang="en-US" sz="24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pPr eaLnBrk="1" hangingPunct="1"/>
            <a:r>
              <a:rPr lang="zh-CN" altLang="en-US" dirty="0" smtClean="0"/>
              <a:t>代码示例</a:t>
            </a:r>
            <a:r>
              <a:rPr lang="en-US" altLang="zh-CN" dirty="0" smtClean="0"/>
              <a:t>2</a:t>
            </a:r>
            <a:r>
              <a:rPr lang="zh-CN" altLang="en-US" dirty="0" smtClean="0"/>
              <a:t>（外部中断配置）</a:t>
            </a:r>
            <a:endParaRPr lang="zh-CN" altLang="en-US" dirty="0" smtClean="0"/>
          </a:p>
        </p:txBody>
      </p:sp>
      <p:sp>
        <p:nvSpPr>
          <p:cNvPr id="60419" name="内容占位符 2"/>
          <p:cNvSpPr>
            <a:spLocks noGrp="1"/>
          </p:cNvSpPr>
          <p:nvPr>
            <p:ph idx="1"/>
          </p:nvPr>
        </p:nvSpPr>
        <p:spPr>
          <a:xfrm>
            <a:off x="0" y="1719263"/>
            <a:ext cx="9144000" cy="4411662"/>
          </a:xfrm>
        </p:spPr>
        <p:txBody>
          <a:bodyPr/>
          <a:lstStyle/>
          <a:p>
            <a:pPr eaLnBrk="1" hangingPunct="1"/>
            <a:r>
              <a:rPr lang="en-US" altLang="zh-CN" sz="2400" dirty="0" smtClean="0"/>
              <a:t> </a:t>
            </a:r>
            <a:r>
              <a:rPr lang="en-US" altLang="zh-CN" sz="2400" dirty="0" smtClean="0">
                <a:solidFill>
                  <a:srgbClr val="0000CC"/>
                </a:solidFill>
              </a:rPr>
              <a:t>/* Configure one bit for preemption priority */</a:t>
            </a:r>
            <a:endParaRPr lang="en-US" altLang="zh-CN" sz="2400" dirty="0" smtClean="0">
              <a:solidFill>
                <a:srgbClr val="0000CC"/>
              </a:solidFill>
            </a:endParaRPr>
          </a:p>
          <a:p>
            <a:pPr eaLnBrk="1" hangingPunct="1"/>
            <a:r>
              <a:rPr lang="en-US" altLang="zh-CN" sz="2400" dirty="0" smtClean="0"/>
              <a:t>  </a:t>
            </a:r>
            <a:r>
              <a:rPr lang="en-US" altLang="zh-CN" sz="2400" dirty="0" err="1" smtClean="0"/>
              <a:t>NVIC_PriorityGroupConfig</a:t>
            </a:r>
            <a:r>
              <a:rPr lang="en-US" altLang="zh-CN" sz="2400" dirty="0" smtClean="0"/>
              <a:t>(</a:t>
            </a:r>
            <a:r>
              <a:rPr lang="en-US" altLang="zh-CN" sz="2400" dirty="0" err="1" smtClean="0"/>
              <a:t>NVIC_PriorityGroup_1</a:t>
            </a:r>
            <a:r>
              <a:rPr lang="en-US" altLang="zh-CN" sz="2400" dirty="0" smtClean="0"/>
              <a:t>);</a:t>
            </a:r>
            <a:endParaRPr lang="en-US" altLang="zh-CN" sz="2400" dirty="0" smtClean="0"/>
          </a:p>
          <a:p>
            <a:r>
              <a:rPr lang="en-US" altLang="zh-CN" sz="2400" dirty="0" smtClean="0"/>
              <a:t>  </a:t>
            </a:r>
            <a:r>
              <a:rPr lang="en-US" altLang="zh-CN" sz="2400" dirty="0" smtClean="0">
                <a:solidFill>
                  <a:srgbClr val="0000CC"/>
                </a:solidFill>
              </a:rPr>
              <a:t>/* Enable the </a:t>
            </a:r>
            <a:r>
              <a:rPr lang="en-US" altLang="zh-CN" sz="2400" dirty="0" err="1">
                <a:solidFill>
                  <a:srgbClr val="0000CC"/>
                </a:solidFill>
              </a:rPr>
              <a:t>EXTI3_IRQn</a:t>
            </a:r>
            <a:r>
              <a:rPr lang="en-US" altLang="zh-CN" sz="2400" dirty="0">
                <a:solidFill>
                  <a:srgbClr val="0000CC"/>
                </a:solidFill>
              </a:rPr>
              <a:t> </a:t>
            </a:r>
            <a:r>
              <a:rPr lang="en-US" altLang="zh-CN" sz="2400" dirty="0" smtClean="0">
                <a:solidFill>
                  <a:srgbClr val="0000CC"/>
                </a:solidFill>
              </a:rPr>
              <a:t>Interrupt */</a:t>
            </a:r>
            <a:endParaRPr lang="en-US" altLang="zh-CN" sz="2400" dirty="0" smtClean="0">
              <a:solidFill>
                <a:srgbClr val="0000CC"/>
              </a:solidFill>
            </a:endParaRPr>
          </a:p>
          <a:p>
            <a:pPr eaLnBrk="1" hangingPunct="1"/>
            <a:r>
              <a:rPr lang="en-US" altLang="zh-CN" sz="2400" dirty="0" smtClean="0"/>
              <a:t>  </a:t>
            </a:r>
            <a:r>
              <a:rPr lang="en-US" altLang="zh-CN" sz="2400" dirty="0" err="1" smtClean="0"/>
              <a:t>NVIC_InitStructure.NVIC_IRQChannel</a:t>
            </a:r>
            <a:r>
              <a:rPr lang="en-US" altLang="zh-CN" sz="2400" dirty="0" smtClean="0"/>
              <a:t> = </a:t>
            </a:r>
            <a:r>
              <a:rPr lang="en-US" altLang="zh-CN" sz="2400" dirty="0" err="1" smtClean="0"/>
              <a:t>EXTI3_IRQn</a:t>
            </a:r>
            <a:r>
              <a:rPr lang="en-US" altLang="zh-CN" sz="2400" dirty="0" smtClean="0"/>
              <a:t>;</a:t>
            </a:r>
            <a:endParaRPr lang="en-US" altLang="zh-CN" sz="2400" dirty="0" smtClean="0"/>
          </a:p>
          <a:p>
            <a:pPr eaLnBrk="1" hangingPunct="1"/>
            <a:r>
              <a:rPr lang="en-US" altLang="zh-CN" sz="2400" dirty="0" smtClean="0"/>
              <a:t>  </a:t>
            </a:r>
            <a:r>
              <a:rPr lang="en-US" altLang="zh-CN" sz="2400" dirty="0" err="1" smtClean="0"/>
              <a:t>NVIC_InitStructure.NVIC_IRQChannelPreemptionPriority</a:t>
            </a:r>
            <a:r>
              <a:rPr lang="en-US" altLang="zh-CN" sz="2400" dirty="0" smtClean="0"/>
              <a:t> = 1;</a:t>
            </a:r>
            <a:endParaRPr lang="en-US" altLang="zh-CN" sz="2400" dirty="0" smtClean="0"/>
          </a:p>
          <a:p>
            <a:pPr eaLnBrk="1" hangingPunct="1"/>
            <a:r>
              <a:rPr lang="en-US" altLang="zh-CN" sz="2400" dirty="0" smtClean="0"/>
              <a:t>  </a:t>
            </a:r>
            <a:r>
              <a:rPr lang="en-US" altLang="zh-CN" sz="2400" dirty="0" err="1" smtClean="0"/>
              <a:t>NVIC_InitStructure.NVIC_IRQChannelSubPriority</a:t>
            </a:r>
            <a:r>
              <a:rPr lang="en-US" altLang="zh-CN" sz="2400" dirty="0" smtClean="0"/>
              <a:t> = 0;</a:t>
            </a:r>
            <a:endParaRPr lang="en-US" altLang="zh-CN" sz="2400" dirty="0" smtClean="0"/>
          </a:p>
          <a:p>
            <a:pPr eaLnBrk="1" hangingPunct="1"/>
            <a:r>
              <a:rPr lang="en-US" altLang="zh-CN" sz="2400" dirty="0" smtClean="0"/>
              <a:t>  </a:t>
            </a:r>
            <a:r>
              <a:rPr lang="en-US" altLang="zh-CN" sz="2400" dirty="0" err="1" smtClean="0"/>
              <a:t>NVIC_InitStructure.NVIC_IRQChannelCmd</a:t>
            </a:r>
            <a:r>
              <a:rPr lang="en-US" altLang="zh-CN" sz="2400" dirty="0" smtClean="0"/>
              <a:t> = ENABLE;</a:t>
            </a:r>
            <a:endParaRPr lang="en-US" altLang="zh-CN" sz="2400" dirty="0" smtClean="0"/>
          </a:p>
          <a:p>
            <a:pPr eaLnBrk="1" hangingPunct="1"/>
            <a:r>
              <a:rPr lang="en-US" altLang="zh-CN" sz="2400" dirty="0" smtClean="0"/>
              <a:t>  </a:t>
            </a:r>
            <a:r>
              <a:rPr lang="en-US" altLang="zh-CN" sz="2400" dirty="0" err="1" smtClean="0"/>
              <a:t>NVIC_Init</a:t>
            </a:r>
            <a:r>
              <a:rPr lang="en-US" altLang="zh-CN" sz="2400" dirty="0" smtClean="0"/>
              <a:t>(&amp;</a:t>
            </a:r>
            <a:r>
              <a:rPr lang="en-US" altLang="zh-CN" sz="2400" dirty="0" err="1" smtClean="0"/>
              <a:t>NVIC_InitStructure</a:t>
            </a:r>
            <a:r>
              <a:rPr lang="en-US" altLang="zh-CN" sz="2400" dirty="0" smtClean="0"/>
              <a:t>);</a:t>
            </a:r>
            <a:endParaRPr lang="zh-CN" altLang="en-US" sz="24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pPr eaLnBrk="1" hangingPunct="1"/>
            <a:r>
              <a:rPr lang="en-US" altLang="zh-CN" sz="3600" smtClean="0"/>
              <a:t>STM32</a:t>
            </a:r>
            <a:r>
              <a:rPr lang="zh-CN" altLang="en-US" sz="3600" smtClean="0"/>
              <a:t>中断开发与实例</a:t>
            </a:r>
            <a:r>
              <a:rPr lang="en-US" altLang="zh-CN" sz="3600" smtClean="0"/>
              <a:t>1</a:t>
            </a:r>
            <a:endParaRPr lang="zh-CN" altLang="en-US" sz="3600" smtClean="0"/>
          </a:p>
        </p:txBody>
      </p:sp>
      <p:sp>
        <p:nvSpPr>
          <p:cNvPr id="27651" name="内容占位符 2"/>
          <p:cNvSpPr>
            <a:spLocks noGrp="1"/>
          </p:cNvSpPr>
          <p:nvPr>
            <p:ph idx="1"/>
          </p:nvPr>
        </p:nvSpPr>
        <p:spPr/>
        <p:txBody>
          <a:bodyPr/>
          <a:lstStyle/>
          <a:p>
            <a:pPr eaLnBrk="1" hangingPunct="1">
              <a:buFont typeface="Wingdings" panose="05000000000000000000" pitchFamily="2" charset="2"/>
              <a:buChar char="u"/>
              <a:tabLst>
                <a:tab pos="445770" algn="l"/>
              </a:tabLst>
              <a:defRPr/>
            </a:pPr>
            <a:r>
              <a:rPr lang="zh-CN" altLang="en-US" sz="2800" dirty="0" smtClean="0">
                <a:solidFill>
                  <a:srgbClr val="0000FF"/>
                </a:solidFill>
              </a:rPr>
              <a:t>编写对应的中断服务程序</a:t>
            </a:r>
            <a:endParaRPr lang="zh-CN" altLang="en-US" sz="2800" dirty="0" smtClean="0">
              <a:solidFill>
                <a:srgbClr val="0000FF"/>
              </a:solidFill>
            </a:endParaRPr>
          </a:p>
          <a:p>
            <a:pPr marL="0" indent="0" eaLnBrk="1" hangingPunct="1">
              <a:buFont typeface="Wingdings" panose="05000000000000000000" pitchFamily="2" charset="2"/>
              <a:buNone/>
              <a:tabLst>
                <a:tab pos="445770" algn="l"/>
              </a:tabLst>
              <a:defRPr/>
            </a:pPr>
            <a:r>
              <a:rPr lang="zh-CN" altLang="en-US" sz="2800" dirty="0" smtClean="0"/>
              <a:t>       欲更新</a:t>
            </a:r>
            <a:r>
              <a:rPr lang="en-US" altLang="zh-CN" sz="2800" dirty="0" err="1" smtClean="0"/>
              <a:t>EXTI3</a:t>
            </a:r>
            <a:r>
              <a:rPr lang="zh-CN" altLang="en-US" sz="2800" smtClean="0"/>
              <a:t>管线上的</a:t>
            </a:r>
            <a:r>
              <a:rPr lang="zh-CN" altLang="en-US" sz="2800" dirty="0"/>
              <a:t>中断服务程序（其他的中断服务程序，可由此类推而得），可直接在</a:t>
            </a:r>
            <a:r>
              <a:rPr lang="en-US" altLang="zh-CN" sz="2800" dirty="0"/>
              <a:t>STM32</a:t>
            </a:r>
            <a:r>
              <a:rPr lang="zh-CN" altLang="en-US" sz="2800" dirty="0"/>
              <a:t>中断服务程序文件</a:t>
            </a:r>
            <a:r>
              <a:rPr lang="en-US" altLang="zh-CN" sz="2800" dirty="0"/>
              <a:t>stm32f10x_it.c</a:t>
            </a:r>
            <a:r>
              <a:rPr lang="zh-CN" altLang="en-US" sz="2800" dirty="0"/>
              <a:t>中新增或</a:t>
            </a:r>
            <a:r>
              <a:rPr lang="zh-CN" altLang="en-US" sz="2800" dirty="0" smtClean="0"/>
              <a:t>修改</a:t>
            </a:r>
            <a:r>
              <a:rPr lang="en-US" altLang="zh-CN" sz="2800" dirty="0" err="1" smtClean="0"/>
              <a:t>EXTI3</a:t>
            </a:r>
            <a:r>
              <a:rPr lang="zh-CN" altLang="en-US" sz="2800" dirty="0" smtClean="0"/>
              <a:t>管线的</a:t>
            </a:r>
            <a:r>
              <a:rPr lang="zh-CN" altLang="en-US" sz="2800" dirty="0"/>
              <a:t>中断服务程序，如下所示：</a:t>
            </a:r>
            <a:endParaRPr lang="zh-CN" altLang="en-US" sz="2800" dirty="0"/>
          </a:p>
          <a:p>
            <a:pPr marL="0" indent="0" eaLnBrk="1" hangingPunct="1">
              <a:buFont typeface="Wingdings" panose="05000000000000000000" pitchFamily="2" charset="2"/>
              <a:buNone/>
              <a:tabLst>
                <a:tab pos="445770" algn="l"/>
              </a:tabLst>
              <a:defRPr/>
            </a:pPr>
            <a:r>
              <a:rPr lang="en-US" altLang="zh-CN" sz="2800" dirty="0"/>
              <a:t>       void </a:t>
            </a:r>
            <a:r>
              <a:rPr lang="en-US" altLang="zh-CN" sz="2800" dirty="0" err="1" smtClean="0"/>
              <a:t>EXTI3_IRQHandler</a:t>
            </a:r>
            <a:r>
              <a:rPr lang="en-US" altLang="zh-CN" sz="2800" dirty="0" smtClean="0"/>
              <a:t>(void</a:t>
            </a:r>
            <a:r>
              <a:rPr lang="en-US" altLang="zh-CN" sz="2800" dirty="0"/>
              <a:t>)</a:t>
            </a:r>
            <a:endParaRPr lang="en-US" altLang="zh-CN" sz="2800" dirty="0"/>
          </a:p>
          <a:p>
            <a:pPr marL="0" indent="0" eaLnBrk="1" hangingPunct="1">
              <a:buFont typeface="Wingdings" panose="05000000000000000000" pitchFamily="2" charset="2"/>
              <a:buNone/>
              <a:tabLst>
                <a:tab pos="445770" algn="l"/>
              </a:tabLst>
              <a:defRPr/>
            </a:pPr>
            <a:r>
              <a:rPr lang="en-US" altLang="zh-CN" sz="2800" dirty="0"/>
              <a:t>       {</a:t>
            </a:r>
            <a:endParaRPr lang="en-US" altLang="zh-CN" sz="2800" dirty="0"/>
          </a:p>
          <a:p>
            <a:pPr marL="0" indent="0" eaLnBrk="1" hangingPunct="1">
              <a:buFont typeface="Wingdings" panose="05000000000000000000" pitchFamily="2" charset="2"/>
              <a:buNone/>
              <a:tabLst>
                <a:tab pos="445770" algn="l"/>
              </a:tabLst>
              <a:defRPr/>
            </a:pPr>
            <a:r>
              <a:rPr lang="en-US" altLang="zh-CN" sz="2800" dirty="0"/>
              <a:t>               …		//user code</a:t>
            </a:r>
            <a:endParaRPr lang="en-US" altLang="zh-CN" sz="2800" dirty="0"/>
          </a:p>
          <a:p>
            <a:pPr marL="0" indent="0" eaLnBrk="1" hangingPunct="1">
              <a:buFont typeface="Wingdings" panose="05000000000000000000" pitchFamily="2" charset="2"/>
              <a:buNone/>
              <a:tabLst>
                <a:tab pos="445770" algn="l"/>
              </a:tabLst>
              <a:defRPr/>
            </a:pPr>
            <a:r>
              <a:rPr lang="en-US" altLang="zh-CN" sz="2800" dirty="0"/>
              <a:t>       }</a:t>
            </a:r>
            <a:r>
              <a:rPr lang="en-US" altLang="zh-CN" dirty="0">
                <a:latin typeface="Times-Roman" charset="0"/>
              </a:rPr>
              <a:t>    </a:t>
            </a:r>
            <a:endParaRPr lang="zh-CN" altLang="en-US" dirty="0">
              <a:latin typeface="Times-Roman" charset="0"/>
            </a:endParaRPr>
          </a:p>
          <a:p>
            <a:pPr lvl="1" eaLnBrk="1" hangingPunct="1">
              <a:tabLst>
                <a:tab pos="445770" algn="l"/>
              </a:tabLst>
              <a:defRPr/>
            </a:pPr>
            <a:endParaRPr lang="zh-CN" altLang="en-US" dirty="0" smtClean="0">
              <a:latin typeface="Times-Roman"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TABLE_ENDDRAG_ORIGIN_RECT" val="534*17"/>
  <p:tag name="TABLE_ENDDRAG_RECT" val="96*164*534*17"/>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COMMONDATA" val="eyJoZGlkIjoiNjBkNjM0MDRkYTlkMzliYmE1ODE5ZjQ1NjU3NmUwNzU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9283</Words>
  <Application>WPS 演示</Application>
  <PresentationFormat>全屏显示(4:3)</PresentationFormat>
  <Paragraphs>1084</Paragraphs>
  <Slides>42</Slides>
  <Notes>10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42</vt:i4>
      </vt:variant>
    </vt:vector>
  </HeadingPairs>
  <TitlesOfParts>
    <vt:vector size="58" baseType="lpstr">
      <vt:lpstr>Arial</vt:lpstr>
      <vt:lpstr>宋体</vt:lpstr>
      <vt:lpstr>Wingdings</vt:lpstr>
      <vt:lpstr>Verdana</vt:lpstr>
      <vt:lpstr>Gulim</vt:lpstr>
      <vt:lpstr>Adobe Myungjo Std M</vt:lpstr>
      <vt:lpstr>Times New Roman</vt:lpstr>
      <vt:lpstr>等线 Light</vt:lpstr>
      <vt:lpstr>Calibri Light</vt:lpstr>
      <vt:lpstr>等线</vt:lpstr>
      <vt:lpstr>Calibri</vt:lpstr>
      <vt:lpstr>微软雅黑</vt:lpstr>
      <vt:lpstr>Arial Unicode MS</vt:lpstr>
      <vt:lpstr>Times-Roman</vt:lpstr>
      <vt:lpstr>Times-Roman</vt:lpstr>
      <vt:lpstr>Office 主题​​</vt:lpstr>
      <vt:lpstr>中断系统与基本应用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代码示例（优先级设置）</vt:lpstr>
      <vt:lpstr>PowerPoint 演示文稿</vt:lpstr>
      <vt:lpstr>PowerPoint 演示文稿</vt:lpstr>
      <vt:lpstr>代码示例1（内部中断）</vt:lpstr>
      <vt:lpstr>代码示例1（内部中断）</vt:lpstr>
      <vt:lpstr>代码示例1（内部中断）</vt:lpstr>
      <vt:lpstr>代码示例1（内部中断）</vt:lpstr>
      <vt:lpstr>PowerPoint 演示文稿</vt:lpstr>
      <vt:lpstr>PowerPoint 演示文稿</vt:lpstr>
      <vt:lpstr>PowerPoint 演示文稿</vt:lpstr>
      <vt:lpstr>PowerPoint 演示文稿</vt:lpstr>
      <vt:lpstr>PowerPoint 演示文稿</vt:lpstr>
      <vt:lpstr>代码示例1（外部中断）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代码示例2（外部中断配置）</vt:lpstr>
      <vt:lpstr>代码示例2（外部中断配置）</vt:lpstr>
      <vt:lpstr>STM32中断开发与实例1</vt:lpstr>
    </vt:vector>
  </TitlesOfParts>
  <Company>HUST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堆排序</dc:title>
  <dc:creator>IcyVein</dc:creator>
  <cp:lastModifiedBy>guozhuong</cp:lastModifiedBy>
  <cp:revision>438</cp:revision>
  <dcterms:created xsi:type="dcterms:W3CDTF">2020-11-01T09:33:00Z</dcterms:created>
  <dcterms:modified xsi:type="dcterms:W3CDTF">2023-09-13T02:52:32Z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B57A224CDEA9414F8E5BF06C7C13220D_12</vt:lpwstr>
  </property>
  <property fmtid="{D5CDD505-2E9C-101B-9397-08002B2CF9AE}" pid="3" name="KSOProductBuildVer">
    <vt:lpwstr>2052-12.1.0.15374</vt:lpwstr>
  </property>
</Properties>
</file>